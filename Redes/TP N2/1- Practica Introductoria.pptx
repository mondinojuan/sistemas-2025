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Lst>
  <p:sldIdLst>
    <p:sldId id="256" r:id="rId5"/>
    <p:sldId id="284" r:id="rId6"/>
    <p:sldId id="277" r:id="rId7"/>
    <p:sldId id="282" r:id="rId8"/>
    <p:sldId id="285" r:id="rId9"/>
    <p:sldId id="295" r:id="rId10"/>
    <p:sldId id="296" r:id="rId11"/>
    <p:sldId id="294" r:id="rId12"/>
    <p:sldId id="279" r:id="rId13"/>
    <p:sldId id="288" r:id="rId14"/>
    <p:sldId id="289" r:id="rId15"/>
    <p:sldId id="290" r:id="rId16"/>
    <p:sldId id="291" r:id="rId17"/>
    <p:sldId id="292" r:id="rId18"/>
    <p:sldId id="293" r:id="rId19"/>
    <p:sldId id="276" r:id="rId2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147065-A0D2-301A-C3E2-7656EF1D85DF}" v="257" dt="2024-05-27T20:33:43.920"/>
    <p1510:client id="{A34FB3EA-A6B1-DFD9-9C42-B0523EE66245}" v="89" dt="2024-05-27T20:42:13.99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ógenes Pastori" userId="S::dpastori@frro.utn.edu.ar::9ef8bffa-4a80-48ce-96dd-7a1d42c3eec8" providerId="AD" clId="Web-{A1147065-A0D2-301A-C3E2-7656EF1D85DF}"/>
    <pc:docChg chg="delSld modSld">
      <pc:chgData name="Diógenes Pastori" userId="S::dpastori@frro.utn.edu.ar::9ef8bffa-4a80-48ce-96dd-7a1d42c3eec8" providerId="AD" clId="Web-{A1147065-A0D2-301A-C3E2-7656EF1D85DF}" dt="2024-05-27T20:33:43.920" v="250"/>
      <pc:docMkLst>
        <pc:docMk/>
      </pc:docMkLst>
      <pc:sldChg chg="modSp">
        <pc:chgData name="Diógenes Pastori" userId="S::dpastori@frro.utn.edu.ar::9ef8bffa-4a80-48ce-96dd-7a1d42c3eec8" providerId="AD" clId="Web-{A1147065-A0D2-301A-C3E2-7656EF1D85DF}" dt="2024-05-27T20:12:48.558" v="16" actId="14100"/>
        <pc:sldMkLst>
          <pc:docMk/>
          <pc:sldMk cId="2908218732" sldId="256"/>
        </pc:sldMkLst>
        <pc:spChg chg="mod">
          <ac:chgData name="Diógenes Pastori" userId="S::dpastori@frro.utn.edu.ar::9ef8bffa-4a80-48ce-96dd-7a1d42c3eec8" providerId="AD" clId="Web-{A1147065-A0D2-301A-C3E2-7656EF1D85DF}" dt="2024-05-27T20:12:48.558" v="16" actId="14100"/>
          <ac:spMkLst>
            <pc:docMk/>
            <pc:sldMk cId="2908218732" sldId="256"/>
            <ac:spMk id="2" creationId="{00000000-0000-0000-0000-000000000000}"/>
          </ac:spMkLst>
        </pc:spChg>
      </pc:sldChg>
      <pc:sldChg chg="modSp">
        <pc:chgData name="Diógenes Pastori" userId="S::dpastori@frro.utn.edu.ar::9ef8bffa-4a80-48ce-96dd-7a1d42c3eec8" providerId="AD" clId="Web-{A1147065-A0D2-301A-C3E2-7656EF1D85DF}" dt="2024-05-27T20:23:25.182" v="79" actId="20577"/>
        <pc:sldMkLst>
          <pc:docMk/>
          <pc:sldMk cId="519444395" sldId="282"/>
        </pc:sldMkLst>
        <pc:spChg chg="mod">
          <ac:chgData name="Diógenes Pastori" userId="S::dpastori@frro.utn.edu.ar::9ef8bffa-4a80-48ce-96dd-7a1d42c3eec8" providerId="AD" clId="Web-{A1147065-A0D2-301A-C3E2-7656EF1D85DF}" dt="2024-05-27T20:23:25.182" v="79" actId="20577"/>
          <ac:spMkLst>
            <pc:docMk/>
            <pc:sldMk cId="519444395" sldId="282"/>
            <ac:spMk id="7" creationId="{7F15506B-9DBA-7CFA-90EF-E2BC57C59113}"/>
          </ac:spMkLst>
        </pc:spChg>
        <pc:spChg chg="mod">
          <ac:chgData name="Diógenes Pastori" userId="S::dpastori@frro.utn.edu.ar::9ef8bffa-4a80-48ce-96dd-7a1d42c3eec8" providerId="AD" clId="Web-{A1147065-A0D2-301A-C3E2-7656EF1D85DF}" dt="2024-05-27T20:22:52.478" v="75" actId="20577"/>
          <ac:spMkLst>
            <pc:docMk/>
            <pc:sldMk cId="519444395" sldId="282"/>
            <ac:spMk id="10" creationId="{CD2C8438-377D-511C-18E1-267931DB2EC0}"/>
          </ac:spMkLst>
        </pc:spChg>
        <pc:spChg chg="mod">
          <ac:chgData name="Diógenes Pastori" userId="S::dpastori@frro.utn.edu.ar::9ef8bffa-4a80-48ce-96dd-7a1d42c3eec8" providerId="AD" clId="Web-{A1147065-A0D2-301A-C3E2-7656EF1D85DF}" dt="2024-05-27T20:23:19.370" v="77" actId="20577"/>
          <ac:spMkLst>
            <pc:docMk/>
            <pc:sldMk cId="519444395" sldId="282"/>
            <ac:spMk id="11" creationId="{805A7CFC-F799-BFD3-25A7-5B28A4747A0C}"/>
          </ac:spMkLst>
        </pc:spChg>
        <pc:spChg chg="mod">
          <ac:chgData name="Diógenes Pastori" userId="S::dpastori@frro.utn.edu.ar::9ef8bffa-4a80-48ce-96dd-7a1d42c3eec8" providerId="AD" clId="Web-{A1147065-A0D2-301A-C3E2-7656EF1D85DF}" dt="2024-05-27T20:22:03.446" v="46" actId="1076"/>
          <ac:spMkLst>
            <pc:docMk/>
            <pc:sldMk cId="519444395" sldId="282"/>
            <ac:spMk id="13" creationId="{1DB53BB0-28A9-C947-3427-4C3B01636226}"/>
          </ac:spMkLst>
        </pc:spChg>
      </pc:sldChg>
      <pc:sldChg chg="modSp">
        <pc:chgData name="Diógenes Pastori" userId="S::dpastori@frro.utn.edu.ar::9ef8bffa-4a80-48ce-96dd-7a1d42c3eec8" providerId="AD" clId="Web-{A1147065-A0D2-301A-C3E2-7656EF1D85DF}" dt="2024-05-27T20:33:31.092" v="248" actId="14100"/>
        <pc:sldMkLst>
          <pc:docMk/>
          <pc:sldMk cId="452382427" sldId="294"/>
        </pc:sldMkLst>
        <pc:spChg chg="mod">
          <ac:chgData name="Diógenes Pastori" userId="S::dpastori@frro.utn.edu.ar::9ef8bffa-4a80-48ce-96dd-7a1d42c3eec8" providerId="AD" clId="Web-{A1147065-A0D2-301A-C3E2-7656EF1D85DF}" dt="2024-05-27T20:33:31.092" v="248" actId="14100"/>
          <ac:spMkLst>
            <pc:docMk/>
            <pc:sldMk cId="452382427" sldId="294"/>
            <ac:spMk id="7" creationId="{7F15506B-9DBA-7CFA-90EF-E2BC57C59113}"/>
          </ac:spMkLst>
        </pc:spChg>
      </pc:sldChg>
      <pc:sldChg chg="addSp delSp modSp">
        <pc:chgData name="Diógenes Pastori" userId="S::dpastori@frro.utn.edu.ar::9ef8bffa-4a80-48ce-96dd-7a1d42c3eec8" providerId="AD" clId="Web-{A1147065-A0D2-301A-C3E2-7656EF1D85DF}" dt="2024-05-27T20:29:57.055" v="99" actId="1076"/>
        <pc:sldMkLst>
          <pc:docMk/>
          <pc:sldMk cId="1569042389" sldId="295"/>
        </pc:sldMkLst>
        <pc:spChg chg="mod">
          <ac:chgData name="Diógenes Pastori" userId="S::dpastori@frro.utn.edu.ar::9ef8bffa-4a80-48ce-96dd-7a1d42c3eec8" providerId="AD" clId="Web-{A1147065-A0D2-301A-C3E2-7656EF1D85DF}" dt="2024-05-27T20:29:57.055" v="99" actId="1076"/>
          <ac:spMkLst>
            <pc:docMk/>
            <pc:sldMk cId="1569042389" sldId="295"/>
            <ac:spMk id="7" creationId="{7F15506B-9DBA-7CFA-90EF-E2BC57C59113}"/>
          </ac:spMkLst>
        </pc:spChg>
        <pc:spChg chg="add del mod">
          <ac:chgData name="Diógenes Pastori" userId="S::dpastori@frro.utn.edu.ar::9ef8bffa-4a80-48ce-96dd-7a1d42c3eec8" providerId="AD" clId="Web-{A1147065-A0D2-301A-C3E2-7656EF1D85DF}" dt="2024-05-27T20:29:52.508" v="98"/>
          <ac:spMkLst>
            <pc:docMk/>
            <pc:sldMk cId="1569042389" sldId="295"/>
            <ac:spMk id="9" creationId="{5A43AA67-D7CD-9E05-7125-7C3999337274}"/>
          </ac:spMkLst>
        </pc:spChg>
        <pc:spChg chg="del mod">
          <ac:chgData name="Diógenes Pastori" userId="S::dpastori@frro.utn.edu.ar::9ef8bffa-4a80-48ce-96dd-7a1d42c3eec8" providerId="AD" clId="Web-{A1147065-A0D2-301A-C3E2-7656EF1D85DF}" dt="2024-05-27T20:29:48.492" v="97"/>
          <ac:spMkLst>
            <pc:docMk/>
            <pc:sldMk cId="1569042389" sldId="295"/>
            <ac:spMk id="14" creationId="{00000000-0000-0000-0000-000000000000}"/>
          </ac:spMkLst>
        </pc:spChg>
      </pc:sldChg>
      <pc:sldChg chg="modSp">
        <pc:chgData name="Diógenes Pastori" userId="S::dpastori@frro.utn.edu.ar::9ef8bffa-4a80-48ce-96dd-7a1d42c3eec8" providerId="AD" clId="Web-{A1147065-A0D2-301A-C3E2-7656EF1D85DF}" dt="2024-05-27T20:32:00.714" v="191" actId="20577"/>
        <pc:sldMkLst>
          <pc:docMk/>
          <pc:sldMk cId="1006550443" sldId="296"/>
        </pc:sldMkLst>
        <pc:spChg chg="mod">
          <ac:chgData name="Diógenes Pastori" userId="S::dpastori@frro.utn.edu.ar::9ef8bffa-4a80-48ce-96dd-7a1d42c3eec8" providerId="AD" clId="Web-{A1147065-A0D2-301A-C3E2-7656EF1D85DF}" dt="2024-05-27T20:32:00.714" v="191" actId="20577"/>
          <ac:spMkLst>
            <pc:docMk/>
            <pc:sldMk cId="1006550443" sldId="296"/>
            <ac:spMk id="7" creationId="{7F15506B-9DBA-7CFA-90EF-E2BC57C59113}"/>
          </ac:spMkLst>
        </pc:spChg>
        <pc:picChg chg="mod">
          <ac:chgData name="Diógenes Pastori" userId="S::dpastori@frro.utn.edu.ar::9ef8bffa-4a80-48ce-96dd-7a1d42c3eec8" providerId="AD" clId="Web-{A1147065-A0D2-301A-C3E2-7656EF1D85DF}" dt="2024-05-27T20:31:54.074" v="189" actId="1076"/>
          <ac:picMkLst>
            <pc:docMk/>
            <pc:sldMk cId="1006550443" sldId="296"/>
            <ac:picMk id="13" creationId="{2D5CAD82-85C1-928B-D678-D941E9DA38B5}"/>
          </ac:picMkLst>
        </pc:picChg>
      </pc:sldChg>
      <pc:sldChg chg="delSp del">
        <pc:chgData name="Diógenes Pastori" userId="S::dpastori@frro.utn.edu.ar::9ef8bffa-4a80-48ce-96dd-7a1d42c3eec8" providerId="AD" clId="Web-{A1147065-A0D2-301A-C3E2-7656EF1D85DF}" dt="2024-05-27T20:33:43.920" v="250"/>
        <pc:sldMkLst>
          <pc:docMk/>
          <pc:sldMk cId="1229374787" sldId="297"/>
        </pc:sldMkLst>
        <pc:spChg chg="del">
          <ac:chgData name="Diógenes Pastori" userId="S::dpastori@frro.utn.edu.ar::9ef8bffa-4a80-48ce-96dd-7a1d42c3eec8" providerId="AD" clId="Web-{A1147065-A0D2-301A-C3E2-7656EF1D85DF}" dt="2024-05-27T20:33:40.529" v="249"/>
          <ac:spMkLst>
            <pc:docMk/>
            <pc:sldMk cId="1229374787" sldId="297"/>
            <ac:spMk id="7" creationId="{7F15506B-9DBA-7CFA-90EF-E2BC57C59113}"/>
          </ac:spMkLst>
        </pc:spChg>
      </pc:sldChg>
    </pc:docChg>
  </pc:docChgLst>
  <pc:docChgLst>
    <pc:chgData name="Diógenes Pastori" userId="S::dpastori@frro.utn.edu.ar::9ef8bffa-4a80-48ce-96dd-7a1d42c3eec8" providerId="AD" clId="Web-{E9C785D9-71CC-FA62-D5CE-C54394CA47CA}"/>
    <pc:docChg chg="addSld delSld modSld sldOrd">
      <pc:chgData name="Diógenes Pastori" userId="S::dpastori@frro.utn.edu.ar::9ef8bffa-4a80-48ce-96dd-7a1d42c3eec8" providerId="AD" clId="Web-{E9C785D9-71CC-FA62-D5CE-C54394CA47CA}" dt="2024-05-24T22:45:07.849" v="590" actId="20577"/>
      <pc:docMkLst>
        <pc:docMk/>
      </pc:docMkLst>
      <pc:sldChg chg="delSp">
        <pc:chgData name="Diógenes Pastori" userId="S::dpastori@frro.utn.edu.ar::9ef8bffa-4a80-48ce-96dd-7a1d42c3eec8" providerId="AD" clId="Web-{E9C785D9-71CC-FA62-D5CE-C54394CA47CA}" dt="2024-05-23T22:42:15.887" v="0"/>
        <pc:sldMkLst>
          <pc:docMk/>
          <pc:sldMk cId="329644560" sldId="276"/>
        </pc:sldMkLst>
        <pc:spChg chg="del">
          <ac:chgData name="Diógenes Pastori" userId="S::dpastori@frro.utn.edu.ar::9ef8bffa-4a80-48ce-96dd-7a1d42c3eec8" providerId="AD" clId="Web-{E9C785D9-71CC-FA62-D5CE-C54394CA47CA}" dt="2024-05-23T22:42:15.887" v="0"/>
          <ac:spMkLst>
            <pc:docMk/>
            <pc:sldMk cId="329644560" sldId="276"/>
            <ac:spMk id="18" creationId="{00000000-0000-0000-0000-000000000000}"/>
          </ac:spMkLst>
        </pc:spChg>
      </pc:sldChg>
      <pc:sldChg chg="del">
        <pc:chgData name="Diógenes Pastori" userId="S::dpastori@frro.utn.edu.ar::9ef8bffa-4a80-48ce-96dd-7a1d42c3eec8" providerId="AD" clId="Web-{E9C785D9-71CC-FA62-D5CE-C54394CA47CA}" dt="2024-05-23T22:42:50.420" v="2"/>
        <pc:sldMkLst>
          <pc:docMk/>
          <pc:sldMk cId="174577735" sldId="278"/>
        </pc:sldMkLst>
      </pc:sldChg>
      <pc:sldChg chg="ord">
        <pc:chgData name="Diógenes Pastori" userId="S::dpastori@frro.utn.edu.ar::9ef8bffa-4a80-48ce-96dd-7a1d42c3eec8" providerId="AD" clId="Web-{E9C785D9-71CC-FA62-D5CE-C54394CA47CA}" dt="2024-05-24T22:39:30.685" v="385"/>
        <pc:sldMkLst>
          <pc:docMk/>
          <pc:sldMk cId="519444395" sldId="282"/>
        </pc:sldMkLst>
      </pc:sldChg>
      <pc:sldChg chg="addSp delSp modSp add replId">
        <pc:chgData name="Diógenes Pastori" userId="S::dpastori@frro.utn.edu.ar::9ef8bffa-4a80-48ce-96dd-7a1d42c3eec8" providerId="AD" clId="Web-{E9C785D9-71CC-FA62-D5CE-C54394CA47CA}" dt="2024-05-23T22:47:33.400" v="292"/>
        <pc:sldMkLst>
          <pc:docMk/>
          <pc:sldMk cId="452382427" sldId="294"/>
        </pc:sldMkLst>
        <pc:spChg chg="mod">
          <ac:chgData name="Diógenes Pastori" userId="S::dpastori@frro.utn.edu.ar::9ef8bffa-4a80-48ce-96dd-7a1d42c3eec8" providerId="AD" clId="Web-{E9C785D9-71CC-FA62-D5CE-C54394CA47CA}" dt="2024-05-23T22:45:14.363" v="178" actId="20577"/>
          <ac:spMkLst>
            <pc:docMk/>
            <pc:sldMk cId="452382427" sldId="294"/>
            <ac:spMk id="2" creationId="{00000000-0000-0000-0000-000000000000}"/>
          </ac:spMkLst>
        </pc:spChg>
        <pc:spChg chg="mod">
          <ac:chgData name="Diógenes Pastori" userId="S::dpastori@frro.utn.edu.ar::9ef8bffa-4a80-48ce-96dd-7a1d42c3eec8" providerId="AD" clId="Web-{E9C785D9-71CC-FA62-D5CE-C54394CA47CA}" dt="2024-05-23T22:47:24.977" v="289" actId="20577"/>
          <ac:spMkLst>
            <pc:docMk/>
            <pc:sldMk cId="452382427" sldId="294"/>
            <ac:spMk id="7" creationId="{7F15506B-9DBA-7CFA-90EF-E2BC57C59113}"/>
          </ac:spMkLst>
        </pc:spChg>
        <pc:spChg chg="add del">
          <ac:chgData name="Diógenes Pastori" userId="S::dpastori@frro.utn.edu.ar::9ef8bffa-4a80-48ce-96dd-7a1d42c3eec8" providerId="AD" clId="Web-{E9C785D9-71CC-FA62-D5CE-C54394CA47CA}" dt="2024-05-23T22:47:30.118" v="290"/>
          <ac:spMkLst>
            <pc:docMk/>
            <pc:sldMk cId="452382427" sldId="294"/>
            <ac:spMk id="10" creationId="{CD2C8438-377D-511C-18E1-267931DB2EC0}"/>
          </ac:spMkLst>
        </pc:spChg>
        <pc:spChg chg="del">
          <ac:chgData name="Diógenes Pastori" userId="S::dpastori@frro.utn.edu.ar::9ef8bffa-4a80-48ce-96dd-7a1d42c3eec8" providerId="AD" clId="Web-{E9C785D9-71CC-FA62-D5CE-C54394CA47CA}" dt="2024-05-23T22:47:33.400" v="292"/>
          <ac:spMkLst>
            <pc:docMk/>
            <pc:sldMk cId="452382427" sldId="294"/>
            <ac:spMk id="11" creationId="{805A7CFC-F799-BFD3-25A7-5B28A4747A0C}"/>
          </ac:spMkLst>
        </pc:spChg>
        <pc:spChg chg="del">
          <ac:chgData name="Diógenes Pastori" userId="S::dpastori@frro.utn.edu.ar::9ef8bffa-4a80-48ce-96dd-7a1d42c3eec8" providerId="AD" clId="Web-{E9C785D9-71CC-FA62-D5CE-C54394CA47CA}" dt="2024-05-23T22:47:31.868" v="291"/>
          <ac:spMkLst>
            <pc:docMk/>
            <pc:sldMk cId="452382427" sldId="294"/>
            <ac:spMk id="13" creationId="{1DB53BB0-28A9-C947-3427-4C3B01636226}"/>
          </ac:spMkLst>
        </pc:spChg>
      </pc:sldChg>
      <pc:sldChg chg="addSp delSp modSp add ord replId">
        <pc:chgData name="Diógenes Pastori" userId="S::dpastori@frro.utn.edu.ar::9ef8bffa-4a80-48ce-96dd-7a1d42c3eec8" providerId="AD" clId="Web-{E9C785D9-71CC-FA62-D5CE-C54394CA47CA}" dt="2024-05-24T22:41:22.828" v="425" actId="20577"/>
        <pc:sldMkLst>
          <pc:docMk/>
          <pc:sldMk cId="1569042389" sldId="295"/>
        </pc:sldMkLst>
        <pc:spChg chg="del mod">
          <ac:chgData name="Diógenes Pastori" userId="S::dpastori@frro.utn.edu.ar::9ef8bffa-4a80-48ce-96dd-7a1d42c3eec8" providerId="AD" clId="Web-{E9C785D9-71CC-FA62-D5CE-C54394CA47CA}" dt="2024-05-24T22:27:54.167" v="310"/>
          <ac:spMkLst>
            <pc:docMk/>
            <pc:sldMk cId="1569042389" sldId="295"/>
            <ac:spMk id="6" creationId="{E9D45D7B-A41D-D993-C535-8219C52715E7}"/>
          </ac:spMkLst>
        </pc:spChg>
        <pc:spChg chg="mod">
          <ac:chgData name="Diógenes Pastori" userId="S::dpastori@frro.utn.edu.ar::9ef8bffa-4a80-48ce-96dd-7a1d42c3eec8" providerId="AD" clId="Web-{E9C785D9-71CC-FA62-D5CE-C54394CA47CA}" dt="2024-05-24T22:41:22.828" v="425" actId="20577"/>
          <ac:spMkLst>
            <pc:docMk/>
            <pc:sldMk cId="1569042389" sldId="295"/>
            <ac:spMk id="7" creationId="{7F15506B-9DBA-7CFA-90EF-E2BC57C59113}"/>
          </ac:spMkLst>
        </pc:spChg>
        <pc:picChg chg="add mod">
          <ac:chgData name="Diógenes Pastori" userId="S::dpastori@frro.utn.edu.ar::9ef8bffa-4a80-48ce-96dd-7a1d42c3eec8" providerId="AD" clId="Web-{E9C785D9-71CC-FA62-D5CE-C54394CA47CA}" dt="2024-05-24T22:40:06.967" v="387" actId="1076"/>
          <ac:picMkLst>
            <pc:docMk/>
            <pc:sldMk cId="1569042389" sldId="295"/>
            <ac:picMk id="4" creationId="{35F55011-6799-0453-5EBF-484155012640}"/>
          </ac:picMkLst>
        </pc:picChg>
        <pc:picChg chg="add mod">
          <ac:chgData name="Diógenes Pastori" userId="S::dpastori@frro.utn.edu.ar::9ef8bffa-4a80-48ce-96dd-7a1d42c3eec8" providerId="AD" clId="Web-{E9C785D9-71CC-FA62-D5CE-C54394CA47CA}" dt="2024-05-24T22:40:03.888" v="386" actId="1076"/>
          <ac:picMkLst>
            <pc:docMk/>
            <pc:sldMk cId="1569042389" sldId="295"/>
            <ac:picMk id="5" creationId="{B093076A-10EB-A792-B896-338E34C9AEC6}"/>
          </ac:picMkLst>
        </pc:picChg>
        <pc:picChg chg="add del mod">
          <ac:chgData name="Diógenes Pastori" userId="S::dpastori@frro.utn.edu.ar::9ef8bffa-4a80-48ce-96dd-7a1d42c3eec8" providerId="AD" clId="Web-{E9C785D9-71CC-FA62-D5CE-C54394CA47CA}" dt="2024-05-24T22:33:04.800" v="375"/>
          <ac:picMkLst>
            <pc:docMk/>
            <pc:sldMk cId="1569042389" sldId="295"/>
            <ac:picMk id="9" creationId="{4189BC0E-0083-678C-8186-982D466A724B}"/>
          </ac:picMkLst>
        </pc:picChg>
        <pc:picChg chg="add mod">
          <ac:chgData name="Diógenes Pastori" userId="S::dpastori@frro.utn.edu.ar::9ef8bffa-4a80-48ce-96dd-7a1d42c3eec8" providerId="AD" clId="Web-{E9C785D9-71CC-FA62-D5CE-C54394CA47CA}" dt="2024-05-24T22:33:30.769" v="382" actId="1076"/>
          <ac:picMkLst>
            <pc:docMk/>
            <pc:sldMk cId="1569042389" sldId="295"/>
            <ac:picMk id="10" creationId="{686256F5-B2E0-7D08-6039-BCBF45201693}"/>
          </ac:picMkLst>
        </pc:picChg>
      </pc:sldChg>
      <pc:sldChg chg="addSp delSp modSp add replId">
        <pc:chgData name="Diógenes Pastori" userId="S::dpastori@frro.utn.edu.ar::9ef8bffa-4a80-48ce-96dd-7a1d42c3eec8" providerId="AD" clId="Web-{E9C785D9-71CC-FA62-D5CE-C54394CA47CA}" dt="2024-05-24T22:44:32.286" v="567" actId="20577"/>
        <pc:sldMkLst>
          <pc:docMk/>
          <pc:sldMk cId="1006550443" sldId="296"/>
        </pc:sldMkLst>
        <pc:spChg chg="mod">
          <ac:chgData name="Diógenes Pastori" userId="S::dpastori@frro.utn.edu.ar::9ef8bffa-4a80-48ce-96dd-7a1d42c3eec8" providerId="AD" clId="Web-{E9C785D9-71CC-FA62-D5CE-C54394CA47CA}" dt="2024-05-24T22:44:32.286" v="567" actId="20577"/>
          <ac:spMkLst>
            <pc:docMk/>
            <pc:sldMk cId="1006550443" sldId="296"/>
            <ac:spMk id="7" creationId="{7F15506B-9DBA-7CFA-90EF-E2BC57C59113}"/>
          </ac:spMkLst>
        </pc:spChg>
        <pc:picChg chg="del">
          <ac:chgData name="Diógenes Pastori" userId="S::dpastori@frro.utn.edu.ar::9ef8bffa-4a80-48ce-96dd-7a1d42c3eec8" providerId="AD" clId="Web-{E9C785D9-71CC-FA62-D5CE-C54394CA47CA}" dt="2024-05-24T22:42:31.158" v="494"/>
          <ac:picMkLst>
            <pc:docMk/>
            <pc:sldMk cId="1006550443" sldId="296"/>
            <ac:picMk id="4" creationId="{35F55011-6799-0453-5EBF-484155012640}"/>
          </ac:picMkLst>
        </pc:picChg>
        <pc:picChg chg="del">
          <ac:chgData name="Diógenes Pastori" userId="S::dpastori@frro.utn.edu.ar::9ef8bffa-4a80-48ce-96dd-7a1d42c3eec8" providerId="AD" clId="Web-{E9C785D9-71CC-FA62-D5CE-C54394CA47CA}" dt="2024-05-24T22:42:31.658" v="495"/>
          <ac:picMkLst>
            <pc:docMk/>
            <pc:sldMk cId="1006550443" sldId="296"/>
            <ac:picMk id="5" creationId="{B093076A-10EB-A792-B896-338E34C9AEC6}"/>
          </ac:picMkLst>
        </pc:picChg>
        <pc:picChg chg="add mod">
          <ac:chgData name="Diógenes Pastori" userId="S::dpastori@frro.utn.edu.ar::9ef8bffa-4a80-48ce-96dd-7a1d42c3eec8" providerId="AD" clId="Web-{E9C785D9-71CC-FA62-D5CE-C54394CA47CA}" dt="2024-05-24T22:42:48.455" v="499" actId="1076"/>
          <ac:picMkLst>
            <pc:docMk/>
            <pc:sldMk cId="1006550443" sldId="296"/>
            <ac:picMk id="6" creationId="{E1939A4B-FF57-84D1-9308-3C8E399F0070}"/>
          </ac:picMkLst>
        </pc:picChg>
        <pc:picChg chg="del">
          <ac:chgData name="Diógenes Pastori" userId="S::dpastori@frro.utn.edu.ar::9ef8bffa-4a80-48ce-96dd-7a1d42c3eec8" providerId="AD" clId="Web-{E9C785D9-71CC-FA62-D5CE-C54394CA47CA}" dt="2024-05-24T22:42:32.158" v="496"/>
          <ac:picMkLst>
            <pc:docMk/>
            <pc:sldMk cId="1006550443" sldId="296"/>
            <ac:picMk id="10" creationId="{686256F5-B2E0-7D08-6039-BCBF45201693}"/>
          </ac:picMkLst>
        </pc:picChg>
      </pc:sldChg>
      <pc:sldChg chg="modSp add replId">
        <pc:chgData name="Diógenes Pastori" userId="S::dpastori@frro.utn.edu.ar::9ef8bffa-4a80-48ce-96dd-7a1d42c3eec8" providerId="AD" clId="Web-{E9C785D9-71CC-FA62-D5CE-C54394CA47CA}" dt="2024-05-24T22:45:07.849" v="590" actId="20577"/>
        <pc:sldMkLst>
          <pc:docMk/>
          <pc:sldMk cId="3585676893" sldId="297"/>
        </pc:sldMkLst>
        <pc:spChg chg="mod">
          <ac:chgData name="Diógenes Pastori" userId="S::dpastori@frro.utn.edu.ar::9ef8bffa-4a80-48ce-96dd-7a1d42c3eec8" providerId="AD" clId="Web-{E9C785D9-71CC-FA62-D5CE-C54394CA47CA}" dt="2024-05-24T22:45:07.849" v="590" actId="20577"/>
          <ac:spMkLst>
            <pc:docMk/>
            <pc:sldMk cId="3585676893" sldId="297"/>
            <ac:spMk id="7" creationId="{7F15506B-9DBA-7CFA-90EF-E2BC57C59113}"/>
          </ac:spMkLst>
        </pc:spChg>
      </pc:sldChg>
    </pc:docChg>
  </pc:docChgLst>
  <pc:docChgLst>
    <pc:chgData name="Diógenes Pastori" userId="S::dpastori@frro.utn.edu.ar::9ef8bffa-4a80-48ce-96dd-7a1d42c3eec8" providerId="AD" clId="Web-{A34FB3EA-A6B1-DFD9-9C42-B0523EE66245}"/>
    <pc:docChg chg="modSld">
      <pc:chgData name="Diógenes Pastori" userId="S::dpastori@frro.utn.edu.ar::9ef8bffa-4a80-48ce-96dd-7a1d42c3eec8" providerId="AD" clId="Web-{A34FB3EA-A6B1-DFD9-9C42-B0523EE66245}" dt="2024-05-27T20:42:12.339" v="85" actId="20577"/>
      <pc:docMkLst>
        <pc:docMk/>
      </pc:docMkLst>
      <pc:sldChg chg="modSp">
        <pc:chgData name="Diógenes Pastori" userId="S::dpastori@frro.utn.edu.ar::9ef8bffa-4a80-48ce-96dd-7a1d42c3eec8" providerId="AD" clId="Web-{A34FB3EA-A6B1-DFD9-9C42-B0523EE66245}" dt="2024-05-27T20:42:12.339" v="85" actId="20577"/>
        <pc:sldMkLst>
          <pc:docMk/>
          <pc:sldMk cId="452382427" sldId="294"/>
        </pc:sldMkLst>
        <pc:spChg chg="mod">
          <ac:chgData name="Diógenes Pastori" userId="S::dpastori@frro.utn.edu.ar::9ef8bffa-4a80-48ce-96dd-7a1d42c3eec8" providerId="AD" clId="Web-{A34FB3EA-A6B1-DFD9-9C42-B0523EE66245}" dt="2024-05-27T20:42:12.339" v="85" actId="20577"/>
          <ac:spMkLst>
            <pc:docMk/>
            <pc:sldMk cId="452382427" sldId="294"/>
            <ac:spMk id="2" creationId="{00000000-0000-0000-0000-000000000000}"/>
          </ac:spMkLst>
        </pc:spChg>
      </pc:sldChg>
      <pc:sldChg chg="modSp">
        <pc:chgData name="Diógenes Pastori" userId="S::dpastori@frro.utn.edu.ar::9ef8bffa-4a80-48ce-96dd-7a1d42c3eec8" providerId="AD" clId="Web-{A34FB3EA-A6B1-DFD9-9C42-B0523EE66245}" dt="2024-05-27T20:39:44.538" v="21" actId="20577"/>
        <pc:sldMkLst>
          <pc:docMk/>
          <pc:sldMk cId="1569042389" sldId="295"/>
        </pc:sldMkLst>
        <pc:spChg chg="mod">
          <ac:chgData name="Diógenes Pastori" userId="S::dpastori@frro.utn.edu.ar::9ef8bffa-4a80-48ce-96dd-7a1d42c3eec8" providerId="AD" clId="Web-{A34FB3EA-A6B1-DFD9-9C42-B0523EE66245}" dt="2024-05-27T20:39:44.538" v="21" actId="20577"/>
          <ac:spMkLst>
            <pc:docMk/>
            <pc:sldMk cId="1569042389" sldId="295"/>
            <ac:spMk id="2" creationId="{00000000-0000-0000-0000-000000000000}"/>
          </ac:spMkLst>
        </pc:spChg>
      </pc:sldChg>
      <pc:sldChg chg="modSp">
        <pc:chgData name="Diógenes Pastori" userId="S::dpastori@frro.utn.edu.ar::9ef8bffa-4a80-48ce-96dd-7a1d42c3eec8" providerId="AD" clId="Web-{A34FB3EA-A6B1-DFD9-9C42-B0523EE66245}" dt="2024-05-27T20:41:55.948" v="74" actId="20577"/>
        <pc:sldMkLst>
          <pc:docMk/>
          <pc:sldMk cId="1006550443" sldId="296"/>
        </pc:sldMkLst>
        <pc:spChg chg="mod">
          <ac:chgData name="Diógenes Pastori" userId="S::dpastori@frro.utn.edu.ar::9ef8bffa-4a80-48ce-96dd-7a1d42c3eec8" providerId="AD" clId="Web-{A34FB3EA-A6B1-DFD9-9C42-B0523EE66245}" dt="2024-05-27T20:41:55.948" v="74" actId="20577"/>
          <ac:spMkLst>
            <pc:docMk/>
            <pc:sldMk cId="1006550443" sldId="296"/>
            <ac:spMk id="2" creationId="{00000000-0000-0000-0000-000000000000}"/>
          </ac:spMkLst>
        </pc:spChg>
      </pc:sldChg>
    </pc:docChg>
  </pc:docChgLst>
  <pc:docChgLst>
    <pc:chgData name="Diógenes Pastori" userId="S::dpastori@frro.utn.edu.ar::9ef8bffa-4a80-48ce-96dd-7a1d42c3eec8" providerId="AD" clId="Web-{795FE9A3-8DBC-9564-09E6-9843B9CEDF01}"/>
    <pc:docChg chg="addSld delSld modSld">
      <pc:chgData name="Diógenes Pastori" userId="S::dpastori@frro.utn.edu.ar::9ef8bffa-4a80-48ce-96dd-7a1d42c3eec8" providerId="AD" clId="Web-{795FE9A3-8DBC-9564-09E6-9843B9CEDF01}" dt="2024-05-24T23:09:30.184" v="275" actId="1076"/>
      <pc:docMkLst>
        <pc:docMk/>
      </pc:docMkLst>
      <pc:sldChg chg="addSp modSp">
        <pc:chgData name="Diógenes Pastori" userId="S::dpastori@frro.utn.edu.ar::9ef8bffa-4a80-48ce-96dd-7a1d42c3eec8" providerId="AD" clId="Web-{795FE9A3-8DBC-9564-09E6-9843B9CEDF01}" dt="2024-05-24T23:02:44.356" v="183" actId="14100"/>
        <pc:sldMkLst>
          <pc:docMk/>
          <pc:sldMk cId="452382427" sldId="294"/>
        </pc:sldMkLst>
        <pc:spChg chg="mod">
          <ac:chgData name="Diógenes Pastori" userId="S::dpastori@frro.utn.edu.ar::9ef8bffa-4a80-48ce-96dd-7a1d42c3eec8" providerId="AD" clId="Web-{795FE9A3-8DBC-9564-09E6-9843B9CEDF01}" dt="2024-05-24T23:02:05.948" v="167" actId="20577"/>
          <ac:spMkLst>
            <pc:docMk/>
            <pc:sldMk cId="452382427" sldId="294"/>
            <ac:spMk id="7" creationId="{7F15506B-9DBA-7CFA-90EF-E2BC57C59113}"/>
          </ac:spMkLst>
        </pc:spChg>
        <pc:picChg chg="add mod">
          <ac:chgData name="Diógenes Pastori" userId="S::dpastori@frro.utn.edu.ar::9ef8bffa-4a80-48ce-96dd-7a1d42c3eec8" providerId="AD" clId="Web-{795FE9A3-8DBC-9564-09E6-9843B9CEDF01}" dt="2024-05-24T23:02:44.356" v="183" actId="14100"/>
          <ac:picMkLst>
            <pc:docMk/>
            <pc:sldMk cId="452382427" sldId="294"/>
            <ac:picMk id="4" creationId="{6513E46E-88D9-EA65-0C83-1401C89B9ADC}"/>
          </ac:picMkLst>
        </pc:picChg>
        <pc:picChg chg="add mod">
          <ac:chgData name="Diógenes Pastori" userId="S::dpastori@frro.utn.edu.ar::9ef8bffa-4a80-48ce-96dd-7a1d42c3eec8" providerId="AD" clId="Web-{795FE9A3-8DBC-9564-09E6-9843B9CEDF01}" dt="2024-05-24T23:02:14.370" v="171" actId="14100"/>
          <ac:picMkLst>
            <pc:docMk/>
            <pc:sldMk cId="452382427" sldId="294"/>
            <ac:picMk id="5" creationId="{20709E6A-14E9-3D17-965D-4AFDEB45AAF5}"/>
          </ac:picMkLst>
        </pc:picChg>
        <pc:picChg chg="add mod">
          <ac:chgData name="Diógenes Pastori" userId="S::dpastori@frro.utn.edu.ar::9ef8bffa-4a80-48ce-96dd-7a1d42c3eec8" providerId="AD" clId="Web-{795FE9A3-8DBC-9564-09E6-9843B9CEDF01}" dt="2024-05-24T23:02:20.167" v="174" actId="1076"/>
          <ac:picMkLst>
            <pc:docMk/>
            <pc:sldMk cId="452382427" sldId="294"/>
            <ac:picMk id="9" creationId="{4AA9335A-8819-D98A-0251-3FEA22D41900}"/>
          </ac:picMkLst>
        </pc:picChg>
        <pc:picChg chg="add mod">
          <ac:chgData name="Diógenes Pastori" userId="S::dpastori@frro.utn.edu.ar::9ef8bffa-4a80-48ce-96dd-7a1d42c3eec8" providerId="AD" clId="Web-{795FE9A3-8DBC-9564-09E6-9843B9CEDF01}" dt="2024-05-24T23:02:18.339" v="173" actId="1076"/>
          <ac:picMkLst>
            <pc:docMk/>
            <pc:sldMk cId="452382427" sldId="294"/>
            <ac:picMk id="10" creationId="{6626E520-2CA1-6DA0-D99D-52D05657C985}"/>
          </ac:picMkLst>
        </pc:picChg>
        <pc:picChg chg="add mod">
          <ac:chgData name="Diógenes Pastori" userId="S::dpastori@frro.utn.edu.ar::9ef8bffa-4a80-48ce-96dd-7a1d42c3eec8" providerId="AD" clId="Web-{795FE9A3-8DBC-9564-09E6-9843B9CEDF01}" dt="2024-05-24T23:02:28.855" v="177" actId="1076"/>
          <ac:picMkLst>
            <pc:docMk/>
            <pc:sldMk cId="452382427" sldId="294"/>
            <ac:picMk id="11" creationId="{27409902-1513-74C0-8215-A111D9FCACBB}"/>
          </ac:picMkLst>
        </pc:picChg>
      </pc:sldChg>
      <pc:sldChg chg="addSp delSp modSp">
        <pc:chgData name="Diógenes Pastori" userId="S::dpastori@frro.utn.edu.ar::9ef8bffa-4a80-48ce-96dd-7a1d42c3eec8" providerId="AD" clId="Web-{795FE9A3-8DBC-9564-09E6-9843B9CEDF01}" dt="2024-05-24T23:09:30.184" v="275" actId="1076"/>
        <pc:sldMkLst>
          <pc:docMk/>
          <pc:sldMk cId="1006550443" sldId="296"/>
        </pc:sldMkLst>
        <pc:spChg chg="mod">
          <ac:chgData name="Diógenes Pastori" userId="S::dpastori@frro.utn.edu.ar::9ef8bffa-4a80-48ce-96dd-7a1d42c3eec8" providerId="AD" clId="Web-{795FE9A3-8DBC-9564-09E6-9843B9CEDF01}" dt="2024-05-24T23:08:30.729" v="272" actId="20577"/>
          <ac:spMkLst>
            <pc:docMk/>
            <pc:sldMk cId="1006550443" sldId="296"/>
            <ac:spMk id="7" creationId="{7F15506B-9DBA-7CFA-90EF-E2BC57C59113}"/>
          </ac:spMkLst>
        </pc:spChg>
        <pc:spChg chg="del">
          <ac:chgData name="Diógenes Pastori" userId="S::dpastori@frro.utn.edu.ar::9ef8bffa-4a80-48ce-96dd-7a1d42c3eec8" providerId="AD" clId="Web-{795FE9A3-8DBC-9564-09E6-9843B9CEDF01}" dt="2024-05-24T22:51:57.420" v="42"/>
          <ac:spMkLst>
            <pc:docMk/>
            <pc:sldMk cId="1006550443" sldId="296"/>
            <ac:spMk id="14" creationId="{00000000-0000-0000-0000-000000000000}"/>
          </ac:spMkLst>
        </pc:spChg>
        <pc:spChg chg="add del mod">
          <ac:chgData name="Diógenes Pastori" userId="S::dpastori@frro.utn.edu.ar::9ef8bffa-4a80-48ce-96dd-7a1d42c3eec8" providerId="AD" clId="Web-{795FE9A3-8DBC-9564-09E6-9843B9CEDF01}" dt="2024-05-24T22:52:00.686" v="43"/>
          <ac:spMkLst>
            <pc:docMk/>
            <pc:sldMk cId="1006550443" sldId="296"/>
            <ac:spMk id="16" creationId="{F0FC1751-F7C0-5E99-FAF8-0578D96400A4}"/>
          </ac:spMkLst>
        </pc:spChg>
        <pc:picChg chg="add del mod">
          <ac:chgData name="Diógenes Pastori" userId="S::dpastori@frro.utn.edu.ar::9ef8bffa-4a80-48ce-96dd-7a1d42c3eec8" providerId="AD" clId="Web-{795FE9A3-8DBC-9564-09E6-9843B9CEDF01}" dt="2024-05-24T22:48:43.600" v="4"/>
          <ac:picMkLst>
            <pc:docMk/>
            <pc:sldMk cId="1006550443" sldId="296"/>
            <ac:picMk id="4" creationId="{E791D158-42EE-C579-56BD-9C93D7F5C1E4}"/>
          </ac:picMkLst>
        </pc:picChg>
        <pc:picChg chg="add del mod">
          <ac:chgData name="Diógenes Pastori" userId="S::dpastori@frro.utn.edu.ar::9ef8bffa-4a80-48ce-96dd-7a1d42c3eec8" providerId="AD" clId="Web-{795FE9A3-8DBC-9564-09E6-9843B9CEDF01}" dt="2024-05-24T22:49:53.166" v="18"/>
          <ac:picMkLst>
            <pc:docMk/>
            <pc:sldMk cId="1006550443" sldId="296"/>
            <ac:picMk id="5" creationId="{156E6C18-0AC2-CB41-01B0-5169FE84EA8D}"/>
          </ac:picMkLst>
        </pc:picChg>
        <pc:picChg chg="del mod">
          <ac:chgData name="Diógenes Pastori" userId="S::dpastori@frro.utn.edu.ar::9ef8bffa-4a80-48ce-96dd-7a1d42c3eec8" providerId="AD" clId="Web-{795FE9A3-8DBC-9564-09E6-9843B9CEDF01}" dt="2024-05-24T22:49:19.086" v="11"/>
          <ac:picMkLst>
            <pc:docMk/>
            <pc:sldMk cId="1006550443" sldId="296"/>
            <ac:picMk id="6" creationId="{E1939A4B-FF57-84D1-9308-3C8E399F0070}"/>
          </ac:picMkLst>
        </pc:picChg>
        <pc:picChg chg="add del mod">
          <ac:chgData name="Diógenes Pastori" userId="S::dpastori@frro.utn.edu.ar::9ef8bffa-4a80-48ce-96dd-7a1d42c3eec8" providerId="AD" clId="Web-{795FE9A3-8DBC-9564-09E6-9843B9CEDF01}" dt="2024-05-24T22:51:28.669" v="38"/>
          <ac:picMkLst>
            <pc:docMk/>
            <pc:sldMk cId="1006550443" sldId="296"/>
            <ac:picMk id="9" creationId="{F7EFCFB2-9EB0-CA35-537B-45787107E250}"/>
          </ac:picMkLst>
        </pc:picChg>
        <pc:picChg chg="add del mod">
          <ac:chgData name="Diógenes Pastori" userId="S::dpastori@frro.utn.edu.ar::9ef8bffa-4a80-48ce-96dd-7a1d42c3eec8" providerId="AD" clId="Web-{795FE9A3-8DBC-9564-09E6-9843B9CEDF01}" dt="2024-05-24T22:49:45.290" v="16"/>
          <ac:picMkLst>
            <pc:docMk/>
            <pc:sldMk cId="1006550443" sldId="296"/>
            <ac:picMk id="10" creationId="{8B679C1B-570C-BCCF-7E6B-BA55CDD892FC}"/>
          </ac:picMkLst>
        </pc:picChg>
        <pc:picChg chg="add del mod">
          <ac:chgData name="Diógenes Pastori" userId="S::dpastori@frro.utn.edu.ar::9ef8bffa-4a80-48ce-96dd-7a1d42c3eec8" providerId="AD" clId="Web-{795FE9A3-8DBC-9564-09E6-9843B9CEDF01}" dt="2024-05-24T22:51:29.419" v="39"/>
          <ac:picMkLst>
            <pc:docMk/>
            <pc:sldMk cId="1006550443" sldId="296"/>
            <ac:picMk id="11" creationId="{68A902F4-FB88-513F-9396-1F03223F2E8C}"/>
          </ac:picMkLst>
        </pc:picChg>
        <pc:picChg chg="add del mod">
          <ac:chgData name="Diógenes Pastori" userId="S::dpastori@frro.utn.edu.ar::9ef8bffa-4a80-48ce-96dd-7a1d42c3eec8" providerId="AD" clId="Web-{795FE9A3-8DBC-9564-09E6-9843B9CEDF01}" dt="2024-05-24T23:09:25.356" v="273"/>
          <ac:picMkLst>
            <pc:docMk/>
            <pc:sldMk cId="1006550443" sldId="296"/>
            <ac:picMk id="12" creationId="{B10AC810-2FEF-25B1-B25B-ADAE70E016D6}"/>
          </ac:picMkLst>
        </pc:picChg>
        <pc:picChg chg="add mod">
          <ac:chgData name="Diógenes Pastori" userId="S::dpastori@frro.utn.edu.ar::9ef8bffa-4a80-48ce-96dd-7a1d42c3eec8" providerId="AD" clId="Web-{795FE9A3-8DBC-9564-09E6-9843B9CEDF01}" dt="2024-05-24T22:51:33.529" v="40" actId="1076"/>
          <ac:picMkLst>
            <pc:docMk/>
            <pc:sldMk cId="1006550443" sldId="296"/>
            <ac:picMk id="13" creationId="{2D5CAD82-85C1-928B-D678-D941E9DA38B5}"/>
          </ac:picMkLst>
        </pc:picChg>
        <pc:picChg chg="add mod">
          <ac:chgData name="Diógenes Pastori" userId="S::dpastori@frro.utn.edu.ar::9ef8bffa-4a80-48ce-96dd-7a1d42c3eec8" providerId="AD" clId="Web-{795FE9A3-8DBC-9564-09E6-9843B9CEDF01}" dt="2024-05-24T23:09:30.184" v="275" actId="1076"/>
          <ac:picMkLst>
            <pc:docMk/>
            <pc:sldMk cId="1006550443" sldId="296"/>
            <ac:picMk id="17" creationId="{E02DDEF3-2CDB-D7EE-476F-6936799E4070}"/>
          </ac:picMkLst>
        </pc:picChg>
      </pc:sldChg>
      <pc:sldChg chg="delSp modSp add replId">
        <pc:chgData name="Diógenes Pastori" userId="S::dpastori@frro.utn.edu.ar::9ef8bffa-4a80-48ce-96dd-7a1d42c3eec8" providerId="AD" clId="Web-{795FE9A3-8DBC-9564-09E6-9843B9CEDF01}" dt="2024-05-24T23:07:26.320" v="246" actId="20577"/>
        <pc:sldMkLst>
          <pc:docMk/>
          <pc:sldMk cId="1229374787" sldId="297"/>
        </pc:sldMkLst>
        <pc:spChg chg="mod">
          <ac:chgData name="Diógenes Pastori" userId="S::dpastori@frro.utn.edu.ar::9ef8bffa-4a80-48ce-96dd-7a1d42c3eec8" providerId="AD" clId="Web-{795FE9A3-8DBC-9564-09E6-9843B9CEDF01}" dt="2024-05-24T23:07:26.320" v="246" actId="20577"/>
          <ac:spMkLst>
            <pc:docMk/>
            <pc:sldMk cId="1229374787" sldId="297"/>
            <ac:spMk id="7" creationId="{7F15506B-9DBA-7CFA-90EF-E2BC57C59113}"/>
          </ac:spMkLst>
        </pc:spChg>
        <pc:picChg chg="del">
          <ac:chgData name="Diógenes Pastori" userId="S::dpastori@frro.utn.edu.ar::9ef8bffa-4a80-48ce-96dd-7a1d42c3eec8" providerId="AD" clId="Web-{795FE9A3-8DBC-9564-09E6-9843B9CEDF01}" dt="2024-05-24T23:05:32.034" v="203"/>
          <ac:picMkLst>
            <pc:docMk/>
            <pc:sldMk cId="1229374787" sldId="297"/>
            <ac:picMk id="4" creationId="{6513E46E-88D9-EA65-0C83-1401C89B9ADC}"/>
          </ac:picMkLst>
        </pc:picChg>
        <pc:picChg chg="del">
          <ac:chgData name="Diógenes Pastori" userId="S::dpastori@frro.utn.edu.ar::9ef8bffa-4a80-48ce-96dd-7a1d42c3eec8" providerId="AD" clId="Web-{795FE9A3-8DBC-9564-09E6-9843B9CEDF01}" dt="2024-05-24T23:05:28.378" v="200"/>
          <ac:picMkLst>
            <pc:docMk/>
            <pc:sldMk cId="1229374787" sldId="297"/>
            <ac:picMk id="5" creationId="{20709E6A-14E9-3D17-965D-4AFDEB45AAF5}"/>
          </ac:picMkLst>
        </pc:picChg>
        <pc:picChg chg="del">
          <ac:chgData name="Diógenes Pastori" userId="S::dpastori@frro.utn.edu.ar::9ef8bffa-4a80-48ce-96dd-7a1d42c3eec8" providerId="AD" clId="Web-{795FE9A3-8DBC-9564-09E6-9843B9CEDF01}" dt="2024-05-24T23:05:30.581" v="201"/>
          <ac:picMkLst>
            <pc:docMk/>
            <pc:sldMk cId="1229374787" sldId="297"/>
            <ac:picMk id="9" creationId="{4AA9335A-8819-D98A-0251-3FEA22D41900}"/>
          </ac:picMkLst>
        </pc:picChg>
        <pc:picChg chg="del">
          <ac:chgData name="Diógenes Pastori" userId="S::dpastori@frro.utn.edu.ar::9ef8bffa-4a80-48ce-96dd-7a1d42c3eec8" providerId="AD" clId="Web-{795FE9A3-8DBC-9564-09E6-9843B9CEDF01}" dt="2024-05-24T23:05:32.269" v="204"/>
          <ac:picMkLst>
            <pc:docMk/>
            <pc:sldMk cId="1229374787" sldId="297"/>
            <ac:picMk id="10" creationId="{6626E520-2CA1-6DA0-D99D-52D05657C985}"/>
          </ac:picMkLst>
        </pc:picChg>
        <pc:picChg chg="del">
          <ac:chgData name="Diógenes Pastori" userId="S::dpastori@frro.utn.edu.ar::9ef8bffa-4a80-48ce-96dd-7a1d42c3eec8" providerId="AD" clId="Web-{795FE9A3-8DBC-9564-09E6-9843B9CEDF01}" dt="2024-05-24T23:05:31.315" v="202"/>
          <ac:picMkLst>
            <pc:docMk/>
            <pc:sldMk cId="1229374787" sldId="297"/>
            <ac:picMk id="11" creationId="{27409902-1513-74C0-8215-A111D9FCACBB}"/>
          </ac:picMkLst>
        </pc:picChg>
      </pc:sldChg>
      <pc:sldChg chg="modSp del">
        <pc:chgData name="Diógenes Pastori" userId="S::dpastori@frro.utn.edu.ar::9ef8bffa-4a80-48ce-96dd-7a1d42c3eec8" providerId="AD" clId="Web-{795FE9A3-8DBC-9564-09E6-9843B9CEDF01}" dt="2024-05-24T23:05:02.674" v="198"/>
        <pc:sldMkLst>
          <pc:docMk/>
          <pc:sldMk cId="3585676893" sldId="297"/>
        </pc:sldMkLst>
        <pc:spChg chg="mod">
          <ac:chgData name="Diógenes Pastori" userId="S::dpastori@frro.utn.edu.ar::9ef8bffa-4a80-48ce-96dd-7a1d42c3eec8" providerId="AD" clId="Web-{795FE9A3-8DBC-9564-09E6-9843B9CEDF01}" dt="2024-05-24T23:04:57.784" v="197" actId="1076"/>
          <ac:spMkLst>
            <pc:docMk/>
            <pc:sldMk cId="3585676893" sldId="297"/>
            <ac:spMk id="7" creationId="{7F15506B-9DBA-7CFA-90EF-E2BC57C5911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3283346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2231490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267606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0E2631D5-636F-4B64-B151-BE66EFF30379}" type="datetimeFigureOut">
              <a:rPr lang="es-AR" smtClean="0"/>
              <a:t>27/5/2024</a:t>
            </a:fld>
            <a:endParaRPr lang="es-AR"/>
          </a:p>
        </p:txBody>
      </p:sp>
      <p:sp>
        <p:nvSpPr>
          <p:cNvPr id="6" name="Footer Placeholder 5"/>
          <p:cNvSpPr>
            <a:spLocks noGrp="1"/>
          </p:cNvSpPr>
          <p:nvPr>
            <p:ph type="ftr" sz="quarter" idx="11"/>
          </p:nvPr>
        </p:nvSpPr>
        <p:spPr/>
        <p:txBody>
          <a:bodyPr/>
          <a:lstStyle/>
          <a:p>
            <a:endParaRPr lang="es-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1756040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0E2631D5-636F-4B64-B151-BE66EFF30379}" type="datetimeFigureOut">
              <a:rPr lang="es-AR" smtClean="0"/>
              <a:t>27/5/2024</a:t>
            </a:fld>
            <a:endParaRPr lang="es-AR"/>
          </a:p>
        </p:txBody>
      </p:sp>
      <p:sp>
        <p:nvSpPr>
          <p:cNvPr id="8" name="Footer Placeholder 7"/>
          <p:cNvSpPr>
            <a:spLocks noGrp="1"/>
          </p:cNvSpPr>
          <p:nvPr>
            <p:ph type="ftr" sz="quarter" idx="11"/>
          </p:nvPr>
        </p:nvSpPr>
        <p:spPr/>
        <p:txBody>
          <a:bodyPr/>
          <a:lstStyle/>
          <a:p>
            <a:endParaRPr lang="es-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2885916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0E2631D5-636F-4B64-B151-BE66EFF30379}" type="datetimeFigureOut">
              <a:rPr lang="es-AR" smtClean="0"/>
              <a:t>27/5/2024</a:t>
            </a:fld>
            <a:endParaRPr lang="es-AR"/>
          </a:p>
        </p:txBody>
      </p:sp>
      <p:sp>
        <p:nvSpPr>
          <p:cNvPr id="4" name="Footer Placeholder 3"/>
          <p:cNvSpPr>
            <a:spLocks noGrp="1"/>
          </p:cNvSpPr>
          <p:nvPr>
            <p:ph type="ftr" sz="quarter" idx="11"/>
          </p:nvPr>
        </p:nvSpPr>
        <p:spPr/>
        <p:txBody>
          <a:bodyPr/>
          <a:lstStyle/>
          <a:p>
            <a:endParaRPr lang="es-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391601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1D5-636F-4B64-B151-BE66EFF30379}" type="datetimeFigureOut">
              <a:rPr lang="es-AR" smtClean="0"/>
              <a:t>27/5/2024</a:t>
            </a:fld>
            <a:endParaRPr lang="es-AR"/>
          </a:p>
        </p:txBody>
      </p:sp>
      <p:sp>
        <p:nvSpPr>
          <p:cNvPr id="3" name="Footer Placeholder 2"/>
          <p:cNvSpPr>
            <a:spLocks noGrp="1"/>
          </p:cNvSpPr>
          <p:nvPr>
            <p:ph type="ftr" sz="quarter" idx="11"/>
          </p:nvPr>
        </p:nvSpPr>
        <p:spPr/>
        <p:txBody>
          <a:bodyPr/>
          <a:lstStyle/>
          <a:p>
            <a:endParaRPr lang="es-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2952163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E2631D5-636F-4B64-B151-BE66EFF30379}" type="datetimeFigureOut">
              <a:rPr lang="es-AR" smtClean="0"/>
              <a:t>27/5/2024</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4230206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E2631D5-636F-4B64-B151-BE66EFF30379}" type="datetimeFigureOut">
              <a:rPr lang="es-AR" smtClean="0"/>
              <a:t>27/5/2024</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1582499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2339533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0E997A-1E8C-4531-BAF7-82F010FDF3A3}" type="slidenum">
              <a:rPr lang="es-AR" smtClean="0"/>
              <a:t>‹Nº›</a:t>
            </a:fld>
            <a:endParaRPr lang="es-A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558583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el estilo de texto del patrón</a:t>
            </a:r>
          </a:p>
        </p:txBody>
      </p:sp>
      <p:sp>
        <p:nvSpPr>
          <p:cNvPr id="5" name="Date Placeholder 4"/>
          <p:cNvSpPr>
            <a:spLocks noGrp="1"/>
          </p:cNvSpPr>
          <p:nvPr>
            <p:ph type="dt" sz="half" idx="10"/>
          </p:nvPr>
        </p:nvSpPr>
        <p:spPr/>
        <p:txBody>
          <a:bodyPr/>
          <a:lstStyle/>
          <a:p>
            <a:fld id="{0E2631D5-636F-4B64-B151-BE66EFF30379}" type="datetimeFigureOut">
              <a:rPr lang="es-AR" smtClean="0"/>
              <a:t>27/5/2024</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808532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el estilo de texto del patrón</a:t>
            </a:r>
          </a:p>
        </p:txBody>
      </p:sp>
      <p:sp>
        <p:nvSpPr>
          <p:cNvPr id="5" name="Date Placeholder 4"/>
          <p:cNvSpPr>
            <a:spLocks noGrp="1"/>
          </p:cNvSpPr>
          <p:nvPr>
            <p:ph type="dt" sz="half" idx="10"/>
          </p:nvPr>
        </p:nvSpPr>
        <p:spPr/>
        <p:txBody>
          <a:bodyPr/>
          <a:lstStyle/>
          <a:p>
            <a:fld id="{0E2631D5-636F-4B64-B151-BE66EFF30379}" type="datetimeFigureOut">
              <a:rPr lang="es-AR" smtClean="0"/>
              <a:t>27/5/2024</a:t>
            </a:fld>
            <a:endParaRPr lang="es-AR"/>
          </a:p>
        </p:txBody>
      </p:sp>
      <p:sp>
        <p:nvSpPr>
          <p:cNvPr id="6" name="Footer Placeholder 5"/>
          <p:cNvSpPr>
            <a:spLocks noGrp="1"/>
          </p:cNvSpPr>
          <p:nvPr>
            <p:ph type="ftr" sz="quarter" idx="11"/>
          </p:nvPr>
        </p:nvSpPr>
        <p:spPr/>
        <p:txBody>
          <a:bodyPr/>
          <a:lstStyle/>
          <a:p>
            <a:endParaRPr lang="es-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0E997A-1E8C-4531-BAF7-82F010FDF3A3}" type="slidenum">
              <a:rPr lang="es-AR" smtClean="0"/>
              <a:t>‹Nº›</a:t>
            </a:fld>
            <a:endParaRPr lang="es-A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1048765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el estilo de texto del patrón</a:t>
            </a:r>
          </a:p>
        </p:txBody>
      </p:sp>
      <p:sp>
        <p:nvSpPr>
          <p:cNvPr id="5" name="Date Placeholder 4"/>
          <p:cNvSpPr>
            <a:spLocks noGrp="1"/>
          </p:cNvSpPr>
          <p:nvPr>
            <p:ph type="dt" sz="half" idx="10"/>
          </p:nvPr>
        </p:nvSpPr>
        <p:spPr/>
        <p:txBody>
          <a:bodyPr/>
          <a:lstStyle/>
          <a:p>
            <a:fld id="{0E2631D5-636F-4B64-B151-BE66EFF30379}" type="datetimeFigureOut">
              <a:rPr lang="es-AR" smtClean="0"/>
              <a:t>27/5/2024</a:t>
            </a:fld>
            <a:endParaRPr lang="es-AR"/>
          </a:p>
        </p:txBody>
      </p:sp>
      <p:sp>
        <p:nvSpPr>
          <p:cNvPr id="6" name="Footer Placeholder 5"/>
          <p:cNvSpPr>
            <a:spLocks noGrp="1"/>
          </p:cNvSpPr>
          <p:nvPr>
            <p:ph type="ftr" sz="quarter" idx="11"/>
          </p:nvPr>
        </p:nvSpPr>
        <p:spPr/>
        <p:txBody>
          <a:bodyPr/>
          <a:lstStyle/>
          <a:p>
            <a:endParaRPr lang="es-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1731059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1609029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E2631D5-636F-4B64-B151-BE66EFF30379}" type="datetimeFigureOut">
              <a:rPr lang="es-AR" smtClean="0"/>
              <a:t>27/5/2024</a:t>
            </a:fld>
            <a:endParaRPr lang="es-AR"/>
          </a:p>
        </p:txBody>
      </p:sp>
      <p:sp>
        <p:nvSpPr>
          <p:cNvPr id="5" name="Footer Placeholder 4"/>
          <p:cNvSpPr>
            <a:spLocks noGrp="1"/>
          </p:cNvSpPr>
          <p:nvPr>
            <p:ph type="ftr" sz="quarter" idx="11"/>
          </p:nvPr>
        </p:nvSpPr>
        <p:spPr/>
        <p:txBody>
          <a:bodyPr/>
          <a:lstStyle/>
          <a:p>
            <a:endParaRPr lang="es-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0E997A-1E8C-4531-BAF7-82F010FDF3A3}" type="slidenum">
              <a:rPr lang="es-AR" smtClean="0"/>
              <a:t>‹Nº›</a:t>
            </a:fld>
            <a:endParaRPr lang="es-AR"/>
          </a:p>
        </p:txBody>
      </p:sp>
    </p:spTree>
    <p:extLst>
      <p:ext uri="{BB962C8B-B14F-4D97-AF65-F5344CB8AC3E}">
        <p14:creationId xmlns:p14="http://schemas.microsoft.com/office/powerpoint/2010/main" val="380165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atMod val="92000"/>
                <a:lumMod val="120000"/>
              </a:schemeClr>
            </a:gs>
            <a:gs pos="90000">
              <a:schemeClr val="bg2">
                <a:shade val="98000"/>
                <a:satMod val="120000"/>
                <a:lumMod val="90000"/>
                <a:lumOff val="1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E2631D5-636F-4B64-B151-BE66EFF30379}" type="datetimeFigureOut">
              <a:rPr lang="es-AR" smtClean="0"/>
              <a:t>27/5/2024</a:t>
            </a:fld>
            <a:endParaRPr lang="es-A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50E997A-1E8C-4531-BAF7-82F010FDF3A3}" type="slidenum">
              <a:rPr lang="es-AR" smtClean="0"/>
              <a:t>‹Nº›</a:t>
            </a:fld>
            <a:endParaRPr lang="es-AR"/>
          </a:p>
        </p:txBody>
      </p:sp>
    </p:spTree>
    <p:extLst>
      <p:ext uri="{BB962C8B-B14F-4D97-AF65-F5344CB8AC3E}">
        <p14:creationId xmlns:p14="http://schemas.microsoft.com/office/powerpoint/2010/main" val="403578442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887926" y="995756"/>
            <a:ext cx="8166537" cy="2328470"/>
          </a:xfrm>
        </p:spPr>
        <p:txBody>
          <a:bodyPr/>
          <a:lstStyle/>
          <a:p>
            <a:r>
              <a:rPr lang="es-AR" dirty="0"/>
              <a:t>Practica </a:t>
            </a:r>
            <a:br>
              <a:rPr lang="es-AR" dirty="0"/>
            </a:br>
            <a:r>
              <a:rPr lang="es-AR" dirty="0"/>
              <a:t>Introductoria</a:t>
            </a:r>
          </a:p>
        </p:txBody>
      </p:sp>
      <p:sp>
        <p:nvSpPr>
          <p:cNvPr id="4" name="Rectángulo 3"/>
          <p:cNvSpPr/>
          <p:nvPr/>
        </p:nvSpPr>
        <p:spPr>
          <a:xfrm>
            <a:off x="8793708" y="5791200"/>
            <a:ext cx="3107140" cy="369332"/>
          </a:xfrm>
          <a:prstGeom prst="rect">
            <a:avLst/>
          </a:prstGeom>
        </p:spPr>
        <p:txBody>
          <a:bodyPr wrap="square">
            <a:spAutoFit/>
          </a:bodyPr>
          <a:lstStyle/>
          <a:p>
            <a:pPr algn="ctr"/>
            <a:r>
              <a:rPr lang="es-AR"/>
              <a:t>v1</a:t>
            </a:r>
          </a:p>
        </p:txBody>
      </p:sp>
      <p:pic>
        <p:nvPicPr>
          <p:cNvPr id="1030" name="Picture 6" descr="CVG - UTN Facultad Regional Rosario">
            <a:extLst>
              <a:ext uri="{FF2B5EF4-FFF2-40B4-BE49-F238E27FC236}">
                <a16:creationId xmlns:a16="http://schemas.microsoft.com/office/drawing/2014/main" id="{427109E6-ECEB-A277-4DC1-57FA86A375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8501" y="141276"/>
            <a:ext cx="2761776" cy="826517"/>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1">
            <a:extLst>
              <a:ext uri="{FF2B5EF4-FFF2-40B4-BE49-F238E27FC236}">
                <a16:creationId xmlns:a16="http://schemas.microsoft.com/office/drawing/2014/main" id="{EA718381-8066-7263-CC3C-4E967A475979}"/>
              </a:ext>
            </a:extLst>
          </p:cNvPr>
          <p:cNvSpPr txBox="1">
            <a:spLocks/>
          </p:cNvSpPr>
          <p:nvPr/>
        </p:nvSpPr>
        <p:spPr>
          <a:xfrm>
            <a:off x="9254583" y="1001553"/>
            <a:ext cx="2761776" cy="488079"/>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2800" b="1"/>
              <a:t>Redes de Datos</a:t>
            </a:r>
          </a:p>
        </p:txBody>
      </p:sp>
    </p:spTree>
    <p:extLst>
      <p:ext uri="{BB962C8B-B14F-4D97-AF65-F5344CB8AC3E}">
        <p14:creationId xmlns:p14="http://schemas.microsoft.com/office/powerpoint/2010/main" val="2908218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a:t>Conceptos Iniciales	</a:t>
            </a:r>
          </a:p>
        </p:txBody>
      </p:sp>
      <p:sp>
        <p:nvSpPr>
          <p:cNvPr id="14" name="Marcador de contenido 2"/>
          <p:cNvSpPr>
            <a:spLocks noGrp="1"/>
          </p:cNvSpPr>
          <p:nvPr>
            <p:ph idx="1"/>
          </p:nvPr>
        </p:nvSpPr>
        <p:spPr>
          <a:xfrm>
            <a:off x="1555206" y="869047"/>
            <a:ext cx="9773194" cy="2287006"/>
          </a:xfrm>
        </p:spPr>
        <p:txBody>
          <a:bodyPr>
            <a:noAutofit/>
          </a:bodyPr>
          <a:lstStyle/>
          <a:p>
            <a:r>
              <a:rPr lang="es-AR" b="0" i="0" u="none" strike="noStrike" baseline="0">
                <a:solidFill>
                  <a:schemeClr val="tx1"/>
                </a:solidFill>
                <a:latin typeface="+mj-lt"/>
              </a:rPr>
              <a:t>Medidas de Almacenamiento en RAM, HDD, SSD, </a:t>
            </a:r>
            <a:r>
              <a:rPr lang="es-AR" b="0" i="0" u="none" strike="noStrike" baseline="0" err="1">
                <a:solidFill>
                  <a:schemeClr val="tx1"/>
                </a:solidFill>
                <a:latin typeface="+mj-lt"/>
              </a:rPr>
              <a:t>etc</a:t>
            </a:r>
            <a:r>
              <a:rPr lang="es-AR" b="0" i="0" u="none" strike="noStrike" baseline="0">
                <a:solidFill>
                  <a:schemeClr val="tx1"/>
                </a:solidFill>
                <a:latin typeface="+mj-lt"/>
              </a:rPr>
              <a:t>: </a:t>
            </a:r>
          </a:p>
          <a:p>
            <a:pPr marL="457200" lvl="1" indent="0">
              <a:buNone/>
            </a:pPr>
            <a:r>
              <a:rPr lang="es-AR" sz="1400" b="1">
                <a:solidFill>
                  <a:schemeClr val="tx1"/>
                </a:solidFill>
                <a:latin typeface="+mj-lt"/>
              </a:rPr>
              <a:t>1 bit </a:t>
            </a:r>
            <a:r>
              <a:rPr lang="es-AR" sz="1400">
                <a:solidFill>
                  <a:schemeClr val="tx1"/>
                </a:solidFill>
                <a:latin typeface="+mj-lt"/>
              </a:rPr>
              <a:t>(</a:t>
            </a:r>
            <a:r>
              <a:rPr lang="es-AR" sz="1400" b="1" err="1">
                <a:solidFill>
                  <a:schemeClr val="tx1"/>
                </a:solidFill>
                <a:latin typeface="+mj-lt"/>
              </a:rPr>
              <a:t>bi</a:t>
            </a:r>
            <a:r>
              <a:rPr lang="es-AR" sz="1400" err="1">
                <a:solidFill>
                  <a:schemeClr val="tx1"/>
                </a:solidFill>
                <a:latin typeface="+mj-lt"/>
              </a:rPr>
              <a:t>nary</a:t>
            </a:r>
            <a:r>
              <a:rPr lang="es-AR" sz="1400">
                <a:solidFill>
                  <a:schemeClr val="tx1"/>
                </a:solidFill>
                <a:latin typeface="+mj-lt"/>
              </a:rPr>
              <a:t> </a:t>
            </a:r>
            <a:r>
              <a:rPr lang="es-AR" sz="1400" err="1">
                <a:solidFill>
                  <a:schemeClr val="tx1"/>
                </a:solidFill>
                <a:latin typeface="+mj-lt"/>
              </a:rPr>
              <a:t>digi</a:t>
            </a:r>
            <a:r>
              <a:rPr lang="es-AR" sz="1400" b="1" err="1">
                <a:solidFill>
                  <a:schemeClr val="tx1"/>
                </a:solidFill>
                <a:latin typeface="+mj-lt"/>
              </a:rPr>
              <a:t>t</a:t>
            </a:r>
            <a:r>
              <a:rPr lang="es-AR" sz="1400">
                <a:solidFill>
                  <a:schemeClr val="tx1"/>
                </a:solidFill>
                <a:latin typeface="+mj-lt"/>
              </a:rPr>
              <a:t>)  es la unidad mínima de información ( 0 y 1 )</a:t>
            </a:r>
          </a:p>
          <a:p>
            <a:pPr marL="457200" lvl="1" indent="0">
              <a:buNone/>
            </a:pPr>
            <a:r>
              <a:rPr lang="es-AR" sz="1400">
                <a:solidFill>
                  <a:schemeClr val="tx1"/>
                </a:solidFill>
                <a:latin typeface="+mj-lt"/>
              </a:rPr>
              <a:t>	la agrupación ordenada de </a:t>
            </a:r>
            <a:r>
              <a:rPr lang="es-AR" sz="1400" b="1">
                <a:solidFill>
                  <a:schemeClr val="tx1"/>
                </a:solidFill>
                <a:latin typeface="+mj-lt"/>
              </a:rPr>
              <a:t>8 bit (octales) =&gt; 1 Byte </a:t>
            </a:r>
          </a:p>
          <a:p>
            <a:pPr marL="457200" lvl="1" indent="0">
              <a:buNone/>
            </a:pPr>
            <a:r>
              <a:rPr lang="es-AR" sz="1400" b="1">
                <a:solidFill>
                  <a:schemeClr val="tx1"/>
                </a:solidFill>
                <a:latin typeface="+mj-lt"/>
              </a:rPr>
              <a:t>	1 Byte</a:t>
            </a:r>
            <a:r>
              <a:rPr lang="es-AR" sz="1400">
                <a:solidFill>
                  <a:schemeClr val="tx1"/>
                </a:solidFill>
                <a:latin typeface="+mj-lt"/>
              </a:rPr>
              <a:t> representa la unidad más pequeña de almacenamiento equivalente a 1 carácter </a:t>
            </a:r>
          </a:p>
          <a:p>
            <a:pPr marL="457200" lvl="1" indent="0">
              <a:buNone/>
            </a:pPr>
            <a:endParaRPr lang="es-AR" sz="1400">
              <a:solidFill>
                <a:schemeClr val="tx1"/>
              </a:solidFill>
              <a:latin typeface="HelveticaLTStd-Roman"/>
            </a:endParaRP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pic>
        <p:nvPicPr>
          <p:cNvPr id="7170" name="Picture 2" descr="byte">
            <a:extLst>
              <a:ext uri="{FF2B5EF4-FFF2-40B4-BE49-F238E27FC236}">
                <a16:creationId xmlns:a16="http://schemas.microsoft.com/office/drawing/2014/main" id="{5B2DABFF-9F5E-403A-462C-C3753D01FB9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7064" y="2295827"/>
            <a:ext cx="1640464" cy="6886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a 4">
            <a:extLst>
              <a:ext uri="{FF2B5EF4-FFF2-40B4-BE49-F238E27FC236}">
                <a16:creationId xmlns:a16="http://schemas.microsoft.com/office/drawing/2014/main" id="{4CBD8D52-8AC7-4B3E-0585-13BF1BD999CF}"/>
              </a:ext>
            </a:extLst>
          </p:cNvPr>
          <p:cNvGraphicFramePr>
            <a:graphicFrameLocks noGrp="1"/>
          </p:cNvGraphicFramePr>
          <p:nvPr>
            <p:extLst>
              <p:ext uri="{D42A27DB-BD31-4B8C-83A1-F6EECF244321}">
                <p14:modId xmlns:p14="http://schemas.microsoft.com/office/powerpoint/2010/main" val="3800927314"/>
              </p:ext>
            </p:extLst>
          </p:nvPr>
        </p:nvGraphicFramePr>
        <p:xfrm>
          <a:off x="5866840" y="2295827"/>
          <a:ext cx="3609669" cy="580581"/>
        </p:xfrm>
        <a:graphic>
          <a:graphicData uri="http://schemas.openxmlformats.org/drawingml/2006/table">
            <a:tbl>
              <a:tblPr>
                <a:tableStyleId>{5C22544A-7EE6-4342-B048-85BDC9FD1C3A}</a:tableStyleId>
              </a:tblPr>
              <a:tblGrid>
                <a:gridCol w="885598">
                  <a:extLst>
                    <a:ext uri="{9D8B030D-6E8A-4147-A177-3AD203B41FA5}">
                      <a16:colId xmlns:a16="http://schemas.microsoft.com/office/drawing/2014/main" val="20000"/>
                    </a:ext>
                  </a:extLst>
                </a:gridCol>
                <a:gridCol w="889717">
                  <a:extLst>
                    <a:ext uri="{9D8B030D-6E8A-4147-A177-3AD203B41FA5}">
                      <a16:colId xmlns:a16="http://schemas.microsoft.com/office/drawing/2014/main" val="1260664415"/>
                    </a:ext>
                  </a:extLst>
                </a:gridCol>
                <a:gridCol w="1142353">
                  <a:extLst>
                    <a:ext uri="{9D8B030D-6E8A-4147-A177-3AD203B41FA5}">
                      <a16:colId xmlns:a16="http://schemas.microsoft.com/office/drawing/2014/main" val="2086187044"/>
                    </a:ext>
                  </a:extLst>
                </a:gridCol>
                <a:gridCol w="692001">
                  <a:extLst>
                    <a:ext uri="{9D8B030D-6E8A-4147-A177-3AD203B41FA5}">
                      <a16:colId xmlns:a16="http://schemas.microsoft.com/office/drawing/2014/main" val="20001"/>
                    </a:ext>
                  </a:extLst>
                </a:gridCol>
              </a:tblGrid>
              <a:tr h="246102">
                <a:tc>
                  <a:txBody>
                    <a:bodyPr/>
                    <a:lstStyle/>
                    <a:p>
                      <a:pPr algn="ctr" fontAlgn="b"/>
                      <a:r>
                        <a:rPr lang="es-AR" sz="1200" b="0" i="0" u="none" strike="noStrike">
                          <a:solidFill>
                            <a:srgbClr val="000000"/>
                          </a:solidFill>
                          <a:effectLst/>
                          <a:latin typeface="Arial" panose="020B0604020202020204" pitchFamily="34" charset="0"/>
                          <a:cs typeface="Arial" panose="020B0604020202020204" pitchFamily="34" charset="0"/>
                        </a:rPr>
                        <a:t>Decimal</a:t>
                      </a:r>
                    </a:p>
                  </a:txBody>
                  <a:tcPr marL="9525" marR="9525" marT="9525" marB="0" anchor="ctr">
                    <a:solidFill>
                      <a:schemeClr val="accent1">
                        <a:lumMod val="40000"/>
                        <a:lumOff val="60000"/>
                      </a:schemeClr>
                    </a:solidFill>
                  </a:tcPr>
                </a:tc>
                <a:tc>
                  <a:txBody>
                    <a:bodyPr/>
                    <a:lstStyle/>
                    <a:p>
                      <a:pPr algn="ctr" fontAlgn="b"/>
                      <a:r>
                        <a:rPr lang="es-ES" sz="1200" b="0" i="0" u="none" strike="noStrike">
                          <a:solidFill>
                            <a:srgbClr val="000000"/>
                          </a:solidFill>
                          <a:effectLst/>
                          <a:latin typeface="Arial" panose="020B0604020202020204" pitchFamily="34" charset="0"/>
                          <a:cs typeface="Arial" panose="020B0604020202020204" pitchFamily="34" charset="0"/>
                        </a:rPr>
                        <a:t>OCTAL</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solidFill>
                      <a:schemeClr val="accent1">
                        <a:lumMod val="40000"/>
                        <a:lumOff val="60000"/>
                      </a:schemeClr>
                    </a:solidFill>
                  </a:tcPr>
                </a:tc>
                <a:tc>
                  <a:txBody>
                    <a:bodyPr/>
                    <a:lstStyle/>
                    <a:p>
                      <a:pPr algn="ctr" fontAlgn="b"/>
                      <a:r>
                        <a:rPr lang="es-ES" sz="1200" b="0" i="0" u="none" strike="noStrike">
                          <a:solidFill>
                            <a:srgbClr val="000000"/>
                          </a:solidFill>
                          <a:effectLst/>
                          <a:latin typeface="Arial" panose="020B0604020202020204" pitchFamily="34" charset="0"/>
                          <a:cs typeface="Arial" panose="020B0604020202020204" pitchFamily="34" charset="0"/>
                        </a:rPr>
                        <a:t>Hexadecimal</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solidFill>
                      <a:schemeClr val="accent1">
                        <a:lumMod val="40000"/>
                        <a:lumOff val="60000"/>
                      </a:schemeClr>
                    </a:solidFill>
                  </a:tcPr>
                </a:tc>
                <a:tc>
                  <a:txBody>
                    <a:bodyPr/>
                    <a:lstStyle/>
                    <a:p>
                      <a:pPr algn="ctr" fontAlgn="b"/>
                      <a:r>
                        <a:rPr lang="es-AR" sz="1200" b="0" i="0" u="none" strike="noStrike">
                          <a:solidFill>
                            <a:srgbClr val="000000"/>
                          </a:solidFill>
                          <a:effectLst/>
                          <a:latin typeface="Arial" panose="020B0604020202020204" pitchFamily="34" charset="0"/>
                          <a:cs typeface="Arial" panose="020B0604020202020204" pitchFamily="34" charset="0"/>
                        </a:rPr>
                        <a:t>ASCII </a:t>
                      </a:r>
                    </a:p>
                  </a:txBody>
                  <a:tcPr marL="9525" marR="9525" marT="9525" marB="0" anchor="ctr">
                    <a:solidFill>
                      <a:schemeClr val="accent1">
                        <a:lumMod val="40000"/>
                        <a:lumOff val="60000"/>
                      </a:schemeClr>
                    </a:solidFill>
                  </a:tcPr>
                </a:tc>
                <a:extLst>
                  <a:ext uri="{0D108BD9-81ED-4DB2-BD59-A6C34878D82A}">
                    <a16:rowId xmlns:a16="http://schemas.microsoft.com/office/drawing/2014/main" val="10000"/>
                  </a:ext>
                </a:extLst>
              </a:tr>
              <a:tr h="334479">
                <a:tc>
                  <a:txBody>
                    <a:bodyPr/>
                    <a:lstStyle/>
                    <a:p>
                      <a:pPr algn="ctr" fontAlgn="ctr"/>
                      <a:r>
                        <a:rPr lang="es-AR" sz="1200">
                          <a:effectLst/>
                          <a:latin typeface="Arial" panose="020B0604020202020204" pitchFamily="34" charset="0"/>
                          <a:cs typeface="Arial" panose="020B0604020202020204" pitchFamily="34" charset="0"/>
                        </a:rPr>
                        <a:t>098</a:t>
                      </a:r>
                    </a:p>
                  </a:txBody>
                  <a:tcPr marL="30480" marR="30480" marT="30480" marB="30480" anchor="ctr"/>
                </a:tc>
                <a:tc>
                  <a:txBody>
                    <a:bodyPr/>
                    <a:lstStyle/>
                    <a:p>
                      <a:pPr algn="ctr" fontAlgn="ctr"/>
                      <a:r>
                        <a:rPr lang="es-ES" sz="1200">
                          <a:effectLst/>
                          <a:latin typeface="Arial" panose="020B0604020202020204" pitchFamily="34" charset="0"/>
                          <a:cs typeface="Arial" panose="020B0604020202020204" pitchFamily="34" charset="0"/>
                        </a:rPr>
                        <a:t>142</a:t>
                      </a:r>
                      <a:endParaRPr lang="es-AR" sz="1200">
                        <a:effectLst/>
                        <a:latin typeface="Arial" panose="020B0604020202020204" pitchFamily="34" charset="0"/>
                        <a:cs typeface="Arial" panose="020B0604020202020204" pitchFamily="34" charset="0"/>
                      </a:endParaRPr>
                    </a:p>
                  </a:txBody>
                  <a:tcPr marL="30480" marR="30480" marT="30480" marB="30480" anchor="ctr"/>
                </a:tc>
                <a:tc>
                  <a:txBody>
                    <a:bodyPr/>
                    <a:lstStyle/>
                    <a:p>
                      <a:pPr algn="ctr" fontAlgn="ctr"/>
                      <a:r>
                        <a:rPr lang="es-AR" sz="1200">
                          <a:effectLst/>
                          <a:latin typeface="Arial" panose="020B0604020202020204" pitchFamily="34" charset="0"/>
                          <a:cs typeface="Arial" panose="020B0604020202020204" pitchFamily="34" charset="0"/>
                        </a:rPr>
                        <a:t>62</a:t>
                      </a:r>
                    </a:p>
                  </a:txBody>
                  <a:tcPr marL="30480" marR="30480" marT="30480" marB="30480" anchor="ctr"/>
                </a:tc>
                <a:tc>
                  <a:txBody>
                    <a:bodyPr/>
                    <a:lstStyle/>
                    <a:p>
                      <a:pPr algn="ctr" fontAlgn="ctr"/>
                      <a:r>
                        <a:rPr lang="es-ES" sz="1200">
                          <a:effectLst/>
                          <a:latin typeface="Arial" panose="020B0604020202020204" pitchFamily="34" charset="0"/>
                          <a:cs typeface="Arial" panose="020B0604020202020204" pitchFamily="34" charset="0"/>
                        </a:rPr>
                        <a:t>b</a:t>
                      </a:r>
                      <a:endParaRPr lang="es-AR" sz="1200">
                        <a:effectLst/>
                        <a:latin typeface="Arial" panose="020B0604020202020204" pitchFamily="34" charset="0"/>
                        <a:cs typeface="Arial" panose="020B0604020202020204" pitchFamily="34" charset="0"/>
                      </a:endParaRPr>
                    </a:p>
                  </a:txBody>
                  <a:tcPr marL="30480" marR="30480" marT="30480" marB="30480" anchor="ctr"/>
                </a:tc>
                <a:extLst>
                  <a:ext uri="{0D108BD9-81ED-4DB2-BD59-A6C34878D82A}">
                    <a16:rowId xmlns:a16="http://schemas.microsoft.com/office/drawing/2014/main" val="10001"/>
                  </a:ext>
                </a:extLst>
              </a:tr>
            </a:tbl>
          </a:graphicData>
        </a:graphic>
      </p:graphicFrame>
      <p:sp>
        <p:nvSpPr>
          <p:cNvPr id="6" name="Marcador de contenido 2">
            <a:extLst>
              <a:ext uri="{FF2B5EF4-FFF2-40B4-BE49-F238E27FC236}">
                <a16:creationId xmlns:a16="http://schemas.microsoft.com/office/drawing/2014/main" id="{092606A6-B61E-F37A-B408-8B7AFF3DA090}"/>
              </a:ext>
            </a:extLst>
          </p:cNvPr>
          <p:cNvSpPr txBox="1">
            <a:spLocks/>
          </p:cNvSpPr>
          <p:nvPr/>
        </p:nvSpPr>
        <p:spPr>
          <a:xfrm>
            <a:off x="1555205" y="3212830"/>
            <a:ext cx="9773193" cy="198948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AR">
                <a:solidFill>
                  <a:schemeClr val="tx1"/>
                </a:solidFill>
                <a:latin typeface="+mj-lt"/>
              </a:rPr>
              <a:t>Medidas de Ancho de Banda o capacidad de transmisión :  </a:t>
            </a:r>
          </a:p>
          <a:p>
            <a:pPr marL="457200" lvl="1" indent="0">
              <a:buNone/>
            </a:pPr>
            <a:r>
              <a:rPr lang="es-AR" sz="1400" b="1">
                <a:solidFill>
                  <a:schemeClr val="tx1"/>
                </a:solidFill>
                <a:latin typeface="+mj-lt"/>
              </a:rPr>
              <a:t>1 bits por segundo  </a:t>
            </a:r>
            <a:r>
              <a:rPr lang="es-AR" sz="1400">
                <a:solidFill>
                  <a:schemeClr val="tx1"/>
                </a:solidFill>
                <a:latin typeface="+mj-lt"/>
              </a:rPr>
              <a:t>(</a:t>
            </a:r>
            <a:r>
              <a:rPr lang="es-AR" sz="1400" b="1">
                <a:solidFill>
                  <a:schemeClr val="tx1"/>
                </a:solidFill>
                <a:latin typeface="+mj-lt"/>
              </a:rPr>
              <a:t>bps</a:t>
            </a:r>
            <a:r>
              <a:rPr lang="es-AR" sz="1400">
                <a:solidFill>
                  <a:schemeClr val="tx1"/>
                </a:solidFill>
                <a:latin typeface="+mj-lt"/>
              </a:rPr>
              <a:t>)  es la unidad mínima de información ( 0 y 1 )</a:t>
            </a:r>
          </a:p>
          <a:p>
            <a:pPr marL="457200" lvl="1" indent="0">
              <a:buFont typeface="Wingdings 3" charset="2"/>
              <a:buNone/>
            </a:pPr>
            <a:r>
              <a:rPr lang="es-ES" sz="1400">
                <a:solidFill>
                  <a:schemeClr val="tx1"/>
                </a:solidFill>
                <a:latin typeface="+mj-lt"/>
              </a:rPr>
              <a:t>Cuando los datos se transmiten a través de una red, (ethernet, </a:t>
            </a:r>
            <a:r>
              <a:rPr lang="es-ES" sz="1400" err="1">
                <a:solidFill>
                  <a:schemeClr val="tx1"/>
                </a:solidFill>
                <a:latin typeface="+mj-lt"/>
              </a:rPr>
              <a:t>WiFi</a:t>
            </a:r>
            <a:r>
              <a:rPr lang="es-ES" sz="1400">
                <a:solidFill>
                  <a:schemeClr val="tx1"/>
                </a:solidFill>
                <a:latin typeface="+mj-lt"/>
              </a:rPr>
              <a:t>, Fibra </a:t>
            </a:r>
            <a:r>
              <a:rPr lang="es-ES" sz="1400" err="1">
                <a:solidFill>
                  <a:schemeClr val="tx1"/>
                </a:solidFill>
                <a:latin typeface="+mj-lt"/>
              </a:rPr>
              <a:t>Optica</a:t>
            </a:r>
            <a:r>
              <a:rPr lang="es-ES" sz="1400">
                <a:solidFill>
                  <a:schemeClr val="tx1"/>
                </a:solidFill>
                <a:latin typeface="+mj-lt"/>
              </a:rPr>
              <a:t>), se suelen expresar en </a:t>
            </a:r>
            <a:r>
              <a:rPr lang="es-ES" sz="1400" b="1">
                <a:solidFill>
                  <a:schemeClr val="tx1"/>
                </a:solidFill>
                <a:latin typeface="+mj-lt"/>
              </a:rPr>
              <a:t>bits por segundo (bps)</a:t>
            </a:r>
            <a:r>
              <a:rPr lang="es-ES" sz="1400">
                <a:solidFill>
                  <a:schemeClr val="tx1"/>
                </a:solidFill>
                <a:latin typeface="+mj-lt"/>
              </a:rPr>
              <a:t>, kilobits por segundo (kbps), megabits por segundo (Mbps) o gigabits por segundo (Gbps)</a:t>
            </a:r>
          </a:p>
          <a:p>
            <a:pPr marL="457200" lvl="1" indent="0">
              <a:buNone/>
            </a:pPr>
            <a:r>
              <a:rPr lang="es-AR" sz="1400" b="1">
                <a:solidFill>
                  <a:schemeClr val="tx1"/>
                </a:solidFill>
                <a:latin typeface="+mj-lt"/>
              </a:rPr>
              <a:t>Dado que la transmisión de datos se hace bit a bit, la </a:t>
            </a:r>
            <a:endParaRPr lang="es-ES" sz="1400">
              <a:solidFill>
                <a:schemeClr val="tx1"/>
              </a:solidFill>
              <a:latin typeface="+mj-lt"/>
            </a:endParaRPr>
          </a:p>
          <a:p>
            <a:pPr marL="457200" lvl="1" indent="0">
              <a:buFont typeface="Wingdings 3" charset="2"/>
              <a:buNone/>
            </a:pPr>
            <a:endParaRPr lang="es-AR" sz="1400">
              <a:solidFill>
                <a:schemeClr val="tx1"/>
              </a:solidFill>
              <a:latin typeface="+mj-lt"/>
            </a:endParaRPr>
          </a:p>
        </p:txBody>
      </p:sp>
      <p:sp>
        <p:nvSpPr>
          <p:cNvPr id="7" name="Marcador de contenido 2">
            <a:extLst>
              <a:ext uri="{FF2B5EF4-FFF2-40B4-BE49-F238E27FC236}">
                <a16:creationId xmlns:a16="http://schemas.microsoft.com/office/drawing/2014/main" id="{392D8549-A6F3-AB62-98CA-4B607ED7B030}"/>
              </a:ext>
            </a:extLst>
          </p:cNvPr>
          <p:cNvSpPr txBox="1">
            <a:spLocks/>
          </p:cNvSpPr>
          <p:nvPr/>
        </p:nvSpPr>
        <p:spPr>
          <a:xfrm>
            <a:off x="1555205" y="5259095"/>
            <a:ext cx="9773193" cy="1394260"/>
          </a:xfrm>
          <a:prstGeom prst="rect">
            <a:avLst/>
          </a:prstGeom>
        </p:spPr>
        <p:txBody>
          <a:bodyPr vert="horz" lIns="91440" tIns="0" rIns="91440" bIns="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457200" lvl="1" indent="0">
              <a:buNone/>
            </a:pPr>
            <a:r>
              <a:rPr lang="es-ES" sz="1400" b="1">
                <a:solidFill>
                  <a:schemeClr val="tx1"/>
                </a:solidFill>
                <a:latin typeface="+mj-lt"/>
              </a:rPr>
              <a:t>Relación entre </a:t>
            </a:r>
            <a:r>
              <a:rPr lang="es-ES" sz="1400" b="1" err="1">
                <a:solidFill>
                  <a:schemeClr val="tx1"/>
                </a:solidFill>
                <a:latin typeface="+mj-lt"/>
              </a:rPr>
              <a:t>KBytes</a:t>
            </a:r>
            <a:r>
              <a:rPr lang="es-ES" sz="1400" b="1">
                <a:solidFill>
                  <a:schemeClr val="tx1"/>
                </a:solidFill>
                <a:latin typeface="+mj-lt"/>
              </a:rPr>
              <a:t> y kbps</a:t>
            </a:r>
            <a:r>
              <a:rPr lang="es-ES" sz="1400">
                <a:solidFill>
                  <a:schemeClr val="tx1"/>
                </a:solidFill>
                <a:latin typeface="+mj-lt"/>
              </a:rPr>
              <a:t>: </a:t>
            </a:r>
          </a:p>
          <a:p>
            <a:pPr marL="457200" lvl="1" indent="0">
              <a:buNone/>
            </a:pPr>
            <a:r>
              <a:rPr lang="es-ES" sz="1400">
                <a:solidFill>
                  <a:schemeClr val="tx1"/>
                </a:solidFill>
                <a:latin typeface="+mj-lt"/>
              </a:rPr>
              <a:t>Un archivo que pesa 1KB 		 (</a:t>
            </a:r>
            <a:r>
              <a:rPr lang="es-ES" sz="1400">
                <a:solidFill>
                  <a:srgbClr val="000000"/>
                </a:solidFill>
                <a:latin typeface="Calibri" panose="020F0502020204030204" pitchFamily="34" charset="0"/>
              </a:rPr>
              <a:t>Recordar 1byte = 8bit </a:t>
            </a:r>
            <a:r>
              <a:rPr lang="es-ES" sz="1400">
                <a:solidFill>
                  <a:schemeClr val="tx1"/>
                </a:solidFill>
                <a:latin typeface="+mj-lt"/>
              </a:rPr>
              <a:t>;   </a:t>
            </a:r>
            <a:r>
              <a:rPr lang="en-US" altLang="zh-CN" sz="1400" b="0" i="0" u="none" strike="noStrike" kern="1200">
                <a:solidFill>
                  <a:srgbClr val="000000"/>
                </a:solidFill>
                <a:effectLst/>
                <a:latin typeface="Calibri" panose="020F0502020204030204" pitchFamily="34" charset="0"/>
                <a:ea typeface="+mn-ea"/>
                <a:cs typeface="+mn-cs"/>
              </a:rPr>
              <a:t>1 KB  = </a:t>
            </a:r>
            <a:r>
              <a:rPr lang="en-US" altLang="zh-CN" sz="1400" i="0" u="none" strike="noStrike" kern="1200">
                <a:solidFill>
                  <a:srgbClr val="000000"/>
                </a:solidFill>
                <a:effectLst/>
                <a:latin typeface="Calibri" panose="020F0502020204030204" pitchFamily="34" charset="0"/>
                <a:ea typeface="+mn-ea"/>
                <a:cs typeface="+mn-cs"/>
              </a:rPr>
              <a:t>2</a:t>
            </a:r>
            <a:r>
              <a:rPr lang="en-US" altLang="zh-CN" sz="1400" b="0" i="0" u="none" strike="noStrike" kern="1200" baseline="50000">
                <a:solidFill>
                  <a:srgbClr val="000000"/>
                </a:solidFill>
                <a:effectLst/>
                <a:latin typeface="Calibri" panose="020F0502020204030204" pitchFamily="34" charset="0"/>
                <a:ea typeface="+mn-ea"/>
                <a:cs typeface="+mn-cs"/>
              </a:rPr>
              <a:t>10</a:t>
            </a:r>
            <a:r>
              <a:rPr lang="en-US" altLang="zh-CN" sz="1800" b="0" i="0" u="none" strike="noStrike" kern="1200">
                <a:solidFill>
                  <a:srgbClr val="000000"/>
                </a:solidFill>
                <a:effectLst/>
                <a:latin typeface="Calibri" panose="020F0502020204030204" pitchFamily="34" charset="0"/>
                <a:ea typeface="+mn-ea"/>
                <a:cs typeface="+mn-cs"/>
              </a:rPr>
              <a:t> </a:t>
            </a:r>
            <a:r>
              <a:rPr lang="en-US" altLang="zh-CN" sz="1400" b="0" i="0" u="none" strike="noStrike" kern="1200">
                <a:solidFill>
                  <a:srgbClr val="000000"/>
                </a:solidFill>
                <a:effectLst/>
                <a:latin typeface="Calibri" panose="020F0502020204030204" pitchFamily="34" charset="0"/>
                <a:ea typeface="+mn-ea"/>
                <a:cs typeface="+mn-cs"/>
              </a:rPr>
              <a:t> =&gt; 1024 bytes * 8 =&gt; 8192 bit = 8 kilobit</a:t>
            </a:r>
            <a:r>
              <a:rPr lang="es-ES" sz="1400">
                <a:solidFill>
                  <a:schemeClr val="tx1"/>
                </a:solidFill>
                <a:latin typeface="+mj-lt"/>
              </a:rPr>
              <a:t> )</a:t>
            </a:r>
          </a:p>
          <a:p>
            <a:pPr marL="457200" lvl="1" indent="0">
              <a:buNone/>
            </a:pPr>
            <a:r>
              <a:rPr lang="es-ES" sz="1400">
                <a:solidFill>
                  <a:schemeClr val="tx1"/>
                </a:solidFill>
                <a:latin typeface="+mj-lt"/>
              </a:rPr>
              <a:t>Si tenemos </a:t>
            </a:r>
            <a:r>
              <a:rPr lang="es-ES" sz="1400" b="1">
                <a:solidFill>
                  <a:schemeClr val="tx1"/>
                </a:solidFill>
                <a:latin typeface="+mj-lt"/>
              </a:rPr>
              <a:t>1KB</a:t>
            </a:r>
            <a:r>
              <a:rPr lang="es-ES" sz="1400">
                <a:solidFill>
                  <a:schemeClr val="tx1"/>
                </a:solidFill>
                <a:latin typeface="+mj-lt"/>
              </a:rPr>
              <a:t> = 8 kilobits, con una velocidad de transmisión de </a:t>
            </a:r>
            <a:r>
              <a:rPr lang="es-ES" sz="1400" b="1">
                <a:solidFill>
                  <a:schemeClr val="tx1"/>
                </a:solidFill>
                <a:latin typeface="+mj-lt"/>
              </a:rPr>
              <a:t>1kbps </a:t>
            </a:r>
            <a:r>
              <a:rPr lang="es-ES" sz="1400">
                <a:solidFill>
                  <a:schemeClr val="tx1"/>
                </a:solidFill>
                <a:latin typeface="+mj-lt"/>
              </a:rPr>
              <a:t>(1000bit/</a:t>
            </a:r>
            <a:r>
              <a:rPr lang="es-ES" sz="1400" err="1">
                <a:solidFill>
                  <a:schemeClr val="tx1"/>
                </a:solidFill>
                <a:latin typeface="+mj-lt"/>
              </a:rPr>
              <a:t>seg</a:t>
            </a:r>
            <a:r>
              <a:rPr lang="es-ES" sz="1400">
                <a:solidFill>
                  <a:schemeClr val="tx1"/>
                </a:solidFill>
                <a:latin typeface="+mj-lt"/>
              </a:rPr>
              <a:t>), </a:t>
            </a:r>
          </a:p>
          <a:p>
            <a:pPr marL="457200" lvl="1" indent="0">
              <a:buNone/>
            </a:pPr>
            <a:r>
              <a:rPr lang="es-ES" sz="1400">
                <a:solidFill>
                  <a:schemeClr val="tx1"/>
                </a:solidFill>
                <a:latin typeface="+mj-lt"/>
              </a:rPr>
              <a:t>Necesitamos 8 kilobits / 1kilobit per segundo = 8 segundos para transportarlo.</a:t>
            </a:r>
          </a:p>
        </p:txBody>
      </p:sp>
    </p:spTree>
    <p:extLst>
      <p:ext uri="{BB962C8B-B14F-4D97-AF65-F5344CB8AC3E}">
        <p14:creationId xmlns:p14="http://schemas.microsoft.com/office/powerpoint/2010/main" val="376403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a:t>Conceptos Iniciales	</a:t>
            </a:r>
          </a:p>
        </p:txBody>
      </p:sp>
      <p:sp>
        <p:nvSpPr>
          <p:cNvPr id="14" name="Marcador de contenido 2"/>
          <p:cNvSpPr>
            <a:spLocks noGrp="1"/>
          </p:cNvSpPr>
          <p:nvPr>
            <p:ph idx="1"/>
          </p:nvPr>
        </p:nvSpPr>
        <p:spPr>
          <a:xfrm>
            <a:off x="1555206" y="869047"/>
            <a:ext cx="6875597" cy="3763913"/>
          </a:xfrm>
        </p:spPr>
        <p:txBody>
          <a:bodyPr>
            <a:normAutofit/>
          </a:bodyPr>
          <a:lstStyle/>
          <a:p>
            <a:r>
              <a:rPr lang="es-AR" sz="1800" b="0" i="0" u="none" strike="noStrike" baseline="0">
                <a:solidFill>
                  <a:schemeClr val="tx1"/>
                </a:solidFill>
                <a:latin typeface="HelveticaLTStd-Roman"/>
              </a:rPr>
              <a:t>UNIDADES MÉTRICAS</a:t>
            </a:r>
            <a:r>
              <a:rPr lang="es-AR" sz="1600" b="1"/>
              <a:t> ::</a:t>
            </a: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a 4">
            <a:extLst>
              <a:ext uri="{FF2B5EF4-FFF2-40B4-BE49-F238E27FC236}">
                <a16:creationId xmlns:a16="http://schemas.microsoft.com/office/drawing/2014/main" id="{8BCE1094-85A0-B92C-6E91-7BBAEC0C446A}"/>
              </a:ext>
            </a:extLst>
          </p:cNvPr>
          <p:cNvGraphicFramePr>
            <a:graphicFrameLocks noGrp="1"/>
          </p:cNvGraphicFramePr>
          <p:nvPr>
            <p:extLst>
              <p:ext uri="{D42A27DB-BD31-4B8C-83A1-F6EECF244321}">
                <p14:modId xmlns:p14="http://schemas.microsoft.com/office/powerpoint/2010/main" val="3015527159"/>
              </p:ext>
            </p:extLst>
          </p:nvPr>
        </p:nvGraphicFramePr>
        <p:xfrm>
          <a:off x="3091024" y="1355773"/>
          <a:ext cx="7842447" cy="2249087"/>
        </p:xfrm>
        <a:graphic>
          <a:graphicData uri="http://schemas.openxmlformats.org/drawingml/2006/table">
            <a:tbl>
              <a:tblPr>
                <a:tableStyleId>{5C22544A-7EE6-4342-B048-85BDC9FD1C3A}</a:tableStyleId>
              </a:tblPr>
              <a:tblGrid>
                <a:gridCol w="3853617">
                  <a:extLst>
                    <a:ext uri="{9D8B030D-6E8A-4147-A177-3AD203B41FA5}">
                      <a16:colId xmlns:a16="http://schemas.microsoft.com/office/drawing/2014/main" val="20000"/>
                    </a:ext>
                  </a:extLst>
                </a:gridCol>
                <a:gridCol w="3988830">
                  <a:extLst>
                    <a:ext uri="{9D8B030D-6E8A-4147-A177-3AD203B41FA5}">
                      <a16:colId xmlns:a16="http://schemas.microsoft.com/office/drawing/2014/main" val="20001"/>
                    </a:ext>
                  </a:extLst>
                </a:gridCol>
              </a:tblGrid>
              <a:tr h="213314">
                <a:tc>
                  <a:txBody>
                    <a:bodyPr/>
                    <a:lstStyle/>
                    <a:p>
                      <a:pPr algn="ctr" fontAlgn="b"/>
                      <a:r>
                        <a:rPr lang="es-AR" sz="1400" b="0" i="0" u="none" strike="noStrike">
                          <a:solidFill>
                            <a:srgbClr val="000000"/>
                          </a:solidFill>
                          <a:effectLst/>
                          <a:latin typeface="Calibri" panose="020F0502020204030204" pitchFamily="34" charset="0"/>
                        </a:rPr>
                        <a:t>Medidas de Almacenamiento</a:t>
                      </a:r>
                    </a:p>
                  </a:txBody>
                  <a:tcPr marL="9525" marR="9525" marT="9525" marB="0" anchor="ctr">
                    <a:solidFill>
                      <a:schemeClr val="accent1">
                        <a:lumMod val="40000"/>
                        <a:lumOff val="60000"/>
                      </a:schemeClr>
                    </a:solidFill>
                  </a:tcPr>
                </a:tc>
                <a:tc>
                  <a:txBody>
                    <a:bodyPr/>
                    <a:lstStyle/>
                    <a:p>
                      <a:pPr algn="ctr" fontAlgn="b"/>
                      <a:r>
                        <a:rPr lang="es-ES" sz="1400" b="0" i="0" u="none" strike="noStrike">
                          <a:solidFill>
                            <a:srgbClr val="000000"/>
                          </a:solidFill>
                          <a:effectLst/>
                          <a:latin typeface="Calibri" panose="020F0502020204030204" pitchFamily="34" charset="0"/>
                        </a:rPr>
                        <a:t>Medidas</a:t>
                      </a:r>
                      <a:r>
                        <a:rPr lang="es-AR" sz="1400" b="0" i="0" u="none" strike="noStrike">
                          <a:solidFill>
                            <a:srgbClr val="000000"/>
                          </a:solidFill>
                          <a:effectLst/>
                          <a:latin typeface="Calibri" panose="020F0502020204030204" pitchFamily="34" charset="0"/>
                        </a:rPr>
                        <a:t> de Comunicaciones</a:t>
                      </a:r>
                    </a:p>
                  </a:txBody>
                  <a:tcPr marL="9525" marR="9525" marT="9525" marB="0" anchor="ctr">
                    <a:solidFill>
                      <a:schemeClr val="accent1">
                        <a:lumMod val="40000"/>
                        <a:lumOff val="60000"/>
                      </a:schemeClr>
                    </a:solidFill>
                  </a:tcPr>
                </a:tc>
                <a:extLst>
                  <a:ext uri="{0D108BD9-81ED-4DB2-BD59-A6C34878D82A}">
                    <a16:rowId xmlns:a16="http://schemas.microsoft.com/office/drawing/2014/main" val="10000"/>
                  </a:ext>
                </a:extLst>
              </a:tr>
              <a:tr h="2026202">
                <a:tc>
                  <a:txBody>
                    <a:bodyPr/>
                    <a:lstStyle/>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endParaRPr lang="en-US" altLang="zh-CN" sz="1100" b="0" i="0" u="none" strike="noStrike" kern="1200">
                        <a:solidFill>
                          <a:srgbClr val="000000"/>
                        </a:solidFill>
                        <a:effectLst/>
                        <a:latin typeface="Calibri" panose="020F0502020204030204" pitchFamily="34" charset="0"/>
                        <a:ea typeface="+mn-ea"/>
                        <a:cs typeface="+mn-cs"/>
                      </a:endParaRPr>
                    </a:p>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r>
                        <a:rPr lang="en-US" altLang="zh-CN" sz="1400" b="0" i="0" u="none" strike="noStrike" kern="1200">
                          <a:solidFill>
                            <a:srgbClr val="000000"/>
                          </a:solidFill>
                          <a:effectLst/>
                          <a:latin typeface="Calibri" panose="020F0502020204030204" pitchFamily="34" charset="0"/>
                          <a:ea typeface="+mn-ea"/>
                          <a:cs typeface="+mn-cs"/>
                        </a:rPr>
                        <a:t> 8 bit =  1 Byte</a:t>
                      </a:r>
                    </a:p>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r>
                        <a:rPr lang="en-US" altLang="zh-CN" sz="1400" b="0" i="0" u="none" strike="noStrike" kern="1200">
                          <a:solidFill>
                            <a:srgbClr val="000000"/>
                          </a:solidFill>
                          <a:effectLst/>
                          <a:latin typeface="Calibri" panose="020F0502020204030204" pitchFamily="34" charset="0"/>
                          <a:ea typeface="+mn-ea"/>
                          <a:cs typeface="+mn-cs"/>
                        </a:rPr>
                        <a:t> 1 KB  = </a:t>
                      </a:r>
                      <a:r>
                        <a:rPr lang="en-US" altLang="zh-CN" sz="1800" b="0" i="0" u="none" strike="noStrike" kern="1200">
                          <a:solidFill>
                            <a:srgbClr val="000000"/>
                          </a:solidFill>
                          <a:effectLst/>
                          <a:latin typeface="Calibri" panose="020F0502020204030204" pitchFamily="34" charset="0"/>
                          <a:ea typeface="+mn-ea"/>
                          <a:cs typeface="+mn-cs"/>
                        </a:rPr>
                        <a:t>2</a:t>
                      </a:r>
                      <a:r>
                        <a:rPr lang="en-US" altLang="zh-CN" sz="1800" b="0" i="0" u="none" strike="noStrike" kern="1200" baseline="50000">
                          <a:solidFill>
                            <a:srgbClr val="000000"/>
                          </a:solidFill>
                          <a:effectLst/>
                          <a:latin typeface="Calibri" panose="020F0502020204030204" pitchFamily="34" charset="0"/>
                          <a:ea typeface="+mn-ea"/>
                          <a:cs typeface="+mn-cs"/>
                        </a:rPr>
                        <a:t>10</a:t>
                      </a:r>
                      <a:r>
                        <a:rPr lang="en-US" altLang="zh-CN" sz="1800" b="0" i="0" u="none" strike="noStrike" kern="1200">
                          <a:solidFill>
                            <a:srgbClr val="000000"/>
                          </a:solidFill>
                          <a:effectLst/>
                          <a:latin typeface="Calibri" panose="020F0502020204030204" pitchFamily="34" charset="0"/>
                          <a:ea typeface="+mn-ea"/>
                          <a:cs typeface="+mn-cs"/>
                        </a:rPr>
                        <a:t> </a:t>
                      </a:r>
                      <a:r>
                        <a:rPr lang="en-US" altLang="zh-CN" sz="1400" b="0" i="0" u="none" strike="noStrike" kern="1200">
                          <a:solidFill>
                            <a:srgbClr val="000000"/>
                          </a:solidFill>
                          <a:effectLst/>
                          <a:latin typeface="Calibri" panose="020F0502020204030204" pitchFamily="34" charset="0"/>
                          <a:ea typeface="+mn-ea"/>
                          <a:cs typeface="+mn-cs"/>
                        </a:rPr>
                        <a:t> = (1024) bytes</a:t>
                      </a:r>
                    </a:p>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r>
                        <a:rPr lang="es-AR" sz="1400" b="0" i="0" u="none" strike="noStrike" kern="1200">
                          <a:solidFill>
                            <a:srgbClr val="000000"/>
                          </a:solidFill>
                          <a:effectLst/>
                          <a:latin typeface="Calibri" panose="020F0502020204030204" pitchFamily="34" charset="0"/>
                          <a:ea typeface="+mn-ea"/>
                          <a:cs typeface="+mn-cs"/>
                        </a:rPr>
                        <a:t> 1 MB = </a:t>
                      </a:r>
                      <a:r>
                        <a:rPr lang="en-US" altLang="zh-CN" sz="1800" b="0" i="0" u="none" strike="noStrike" kern="1200">
                          <a:solidFill>
                            <a:srgbClr val="000000"/>
                          </a:solidFill>
                          <a:effectLst/>
                          <a:latin typeface="Calibri" panose="020F0502020204030204" pitchFamily="34" charset="0"/>
                          <a:ea typeface="+mn-ea"/>
                          <a:cs typeface="+mn-cs"/>
                        </a:rPr>
                        <a:t>2</a:t>
                      </a:r>
                      <a:r>
                        <a:rPr lang="en-US" altLang="zh-CN" sz="1800" b="0" i="0" u="none" strike="noStrike" kern="1200" baseline="50000">
                          <a:solidFill>
                            <a:srgbClr val="000000"/>
                          </a:solidFill>
                          <a:effectLst/>
                          <a:latin typeface="Calibri" panose="020F0502020204030204" pitchFamily="34" charset="0"/>
                          <a:ea typeface="+mn-ea"/>
                          <a:cs typeface="+mn-cs"/>
                        </a:rPr>
                        <a:t>20</a:t>
                      </a:r>
                      <a:r>
                        <a:rPr lang="en-US" altLang="zh-CN" sz="1400" b="0" i="0" u="none" strike="noStrike" kern="1200">
                          <a:solidFill>
                            <a:srgbClr val="000000"/>
                          </a:solidFill>
                          <a:effectLst/>
                          <a:latin typeface="Calibri" panose="020F0502020204030204" pitchFamily="34" charset="0"/>
                          <a:ea typeface="+mn-ea"/>
                          <a:cs typeface="+mn-cs"/>
                        </a:rPr>
                        <a:t>  = </a:t>
                      </a:r>
                      <a:r>
                        <a:rPr lang="es-AR" sz="1400" b="0" i="0" u="none" strike="noStrike" kern="1200">
                          <a:solidFill>
                            <a:srgbClr val="000000"/>
                          </a:solidFill>
                          <a:effectLst/>
                          <a:latin typeface="Calibri" panose="020F0502020204030204" pitchFamily="34" charset="0"/>
                          <a:ea typeface="+mn-ea"/>
                          <a:cs typeface="+mn-cs"/>
                        </a:rPr>
                        <a:t>(1 048 576) bytes</a:t>
                      </a:r>
                    </a:p>
                    <a:p>
                      <a:r>
                        <a:rPr lang="es-AR" sz="1400" b="0" i="0" u="none" strike="noStrike" kern="1200">
                          <a:solidFill>
                            <a:srgbClr val="000000"/>
                          </a:solidFill>
                          <a:effectLst/>
                          <a:latin typeface="Calibri" panose="020F0502020204030204" pitchFamily="34" charset="0"/>
                          <a:ea typeface="+mn-ea"/>
                          <a:cs typeface="+mn-cs"/>
                        </a:rPr>
                        <a:t> 1 GB  = </a:t>
                      </a:r>
                      <a:r>
                        <a:rPr lang="en-US" altLang="zh-CN" sz="1800" b="0" i="0" u="none" strike="noStrike" kern="1200">
                          <a:solidFill>
                            <a:srgbClr val="000000"/>
                          </a:solidFill>
                          <a:effectLst/>
                          <a:latin typeface="Calibri" panose="020F0502020204030204" pitchFamily="34" charset="0"/>
                          <a:ea typeface="+mn-ea"/>
                          <a:cs typeface="+mn-cs"/>
                        </a:rPr>
                        <a:t>2</a:t>
                      </a:r>
                      <a:r>
                        <a:rPr lang="en-US" altLang="zh-CN" sz="1800" b="0" i="0" u="none" strike="noStrike" kern="1200" baseline="50000">
                          <a:solidFill>
                            <a:srgbClr val="000000"/>
                          </a:solidFill>
                          <a:effectLst/>
                          <a:latin typeface="Calibri" panose="020F0502020204030204" pitchFamily="34" charset="0"/>
                          <a:ea typeface="+mn-ea"/>
                          <a:cs typeface="+mn-cs"/>
                        </a:rPr>
                        <a:t>30</a:t>
                      </a:r>
                      <a:r>
                        <a:rPr lang="en-US" altLang="zh-CN" sz="1400" b="0" i="0" u="none" strike="noStrike" kern="1200">
                          <a:solidFill>
                            <a:srgbClr val="000000"/>
                          </a:solidFill>
                          <a:effectLst/>
                          <a:latin typeface="Calibri" panose="020F0502020204030204" pitchFamily="34" charset="0"/>
                          <a:ea typeface="+mn-ea"/>
                          <a:cs typeface="+mn-cs"/>
                        </a:rPr>
                        <a:t>  = </a:t>
                      </a:r>
                      <a:r>
                        <a:rPr lang="es-AR" altLang="zh-CN" sz="1400" b="0" i="0" u="none" strike="noStrike" kern="1200">
                          <a:solidFill>
                            <a:srgbClr val="000000"/>
                          </a:solidFill>
                          <a:effectLst/>
                          <a:latin typeface="Calibri" panose="020F0502020204030204" pitchFamily="34" charset="0"/>
                          <a:ea typeface="+mn-ea"/>
                          <a:cs typeface="+mn-cs"/>
                        </a:rPr>
                        <a:t>(</a:t>
                      </a:r>
                      <a:r>
                        <a:rPr lang="es-AR" sz="1400" b="0" i="0" u="none" strike="noStrike" kern="1200">
                          <a:solidFill>
                            <a:srgbClr val="000000"/>
                          </a:solidFill>
                          <a:effectLst/>
                          <a:latin typeface="Calibri" panose="020F0502020204030204" pitchFamily="34" charset="0"/>
                          <a:ea typeface="+mn-ea"/>
                          <a:cs typeface="+mn-cs"/>
                        </a:rPr>
                        <a:t>1 073 741 824) bytes</a:t>
                      </a:r>
                    </a:p>
                    <a:p>
                      <a:pPr marL="0" marR="0" lvl="0" indent="0" algn="l" defTabSz="457200" rtl="0" eaLnBrk="1" fontAlgn="auto" latinLnBrk="0" hangingPunct="1">
                        <a:lnSpc>
                          <a:spcPct val="100000"/>
                        </a:lnSpc>
                        <a:spcBef>
                          <a:spcPts val="0"/>
                        </a:spcBef>
                        <a:spcAft>
                          <a:spcPts val="0"/>
                        </a:spcAft>
                        <a:buClrTx/>
                        <a:buSzTx/>
                        <a:buFontTx/>
                        <a:buNone/>
                        <a:tabLst/>
                        <a:defRPr/>
                      </a:pPr>
                      <a:r>
                        <a:rPr lang="es-AR" sz="1400" b="0" i="0" u="none" strike="noStrike" kern="1200">
                          <a:solidFill>
                            <a:srgbClr val="000000"/>
                          </a:solidFill>
                          <a:effectLst/>
                          <a:latin typeface="Calibri" panose="020F0502020204030204" pitchFamily="34" charset="0"/>
                          <a:ea typeface="+mn-ea"/>
                          <a:cs typeface="+mn-cs"/>
                        </a:rPr>
                        <a:t> 1 TB  = </a:t>
                      </a:r>
                      <a:r>
                        <a:rPr lang="en-US" altLang="zh-CN" sz="1800" b="0" i="0" u="none" strike="noStrike" kern="1200">
                          <a:solidFill>
                            <a:srgbClr val="000000"/>
                          </a:solidFill>
                          <a:effectLst/>
                          <a:latin typeface="Calibri" panose="020F0502020204030204" pitchFamily="34" charset="0"/>
                          <a:ea typeface="+mn-ea"/>
                          <a:cs typeface="+mn-cs"/>
                        </a:rPr>
                        <a:t>2</a:t>
                      </a:r>
                      <a:r>
                        <a:rPr lang="en-US" altLang="zh-CN" sz="1800" b="0" i="0" u="none" strike="noStrike" kern="1200" baseline="50000">
                          <a:solidFill>
                            <a:srgbClr val="000000"/>
                          </a:solidFill>
                          <a:effectLst/>
                          <a:latin typeface="Calibri" panose="020F0502020204030204" pitchFamily="34" charset="0"/>
                          <a:ea typeface="+mn-ea"/>
                          <a:cs typeface="+mn-cs"/>
                        </a:rPr>
                        <a:t>40</a:t>
                      </a:r>
                      <a:r>
                        <a:rPr lang="en-US" altLang="zh-CN" sz="1400" b="0" i="0" u="none" strike="noStrike" kern="1200">
                          <a:solidFill>
                            <a:srgbClr val="000000"/>
                          </a:solidFill>
                          <a:effectLst/>
                          <a:latin typeface="Calibri" panose="020F0502020204030204" pitchFamily="34" charset="0"/>
                          <a:ea typeface="+mn-ea"/>
                          <a:cs typeface="+mn-cs"/>
                        </a:rPr>
                        <a:t>  = (</a:t>
                      </a:r>
                      <a:r>
                        <a:rPr lang="es-AR" sz="1400" b="0" i="0" u="none" strike="noStrike" kern="1200">
                          <a:solidFill>
                            <a:srgbClr val="000000"/>
                          </a:solidFill>
                          <a:effectLst/>
                          <a:latin typeface="Calibri" panose="020F0502020204030204" pitchFamily="34" charset="0"/>
                          <a:ea typeface="+mn-ea"/>
                          <a:cs typeface="+mn-cs"/>
                        </a:rPr>
                        <a:t>1 099 511 627 776) bytes</a:t>
                      </a:r>
                    </a:p>
                    <a:p>
                      <a:endParaRPr lang="es-AR" sz="1400" b="0" i="0" u="none" strike="noStrike" kern="1200">
                        <a:solidFill>
                          <a:srgbClr val="000000"/>
                        </a:solidFill>
                        <a:effectLst/>
                        <a:latin typeface="Calibri" panose="020F0502020204030204" pitchFamily="34" charset="0"/>
                        <a:ea typeface="+mn-ea"/>
                        <a:cs typeface="+mn-cs"/>
                      </a:endParaRPr>
                    </a:p>
                  </a:txBody>
                  <a:tcPr marL="9525" marR="9525" marT="9525" marB="0"/>
                </a:tc>
                <a:tc>
                  <a:txBody>
                    <a:bodyPr/>
                    <a:lstStyle/>
                    <a:p>
                      <a:pPr algn="l" fontAlgn="b"/>
                      <a:endParaRPr lang="es-AR" sz="1100" b="0" i="0" u="none" strike="noStrike">
                        <a:solidFill>
                          <a:srgbClr val="000000"/>
                        </a:solidFill>
                        <a:effectLst/>
                        <a:latin typeface="Calibri" panose="020F0502020204030204" pitchFamily="34" charset="0"/>
                      </a:endParaRPr>
                    </a:p>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r>
                        <a:rPr lang="es-AR" sz="1400" b="0" i="0" u="none" strike="noStrike" kern="1200">
                          <a:solidFill>
                            <a:srgbClr val="000000"/>
                          </a:solidFill>
                          <a:effectLst/>
                          <a:latin typeface="Calibri" panose="020F0502020204030204" pitchFamily="34" charset="0"/>
                          <a:ea typeface="+mn-ea"/>
                          <a:cs typeface="+mn-cs"/>
                        </a:rPr>
                        <a:t>     bit / segundo</a:t>
                      </a:r>
                    </a:p>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r>
                        <a:rPr lang="es-AR" sz="1400" b="0" i="0" u="none" strike="noStrike" kern="1200">
                          <a:solidFill>
                            <a:srgbClr val="000000"/>
                          </a:solidFill>
                          <a:effectLst/>
                          <a:latin typeface="Calibri" panose="020F0502020204030204" pitchFamily="34" charset="0"/>
                          <a:ea typeface="+mn-ea"/>
                          <a:cs typeface="+mn-cs"/>
                        </a:rPr>
                        <a:t>  1 kbps  = </a:t>
                      </a:r>
                      <a:r>
                        <a:rPr lang="en-US" sz="1800" b="0" i="0" u="none" strike="noStrike" kern="1200">
                          <a:solidFill>
                            <a:srgbClr val="000000"/>
                          </a:solidFill>
                          <a:effectLst/>
                          <a:latin typeface="Calibri" panose="020F0502020204030204" pitchFamily="34" charset="0"/>
                          <a:ea typeface="+mn-ea"/>
                          <a:cs typeface="+mn-cs"/>
                        </a:rPr>
                        <a:t>10</a:t>
                      </a:r>
                      <a:r>
                        <a:rPr lang="en-US" sz="1800" b="0" i="0" u="none" strike="noStrike" kern="1200" baseline="50000">
                          <a:solidFill>
                            <a:srgbClr val="000000"/>
                          </a:solidFill>
                          <a:effectLst/>
                          <a:latin typeface="Calibri" panose="020F0502020204030204" pitchFamily="34" charset="0"/>
                          <a:ea typeface="+mn-ea"/>
                          <a:cs typeface="+mn-cs"/>
                        </a:rPr>
                        <a:t>3</a:t>
                      </a:r>
                      <a:r>
                        <a:rPr lang="en-US" altLang="zh-CN" sz="1400" b="0" i="0" u="none" strike="noStrike" kern="1200">
                          <a:solidFill>
                            <a:srgbClr val="000000"/>
                          </a:solidFill>
                          <a:effectLst/>
                          <a:latin typeface="Calibri" panose="020F0502020204030204" pitchFamily="34" charset="0"/>
                          <a:ea typeface="+mn-ea"/>
                          <a:cs typeface="+mn-cs"/>
                        </a:rPr>
                        <a:t>   = </a:t>
                      </a:r>
                      <a:r>
                        <a:rPr lang="es-AR" sz="1400" b="0" i="0" u="none" strike="noStrike" kern="1200">
                          <a:solidFill>
                            <a:srgbClr val="000000"/>
                          </a:solidFill>
                          <a:effectLst/>
                          <a:latin typeface="Calibri" panose="020F0502020204030204" pitchFamily="34" charset="0"/>
                          <a:ea typeface="+mn-ea"/>
                          <a:cs typeface="+mn-cs"/>
                        </a:rPr>
                        <a:t>(</a:t>
                      </a:r>
                      <a:r>
                        <a:rPr lang="pt-BR" sz="1400" b="0" i="0" u="none" strike="noStrike" kern="1200">
                          <a:solidFill>
                            <a:srgbClr val="000000"/>
                          </a:solidFill>
                          <a:effectLst/>
                          <a:latin typeface="Calibri" panose="020F0502020204030204" pitchFamily="34" charset="0"/>
                          <a:ea typeface="+mn-ea"/>
                          <a:cs typeface="+mn-cs"/>
                        </a:rPr>
                        <a:t>1 000 bits/segundo</a:t>
                      </a:r>
                      <a:r>
                        <a:rPr lang="es-AR" sz="1400" b="0" i="0" u="none" strike="noStrike" kern="1200">
                          <a:solidFill>
                            <a:srgbClr val="000000"/>
                          </a:solidFill>
                          <a:effectLst/>
                          <a:latin typeface="Calibri" panose="020F0502020204030204" pitchFamily="34" charset="0"/>
                          <a:ea typeface="+mn-ea"/>
                          <a:cs typeface="+mn-cs"/>
                        </a:rPr>
                        <a:t>)</a:t>
                      </a:r>
                    </a:p>
                    <a:p>
                      <a:pPr marL="0" marR="0" lvl="0" indent="0" algn="l" defTabSz="814388" rtl="0" eaLnBrk="1" fontAlgn="base" latinLnBrk="0" hangingPunct="1">
                        <a:lnSpc>
                          <a:spcPct val="60000"/>
                        </a:lnSpc>
                        <a:spcBef>
                          <a:spcPct val="50000"/>
                        </a:spcBef>
                        <a:spcAft>
                          <a:spcPct val="0"/>
                        </a:spcAft>
                        <a:buClr>
                          <a:schemeClr val="tx2"/>
                        </a:buClr>
                        <a:buSzPct val="100000"/>
                        <a:buFont typeface="Wingdings" pitchFamily="2" charset="2"/>
                        <a:buNone/>
                        <a:tabLst/>
                      </a:pPr>
                      <a:r>
                        <a:rPr lang="es-AR" sz="1400" b="0" i="0" u="none" strike="noStrike" kern="1200">
                          <a:solidFill>
                            <a:srgbClr val="000000"/>
                          </a:solidFill>
                          <a:effectLst/>
                          <a:latin typeface="Calibri" panose="020F0502020204030204" pitchFamily="34" charset="0"/>
                          <a:ea typeface="+mn-ea"/>
                          <a:cs typeface="+mn-cs"/>
                        </a:rPr>
                        <a:t>  1 Mbps = </a:t>
                      </a:r>
                      <a:r>
                        <a:rPr lang="en-US" sz="1800" b="0" i="0" u="none" strike="noStrike" kern="1200">
                          <a:solidFill>
                            <a:srgbClr val="000000"/>
                          </a:solidFill>
                          <a:effectLst/>
                          <a:latin typeface="Calibri" panose="020F0502020204030204" pitchFamily="34" charset="0"/>
                          <a:ea typeface="+mn-ea"/>
                          <a:cs typeface="+mn-cs"/>
                        </a:rPr>
                        <a:t>10</a:t>
                      </a:r>
                      <a:r>
                        <a:rPr lang="en-US" sz="1800" b="0" i="0" u="none" strike="noStrike" kern="1200" baseline="50000">
                          <a:solidFill>
                            <a:srgbClr val="000000"/>
                          </a:solidFill>
                          <a:effectLst/>
                          <a:latin typeface="Calibri" panose="020F0502020204030204" pitchFamily="34" charset="0"/>
                          <a:ea typeface="+mn-ea"/>
                          <a:cs typeface="+mn-cs"/>
                        </a:rPr>
                        <a:t>6</a:t>
                      </a:r>
                      <a:r>
                        <a:rPr lang="en-US" altLang="zh-CN" sz="1400" b="0" i="0" u="none" strike="noStrike" kern="1200">
                          <a:solidFill>
                            <a:srgbClr val="000000"/>
                          </a:solidFill>
                          <a:effectLst/>
                          <a:latin typeface="Calibri" panose="020F0502020204030204" pitchFamily="34" charset="0"/>
                          <a:ea typeface="+mn-ea"/>
                          <a:cs typeface="+mn-cs"/>
                        </a:rPr>
                        <a:t>   = </a:t>
                      </a:r>
                      <a:r>
                        <a:rPr lang="es-AR" sz="1400" b="0" i="0" u="none" strike="noStrike" kern="1200">
                          <a:solidFill>
                            <a:srgbClr val="000000"/>
                          </a:solidFill>
                          <a:effectLst/>
                          <a:latin typeface="Calibri" panose="020F0502020204030204" pitchFamily="34" charset="0"/>
                          <a:ea typeface="+mn-ea"/>
                          <a:cs typeface="+mn-cs"/>
                        </a:rPr>
                        <a:t>(</a:t>
                      </a:r>
                      <a:r>
                        <a:rPr lang="pt-BR" sz="1400" b="0" i="0" u="none" strike="noStrike" kern="1200">
                          <a:solidFill>
                            <a:srgbClr val="000000"/>
                          </a:solidFill>
                          <a:effectLst/>
                          <a:latin typeface="Calibri" panose="020F0502020204030204" pitchFamily="34" charset="0"/>
                          <a:ea typeface="+mn-ea"/>
                          <a:cs typeface="+mn-cs"/>
                        </a:rPr>
                        <a:t>1 000 000 bits/segundo</a:t>
                      </a:r>
                      <a:r>
                        <a:rPr lang="es-AR" sz="1400" b="0" i="0" u="none" strike="noStrike" kern="1200">
                          <a:solidFill>
                            <a:srgbClr val="000000"/>
                          </a:solidFill>
                          <a:effectLst/>
                          <a:latin typeface="Calibri" panose="020F05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s-AR" sz="1400" b="0" i="0" u="none" strike="noStrike" kern="1200">
                          <a:solidFill>
                            <a:srgbClr val="000000"/>
                          </a:solidFill>
                          <a:effectLst/>
                          <a:latin typeface="Calibri" panose="020F0502020204030204" pitchFamily="34" charset="0"/>
                          <a:ea typeface="+mn-ea"/>
                          <a:cs typeface="+mn-cs"/>
                        </a:rPr>
                        <a:t>  1 Gbps  = </a:t>
                      </a:r>
                      <a:r>
                        <a:rPr lang="en-US" sz="1800" b="0" i="0" u="none" strike="noStrike" kern="1200">
                          <a:solidFill>
                            <a:srgbClr val="000000"/>
                          </a:solidFill>
                          <a:effectLst/>
                          <a:latin typeface="Calibri" panose="020F0502020204030204" pitchFamily="34" charset="0"/>
                          <a:ea typeface="+mn-ea"/>
                          <a:cs typeface="+mn-cs"/>
                        </a:rPr>
                        <a:t>10</a:t>
                      </a:r>
                      <a:r>
                        <a:rPr lang="en-US" sz="1800" b="0" i="0" u="none" strike="noStrike" kern="1200" baseline="50000">
                          <a:solidFill>
                            <a:srgbClr val="000000"/>
                          </a:solidFill>
                          <a:effectLst/>
                          <a:latin typeface="Calibri" panose="020F0502020204030204" pitchFamily="34" charset="0"/>
                          <a:ea typeface="+mn-ea"/>
                          <a:cs typeface="+mn-cs"/>
                        </a:rPr>
                        <a:t>9</a:t>
                      </a:r>
                      <a:r>
                        <a:rPr lang="en-US" altLang="zh-CN" sz="1400" b="0" i="0" u="none" strike="noStrike" kern="1200">
                          <a:solidFill>
                            <a:srgbClr val="000000"/>
                          </a:solidFill>
                          <a:effectLst/>
                          <a:latin typeface="Calibri" panose="020F0502020204030204" pitchFamily="34" charset="0"/>
                          <a:ea typeface="+mn-ea"/>
                          <a:cs typeface="+mn-cs"/>
                        </a:rPr>
                        <a:t>   = </a:t>
                      </a:r>
                      <a:r>
                        <a:rPr lang="es-AR" sz="1400" b="0" i="0" u="none" strike="noStrike" kern="1200">
                          <a:solidFill>
                            <a:srgbClr val="000000"/>
                          </a:solidFill>
                          <a:effectLst/>
                          <a:latin typeface="Calibri" panose="020F0502020204030204" pitchFamily="34" charset="0"/>
                          <a:ea typeface="+mn-ea"/>
                          <a:cs typeface="+mn-cs"/>
                        </a:rPr>
                        <a:t>(</a:t>
                      </a:r>
                      <a:r>
                        <a:rPr lang="pt-BR" sz="1400" b="0" i="0" u="none" strike="noStrike" kern="1200">
                          <a:solidFill>
                            <a:srgbClr val="000000"/>
                          </a:solidFill>
                          <a:effectLst/>
                          <a:latin typeface="Calibri" panose="020F0502020204030204" pitchFamily="34" charset="0"/>
                          <a:ea typeface="+mn-ea"/>
                          <a:cs typeface="+mn-cs"/>
                        </a:rPr>
                        <a:t>1 000 000 000 bits/segundo</a:t>
                      </a:r>
                      <a:r>
                        <a:rPr lang="es-AR" sz="1400" b="0" i="0" u="none" strike="noStrike" kern="1200">
                          <a:solidFill>
                            <a:srgbClr val="000000"/>
                          </a:solidFill>
                          <a:effectLst/>
                          <a:latin typeface="Calibri" panose="020F0502020204030204" pitchFamily="34"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s-AR" sz="1400" b="0" i="0" u="none" strike="noStrike" kern="1200">
                          <a:solidFill>
                            <a:srgbClr val="000000"/>
                          </a:solidFill>
                          <a:effectLst/>
                          <a:latin typeface="Calibri" panose="020F0502020204030204" pitchFamily="34" charset="0"/>
                          <a:ea typeface="+mn-ea"/>
                          <a:cs typeface="+mn-cs"/>
                        </a:rPr>
                        <a:t>  1 </a:t>
                      </a:r>
                      <a:r>
                        <a:rPr lang="es-AR" sz="1400" b="0" i="0" u="none" strike="noStrike" kern="1200" err="1">
                          <a:solidFill>
                            <a:srgbClr val="000000"/>
                          </a:solidFill>
                          <a:effectLst/>
                          <a:latin typeface="Calibri" panose="020F0502020204030204" pitchFamily="34" charset="0"/>
                          <a:ea typeface="+mn-ea"/>
                          <a:cs typeface="+mn-cs"/>
                        </a:rPr>
                        <a:t>Tbps</a:t>
                      </a:r>
                      <a:r>
                        <a:rPr lang="es-AR" sz="1400" b="0" i="0" u="none" strike="noStrike" kern="1200">
                          <a:solidFill>
                            <a:srgbClr val="000000"/>
                          </a:solidFill>
                          <a:effectLst/>
                          <a:latin typeface="Calibri" panose="020F0502020204030204" pitchFamily="34" charset="0"/>
                          <a:ea typeface="+mn-ea"/>
                          <a:cs typeface="+mn-cs"/>
                        </a:rPr>
                        <a:t>  = </a:t>
                      </a:r>
                      <a:r>
                        <a:rPr lang="en-US" sz="1800" b="0" i="0" u="none" strike="noStrike" kern="1200">
                          <a:solidFill>
                            <a:srgbClr val="000000"/>
                          </a:solidFill>
                          <a:effectLst/>
                          <a:latin typeface="Calibri" panose="020F0502020204030204" pitchFamily="34" charset="0"/>
                          <a:ea typeface="+mn-ea"/>
                          <a:cs typeface="+mn-cs"/>
                        </a:rPr>
                        <a:t>10</a:t>
                      </a:r>
                      <a:r>
                        <a:rPr lang="en-US" sz="1800" b="0" i="0" u="none" strike="noStrike" kern="1200" baseline="50000">
                          <a:solidFill>
                            <a:srgbClr val="000000"/>
                          </a:solidFill>
                          <a:effectLst/>
                          <a:latin typeface="Calibri" panose="020F0502020204030204" pitchFamily="34" charset="0"/>
                          <a:ea typeface="+mn-ea"/>
                          <a:cs typeface="+mn-cs"/>
                        </a:rPr>
                        <a:t>12</a:t>
                      </a:r>
                      <a:r>
                        <a:rPr lang="en-US" altLang="zh-CN" sz="1400" b="0" i="0" u="none" strike="noStrike" kern="1200">
                          <a:solidFill>
                            <a:srgbClr val="000000"/>
                          </a:solidFill>
                          <a:effectLst/>
                          <a:latin typeface="Calibri" panose="020F0502020204030204" pitchFamily="34" charset="0"/>
                          <a:ea typeface="+mn-ea"/>
                          <a:cs typeface="+mn-cs"/>
                        </a:rPr>
                        <a:t> = </a:t>
                      </a:r>
                      <a:r>
                        <a:rPr lang="es-AR" sz="1400" b="0" i="0" u="none" strike="noStrike" kern="1200">
                          <a:solidFill>
                            <a:srgbClr val="000000"/>
                          </a:solidFill>
                          <a:effectLst/>
                          <a:latin typeface="Calibri" panose="020F0502020204030204" pitchFamily="34" charset="0"/>
                          <a:ea typeface="+mn-ea"/>
                          <a:cs typeface="+mn-cs"/>
                        </a:rPr>
                        <a:t>(</a:t>
                      </a:r>
                      <a:r>
                        <a:rPr lang="pt-BR" sz="1400" b="0" i="0" u="none" strike="noStrike" kern="1200">
                          <a:solidFill>
                            <a:srgbClr val="000000"/>
                          </a:solidFill>
                          <a:effectLst/>
                          <a:latin typeface="Calibri" panose="020F0502020204030204" pitchFamily="34" charset="0"/>
                          <a:ea typeface="+mn-ea"/>
                          <a:cs typeface="+mn-cs"/>
                        </a:rPr>
                        <a:t>1 000 000 000 000 bits/segundo</a:t>
                      </a:r>
                      <a:r>
                        <a:rPr lang="es-AR" sz="1400" b="0" i="0" u="none" strike="noStrike" kern="1200">
                          <a:solidFill>
                            <a:srgbClr val="000000"/>
                          </a:solidFill>
                          <a:effectLst/>
                          <a:latin typeface="Calibri" panose="020F0502020204030204" pitchFamily="34" charset="0"/>
                          <a:ea typeface="+mn-ea"/>
                          <a:cs typeface="+mn-cs"/>
                        </a:rPr>
                        <a:t>)</a:t>
                      </a:r>
                    </a:p>
                    <a:p>
                      <a:endParaRPr lang="es-AR" sz="1400" b="0" i="0" u="none" strike="noStrike" kern="1200">
                        <a:solidFill>
                          <a:srgbClr val="000000"/>
                        </a:solidFill>
                        <a:effectLst/>
                        <a:latin typeface="Calibri" panose="020F0502020204030204" pitchFamily="34" charset="0"/>
                        <a:ea typeface="+mn-ea"/>
                        <a:cs typeface="+mn-cs"/>
                      </a:endParaRPr>
                    </a:p>
                  </a:txBody>
                  <a:tcPr marL="9525" marR="9525" marT="9525" marB="0"/>
                </a:tc>
                <a:extLst>
                  <a:ext uri="{0D108BD9-81ED-4DB2-BD59-A6C34878D82A}">
                    <a16:rowId xmlns:a16="http://schemas.microsoft.com/office/drawing/2014/main" val="10001"/>
                  </a:ext>
                </a:extLst>
              </a:tr>
            </a:tbl>
          </a:graphicData>
        </a:graphic>
      </p:graphicFrame>
      <p:pic>
        <p:nvPicPr>
          <p:cNvPr id="8" name="Imagen 7">
            <a:extLst>
              <a:ext uri="{FF2B5EF4-FFF2-40B4-BE49-F238E27FC236}">
                <a16:creationId xmlns:a16="http://schemas.microsoft.com/office/drawing/2014/main" id="{F6CDE922-EFAE-FDB3-2373-37A514F425F3}"/>
              </a:ext>
            </a:extLst>
          </p:cNvPr>
          <p:cNvPicPr>
            <a:picLocks noChangeAspect="1"/>
          </p:cNvPicPr>
          <p:nvPr/>
        </p:nvPicPr>
        <p:blipFill>
          <a:blip r:embed="rId3"/>
          <a:stretch>
            <a:fillRect/>
          </a:stretch>
        </p:blipFill>
        <p:spPr>
          <a:xfrm>
            <a:off x="3060032" y="3771611"/>
            <a:ext cx="7906670" cy="2737344"/>
          </a:xfrm>
          <a:prstGeom prst="rect">
            <a:avLst/>
          </a:prstGeom>
        </p:spPr>
      </p:pic>
      <p:sp>
        <p:nvSpPr>
          <p:cNvPr id="10" name="Título 1">
            <a:extLst>
              <a:ext uri="{FF2B5EF4-FFF2-40B4-BE49-F238E27FC236}">
                <a16:creationId xmlns:a16="http://schemas.microsoft.com/office/drawing/2014/main" id="{7A67CD3C-F7FA-0958-D179-29F516EADB7D}"/>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Tree>
    <p:extLst>
      <p:ext uri="{BB962C8B-B14F-4D97-AF65-F5344CB8AC3E}">
        <p14:creationId xmlns:p14="http://schemas.microsoft.com/office/powerpoint/2010/main" val="1000923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a:t>Conceptos Iniciales	</a:t>
            </a:r>
          </a:p>
        </p:txBody>
      </p:sp>
      <p:sp>
        <p:nvSpPr>
          <p:cNvPr id="14" name="Marcador de contenido 2"/>
          <p:cNvSpPr>
            <a:spLocks noGrp="1"/>
          </p:cNvSpPr>
          <p:nvPr>
            <p:ph idx="1"/>
          </p:nvPr>
        </p:nvSpPr>
        <p:spPr>
          <a:xfrm>
            <a:off x="1555206" y="869047"/>
            <a:ext cx="8055138" cy="1444385"/>
          </a:xfrm>
        </p:spPr>
        <p:txBody>
          <a:bodyPr>
            <a:normAutofit/>
          </a:bodyPr>
          <a:lstStyle/>
          <a:p>
            <a:endParaRPr lang="es-AR" sz="1600" b="1"/>
          </a:p>
          <a:p>
            <a:pPr marL="0" indent="0">
              <a:buNone/>
            </a:pPr>
            <a:endParaRPr lang="es-ES" sz="1600"/>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contenido 2">
            <a:extLst>
              <a:ext uri="{FF2B5EF4-FFF2-40B4-BE49-F238E27FC236}">
                <a16:creationId xmlns:a16="http://schemas.microsoft.com/office/drawing/2014/main" id="{E9D45D7B-A41D-D993-C535-8219C52715E7}"/>
              </a:ext>
            </a:extLst>
          </p:cNvPr>
          <p:cNvSpPr txBox="1">
            <a:spLocks/>
          </p:cNvSpPr>
          <p:nvPr/>
        </p:nvSpPr>
        <p:spPr>
          <a:xfrm>
            <a:off x="2219670" y="1755647"/>
            <a:ext cx="8305074" cy="175564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s-ES" sz="1600"/>
          </a:p>
          <a:p>
            <a:pPr marL="0" indent="0">
              <a:buFont typeface="Wingdings 3" charset="2"/>
              <a:buNone/>
            </a:pPr>
            <a:endParaRPr lang="es-ES" sz="1600"/>
          </a:p>
        </p:txBody>
      </p:sp>
      <p:sp>
        <p:nvSpPr>
          <p:cNvPr id="7" name="Rectángulo: esquinas redondeadas 6">
            <a:extLst>
              <a:ext uri="{FF2B5EF4-FFF2-40B4-BE49-F238E27FC236}">
                <a16:creationId xmlns:a16="http://schemas.microsoft.com/office/drawing/2014/main" id="{7F15506B-9DBA-7CFA-90EF-E2BC57C59113}"/>
              </a:ext>
            </a:extLst>
          </p:cNvPr>
          <p:cNvSpPr/>
          <p:nvPr/>
        </p:nvSpPr>
        <p:spPr>
          <a:xfrm>
            <a:off x="1864939" y="1004845"/>
            <a:ext cx="9812709" cy="1774256"/>
          </a:xfrm>
          <a:prstGeom prst="round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r>
              <a:rPr lang="es-AR" dirty="0" err="1">
                <a:solidFill>
                  <a:schemeClr val="tx1"/>
                </a:solidFill>
                <a:latin typeface="HelveticaLTStd-Roman"/>
              </a:rPr>
              <a:t>BitRate</a:t>
            </a:r>
            <a:r>
              <a:rPr lang="es-AR" dirty="0">
                <a:solidFill>
                  <a:schemeClr val="tx1"/>
                </a:solidFill>
                <a:latin typeface="HelveticaLTStd-Roman"/>
              </a:rPr>
              <a:t> – Tasa de Bits </a:t>
            </a:r>
            <a:r>
              <a:rPr lang="es-AR" sz="1600" b="1" dirty="0"/>
              <a:t>: 	</a:t>
            </a:r>
            <a:r>
              <a:rPr lang="es-AR" sz="1200" b="1" dirty="0"/>
              <a:t>bps – kbps – Mbps – Gbps </a:t>
            </a:r>
            <a:endParaRPr lang="es-AR" sz="1200" b="1"/>
          </a:p>
          <a:p>
            <a:pPr marL="400050" lvl="1" indent="0">
              <a:buNone/>
            </a:pPr>
            <a:r>
              <a:rPr lang="es-ES" sz="1400" dirty="0"/>
              <a:t>En informática y telecomunicaciones</a:t>
            </a:r>
          </a:p>
          <a:p>
            <a:pPr marL="400050" lvl="1"/>
            <a:r>
              <a:rPr lang="es-ES" sz="1400" dirty="0"/>
              <a:t>Define el número de bits que se transmiten por unidad de tiempo a través de un sistema de transmisión digital o entre dos dispositivos digitales. 	La transmisión de datos se hace bit a bit. </a:t>
            </a:r>
          </a:p>
          <a:p>
            <a:pPr marL="400050" lvl="1" indent="0">
              <a:buNone/>
            </a:pPr>
            <a:endParaRPr lang="es-ES" sz="1400"/>
          </a:p>
          <a:p>
            <a:pPr marL="400050" lvl="1" indent="0">
              <a:buNone/>
            </a:pPr>
            <a:r>
              <a:rPr lang="es-ES" sz="1400" b="0" i="0" dirty="0">
                <a:solidFill>
                  <a:srgbClr val="202122"/>
                </a:solidFill>
                <a:effectLst/>
                <a:highlight>
                  <a:srgbClr val="FFFFFF"/>
                </a:highlight>
                <a:latin typeface="Arial"/>
                <a:cs typeface="Arial"/>
              </a:rPr>
              <a:t>Es la </a:t>
            </a:r>
            <a:r>
              <a:rPr lang="es-ES" sz="1400" b="1" i="0" dirty="0">
                <a:solidFill>
                  <a:srgbClr val="202122"/>
                </a:solidFill>
                <a:effectLst/>
                <a:highlight>
                  <a:srgbClr val="FFFFFF"/>
                </a:highlight>
                <a:latin typeface="Arial"/>
                <a:cs typeface="Arial"/>
              </a:rPr>
              <a:t>velocidad de transferencia de datos</a:t>
            </a:r>
            <a:r>
              <a:rPr lang="es-ES" sz="1400" b="0" i="0" dirty="0">
                <a:solidFill>
                  <a:srgbClr val="202122"/>
                </a:solidFill>
                <a:effectLst/>
                <a:highlight>
                  <a:srgbClr val="FFFFFF"/>
                </a:highlight>
                <a:latin typeface="Arial"/>
                <a:cs typeface="Arial"/>
              </a:rPr>
              <a:t>.</a:t>
            </a:r>
            <a:endParaRPr lang="es-AR" dirty="0">
              <a:latin typeface="Arial"/>
              <a:cs typeface="Arial"/>
            </a:endParaRPr>
          </a:p>
        </p:txBody>
      </p:sp>
      <p:sp>
        <p:nvSpPr>
          <p:cNvPr id="8" name="Título 1">
            <a:extLst>
              <a:ext uri="{FF2B5EF4-FFF2-40B4-BE49-F238E27FC236}">
                <a16:creationId xmlns:a16="http://schemas.microsoft.com/office/drawing/2014/main" id="{14AC8F52-AB9A-66CE-A13C-44B1F0494E54}"/>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10" name="Rectángulo: esquinas redondeadas 9">
            <a:extLst>
              <a:ext uri="{FF2B5EF4-FFF2-40B4-BE49-F238E27FC236}">
                <a16:creationId xmlns:a16="http://schemas.microsoft.com/office/drawing/2014/main" id="{CD2C8438-377D-511C-18E1-267931DB2EC0}"/>
              </a:ext>
            </a:extLst>
          </p:cNvPr>
          <p:cNvSpPr/>
          <p:nvPr/>
        </p:nvSpPr>
        <p:spPr>
          <a:xfrm>
            <a:off x="1864938" y="2795924"/>
            <a:ext cx="9780690" cy="1584809"/>
          </a:xfrm>
          <a:prstGeom prst="round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r>
              <a:rPr lang="es-AR" dirty="0">
                <a:solidFill>
                  <a:schemeClr val="tx1"/>
                </a:solidFill>
                <a:latin typeface="HelveticaLTStd-Roman"/>
              </a:rPr>
              <a:t>Ancho de Banda :</a:t>
            </a:r>
            <a:r>
              <a:rPr lang="es-AR" sz="1600" b="1" dirty="0">
                <a:solidFill>
                  <a:schemeClr val="tx1"/>
                </a:solidFill>
                <a:latin typeface="Century Gothic"/>
              </a:rPr>
              <a:t> </a:t>
            </a:r>
            <a:r>
              <a:rPr lang="es-AR" sz="1200" b="1" dirty="0">
                <a:solidFill>
                  <a:schemeClr val="tx1"/>
                </a:solidFill>
                <a:latin typeface="Century Gothic"/>
              </a:rPr>
              <a:t>bps</a:t>
            </a:r>
            <a:endParaRPr lang="es-AR" sz="1200" b="1" dirty="0">
              <a:solidFill>
                <a:schemeClr val="tx1"/>
              </a:solidFill>
            </a:endParaRPr>
          </a:p>
          <a:p>
            <a:pPr marL="400050" lvl="1"/>
            <a:r>
              <a:rPr lang="es-ES" sz="1400" dirty="0"/>
              <a:t>Flujo de bits de información </a:t>
            </a:r>
          </a:p>
          <a:p>
            <a:pPr marL="400050" lvl="1"/>
            <a:r>
              <a:rPr lang="es-ES" sz="1400" dirty="0"/>
              <a:t>La cantidad </a:t>
            </a:r>
            <a:r>
              <a:rPr lang="es-ES" sz="1400" b="1" dirty="0"/>
              <a:t>máxima </a:t>
            </a:r>
            <a:r>
              <a:rPr lang="es-ES" sz="1400" dirty="0"/>
              <a:t>de datos que se pueden transmitir en un período de tiempo específico en un canal de comunicación.</a:t>
            </a:r>
          </a:p>
          <a:p>
            <a:pPr marL="285750" indent="-285750">
              <a:buFont typeface="Arial"/>
              <a:buChar char="•"/>
            </a:pPr>
            <a:r>
              <a:rPr lang="es-ES" sz="1200" b="1" dirty="0">
                <a:ea typeface="+mn-lt"/>
                <a:cs typeface="+mn-lt"/>
              </a:rPr>
              <a:t>Ancho de Banda Teórico:</a:t>
            </a:r>
            <a:r>
              <a:rPr lang="es-ES" sz="1200" dirty="0">
                <a:solidFill>
                  <a:srgbClr val="0D0D0D"/>
                </a:solidFill>
                <a:ea typeface="+mn-lt"/>
                <a:cs typeface="+mn-lt"/>
              </a:rPr>
              <a:t> La capacidad máxima que un canal puede manejar en condiciones ideales.</a:t>
            </a:r>
            <a:endParaRPr lang="es-ES" dirty="0"/>
          </a:p>
          <a:p>
            <a:pPr marL="285750" indent="-285750">
              <a:buFont typeface="Arial"/>
              <a:buChar char="•"/>
            </a:pPr>
            <a:r>
              <a:rPr lang="es-ES" sz="1200" b="1" dirty="0">
                <a:solidFill>
                  <a:srgbClr val="0D0D0D"/>
                </a:solidFill>
                <a:ea typeface="+mn-lt"/>
                <a:cs typeface="+mn-lt"/>
              </a:rPr>
              <a:t>Ancho de Banda Efectivo (</a:t>
            </a:r>
            <a:r>
              <a:rPr lang="es-ES" sz="1200" b="1" dirty="0" err="1">
                <a:solidFill>
                  <a:srgbClr val="0D0D0D"/>
                </a:solidFill>
                <a:ea typeface="+mn-lt"/>
                <a:cs typeface="+mn-lt"/>
              </a:rPr>
              <a:t>Throughput</a:t>
            </a:r>
            <a:r>
              <a:rPr lang="es-ES" sz="1200" b="1" dirty="0">
                <a:solidFill>
                  <a:srgbClr val="0D0D0D"/>
                </a:solidFill>
                <a:ea typeface="+mn-lt"/>
                <a:cs typeface="+mn-lt"/>
              </a:rPr>
              <a:t>):</a:t>
            </a:r>
            <a:r>
              <a:rPr lang="es-ES" sz="1200" dirty="0">
                <a:solidFill>
                  <a:srgbClr val="0D0D0D"/>
                </a:solidFill>
                <a:ea typeface="+mn-lt"/>
                <a:cs typeface="+mn-lt"/>
              </a:rPr>
              <a:t> La cantidad real de datos que se transfieren exitosamente en condiciones reales, considerando posibles pérdidas y retardos.</a:t>
            </a:r>
            <a:endParaRPr lang="es-ES" sz="1200" dirty="0">
              <a:solidFill>
                <a:srgbClr val="0D0D0D"/>
              </a:solidFill>
            </a:endParaRPr>
          </a:p>
        </p:txBody>
      </p:sp>
      <p:sp>
        <p:nvSpPr>
          <p:cNvPr id="11" name="Rectángulo: esquinas redondeadas 10">
            <a:extLst>
              <a:ext uri="{FF2B5EF4-FFF2-40B4-BE49-F238E27FC236}">
                <a16:creationId xmlns:a16="http://schemas.microsoft.com/office/drawing/2014/main" id="{805A7CFC-F799-BFD3-25A7-5B28A4747A0C}"/>
              </a:ext>
            </a:extLst>
          </p:cNvPr>
          <p:cNvSpPr/>
          <p:nvPr/>
        </p:nvSpPr>
        <p:spPr>
          <a:xfrm>
            <a:off x="1864938" y="5433822"/>
            <a:ext cx="9780691" cy="1291156"/>
          </a:xfrm>
          <a:prstGeom prst="round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r>
              <a:rPr lang="es-AR" dirty="0">
                <a:solidFill>
                  <a:schemeClr val="tx1"/>
                </a:solidFill>
                <a:latin typeface="HelveticaLTStd-Roman"/>
              </a:rPr>
              <a:t>Tasa de transferencia de datos :</a:t>
            </a:r>
            <a:endParaRPr lang="es-AR" sz="1600" b="1" dirty="0">
              <a:solidFill>
                <a:schemeClr val="tx1"/>
              </a:solidFill>
            </a:endParaRPr>
          </a:p>
          <a:p>
            <a:pPr marL="400050" lvl="1"/>
            <a:r>
              <a:rPr lang="es-ES" sz="1400" dirty="0"/>
              <a:t>La tasa de transferencia de datos es una medida de cuántos datos pueden ser transmitidos en un período de tiempo específico. Es un factor crítico en muchas aplicaciones, desde la transmisión de video en tiempo real hasta las operaciones de un centro de datos.</a:t>
            </a:r>
            <a:endParaRPr lang="es-AR" sz="1400" dirty="0"/>
          </a:p>
        </p:txBody>
      </p:sp>
      <p:sp>
        <p:nvSpPr>
          <p:cNvPr id="13" name="Rectángulo: esquinas redondeadas 12">
            <a:extLst>
              <a:ext uri="{FF2B5EF4-FFF2-40B4-BE49-F238E27FC236}">
                <a16:creationId xmlns:a16="http://schemas.microsoft.com/office/drawing/2014/main" id="{1DB53BB0-28A9-C947-3427-4C3B01636226}"/>
              </a:ext>
            </a:extLst>
          </p:cNvPr>
          <p:cNvSpPr/>
          <p:nvPr/>
        </p:nvSpPr>
        <p:spPr>
          <a:xfrm>
            <a:off x="1864938" y="4463245"/>
            <a:ext cx="9780690" cy="8359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s-ES">
                <a:solidFill>
                  <a:schemeClr val="tx1"/>
                </a:solidFill>
                <a:latin typeface="HelveticaLTStd-Roman"/>
              </a:rPr>
              <a:t>Latencia o retardo :</a:t>
            </a:r>
            <a:r>
              <a:rPr lang="es-ES" sz="1800" b="1">
                <a:effectLst/>
                <a:highlight>
                  <a:srgbClr val="FFFFFF"/>
                </a:highlight>
                <a:latin typeface="Helsinki" panose="020B0504020202020204" pitchFamily="34" charset="0"/>
                <a:ea typeface="Aptos" panose="020B0004020202020204" pitchFamily="34" charset="0"/>
                <a:cs typeface="Times New Roman" panose="02020603050405020304" pitchFamily="18" charset="0"/>
              </a:rPr>
              <a:t> </a:t>
            </a:r>
            <a:r>
              <a:rPr lang="es-ES" sz="1800" b="1">
                <a:effectLst/>
                <a:highlight>
                  <a:srgbClr val="FFFFFF"/>
                </a:highlight>
                <a:latin typeface="Aptos" panose="020B0004020202020204" pitchFamily="34" charset="0"/>
                <a:ea typeface="Aptos" panose="020B0004020202020204" pitchFamily="34" charset="0"/>
                <a:cs typeface="Times New Roman" panose="02020603050405020304" pitchFamily="18" charset="0"/>
              </a:rPr>
              <a:t>	</a:t>
            </a:r>
            <a:r>
              <a:rPr lang="es-ES" sz="1400" b="1">
                <a:effectLst/>
                <a:highlight>
                  <a:srgbClr val="FFFFFF"/>
                </a:highlight>
                <a:latin typeface="Aptos" panose="020B0004020202020204" pitchFamily="34" charset="0"/>
                <a:ea typeface="Aptos" panose="020B0004020202020204" pitchFamily="34" charset="0"/>
                <a:cs typeface="Times New Roman" panose="02020603050405020304" pitchFamily="18" charset="0"/>
              </a:rPr>
              <a:t>ms</a:t>
            </a:r>
          </a:p>
          <a:p>
            <a:r>
              <a:rPr lang="es-ES">
                <a:highlight>
                  <a:srgbClr val="FFFFFF"/>
                </a:highlight>
                <a:latin typeface="Aptos" panose="020B0004020202020204" pitchFamily="34" charset="0"/>
                <a:ea typeface="Aptos" panose="020B0004020202020204" pitchFamily="34" charset="0"/>
                <a:cs typeface="Times New Roman" panose="02020603050405020304" pitchFamily="18" charset="0"/>
              </a:rPr>
              <a:t>	</a:t>
            </a:r>
            <a:r>
              <a:rPr lang="es-ES" sz="1400"/>
              <a:t>Tiempo que tarda un paquete de datos en ir de un punto a otro.</a:t>
            </a:r>
            <a:endParaRPr lang="es-AR" sz="1400"/>
          </a:p>
        </p:txBody>
      </p:sp>
    </p:spTree>
    <p:extLst>
      <p:ext uri="{BB962C8B-B14F-4D97-AF65-F5344CB8AC3E}">
        <p14:creationId xmlns:p14="http://schemas.microsoft.com/office/powerpoint/2010/main" val="519444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a:t>Conceptos Iniciales	</a:t>
            </a:r>
          </a:p>
        </p:txBody>
      </p:sp>
      <p:sp>
        <p:nvSpPr>
          <p:cNvPr id="14" name="Marcador de contenido 2"/>
          <p:cNvSpPr>
            <a:spLocks noGrp="1"/>
          </p:cNvSpPr>
          <p:nvPr>
            <p:ph idx="1"/>
          </p:nvPr>
        </p:nvSpPr>
        <p:spPr>
          <a:xfrm>
            <a:off x="1555206" y="869047"/>
            <a:ext cx="9773194" cy="1804880"/>
          </a:xfrm>
        </p:spPr>
        <p:txBody>
          <a:bodyPr>
            <a:noAutofit/>
          </a:bodyPr>
          <a:lstStyle/>
          <a:p>
            <a:r>
              <a:rPr lang="es-AR" sz="2000" b="1" i="0" u="none" strike="noStrike" baseline="0">
                <a:solidFill>
                  <a:schemeClr val="tx1"/>
                </a:solidFill>
                <a:latin typeface="+mj-lt"/>
              </a:rPr>
              <a:t>Calcular :</a:t>
            </a:r>
          </a:p>
          <a:p>
            <a:pPr marL="0" indent="0">
              <a:buNone/>
            </a:pPr>
            <a:r>
              <a:rPr lang="es-AR" b="0" i="0" u="none" strike="noStrike" baseline="0">
                <a:solidFill>
                  <a:schemeClr val="tx1"/>
                </a:solidFill>
                <a:latin typeface="+mj-lt"/>
              </a:rPr>
              <a:t>Si tengo un archiv</a:t>
            </a:r>
            <a:r>
              <a:rPr lang="es-AR">
                <a:solidFill>
                  <a:schemeClr val="tx1"/>
                </a:solidFill>
                <a:latin typeface="+mj-lt"/>
              </a:rPr>
              <a:t>o de 200 MB almacenado en disco en la nube. </a:t>
            </a:r>
          </a:p>
          <a:p>
            <a:pPr marL="0" indent="0">
              <a:buNone/>
            </a:pPr>
            <a:r>
              <a:rPr lang="es-AR">
                <a:solidFill>
                  <a:schemeClr val="tx1"/>
                </a:solidFill>
                <a:latin typeface="+mj-lt"/>
              </a:rPr>
              <a:t>	con una velocidad de internet de descarga de 100 Mbps</a:t>
            </a:r>
          </a:p>
          <a:p>
            <a:pPr marL="0" indent="0">
              <a:buNone/>
            </a:pPr>
            <a:r>
              <a:rPr lang="es-AR">
                <a:solidFill>
                  <a:schemeClr val="tx1"/>
                </a:solidFill>
                <a:latin typeface="+mj-lt"/>
              </a:rPr>
              <a:t> 	¿ Cuánto tiempo tarda en descargarse ?</a:t>
            </a:r>
          </a:p>
          <a:p>
            <a:pPr marL="0" indent="0">
              <a:buNone/>
            </a:pPr>
            <a:endParaRPr lang="es-AR" b="0" i="0" u="none" strike="noStrike" baseline="0">
              <a:solidFill>
                <a:schemeClr val="tx1"/>
              </a:solidFill>
              <a:latin typeface="+mj-lt"/>
            </a:endParaRPr>
          </a:p>
          <a:p>
            <a:pPr marL="457200" lvl="1" indent="0">
              <a:buNone/>
            </a:pPr>
            <a:endParaRPr lang="es-AR" sz="1400">
              <a:solidFill>
                <a:schemeClr val="tx1"/>
              </a:solidFill>
              <a:latin typeface="HelveticaLTStd-Roman"/>
            </a:endParaRP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7" name="Marcador de contenido 2">
            <a:extLst>
              <a:ext uri="{FF2B5EF4-FFF2-40B4-BE49-F238E27FC236}">
                <a16:creationId xmlns:a16="http://schemas.microsoft.com/office/drawing/2014/main" id="{392D8549-A6F3-AB62-98CA-4B607ED7B030}"/>
              </a:ext>
            </a:extLst>
          </p:cNvPr>
          <p:cNvSpPr txBox="1">
            <a:spLocks noChangeAspect="1"/>
          </p:cNvSpPr>
          <p:nvPr/>
        </p:nvSpPr>
        <p:spPr>
          <a:xfrm>
            <a:off x="1940410" y="2673927"/>
            <a:ext cx="8311179" cy="1804880"/>
          </a:xfrm>
          <a:prstGeom prst="rect">
            <a:avLst/>
          </a:prstGeom>
        </p:spPr>
        <p:txBody>
          <a:bodyPr vert="horz" wrap="square"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457200" lvl="1" indent="0">
              <a:spcBef>
                <a:spcPts val="0"/>
              </a:spcBef>
              <a:buNone/>
            </a:pPr>
            <a:r>
              <a:rPr lang="es-ES" sz="1200" b="1">
                <a:solidFill>
                  <a:srgbClr val="111111"/>
                </a:solidFill>
                <a:effectLst/>
                <a:latin typeface="Arial" panose="020B0604020202020204" pitchFamily="34" charset="0"/>
                <a:cs typeface="Arial" panose="020B0604020202020204" pitchFamily="34" charset="0"/>
              </a:rPr>
              <a:t>1er - Conversión de unidades:</a:t>
            </a:r>
            <a:r>
              <a:rPr lang="es-ES" sz="1200">
                <a:solidFill>
                  <a:srgbClr val="111111"/>
                </a:solidFill>
                <a:effectLst/>
                <a:latin typeface="Arial" panose="020B0604020202020204" pitchFamily="34" charset="0"/>
                <a:cs typeface="Arial" panose="020B0604020202020204" pitchFamily="34" charset="0"/>
              </a:rPr>
              <a:t> 	necesitamos convertir todas las unidades a la misma escala. </a:t>
            </a:r>
          </a:p>
          <a:p>
            <a:pPr marL="457200" lvl="1" indent="0">
              <a:spcBef>
                <a:spcPts val="0"/>
              </a:spcBef>
              <a:buNone/>
            </a:pPr>
            <a:endParaRPr lang="es-ES" sz="1200">
              <a:solidFill>
                <a:srgbClr val="111111"/>
              </a:solidFill>
              <a:effectLst/>
              <a:latin typeface="Arial" panose="020B0604020202020204" pitchFamily="34" charset="0"/>
              <a:cs typeface="Arial" panose="020B0604020202020204" pitchFamily="34" charset="0"/>
            </a:endParaRPr>
          </a:p>
          <a:p>
            <a:pPr marL="457200" lvl="1" indent="0">
              <a:spcBef>
                <a:spcPts val="0"/>
              </a:spcBef>
              <a:buNone/>
            </a:pPr>
            <a:r>
              <a:rPr lang="es-ES" sz="1200">
                <a:solidFill>
                  <a:srgbClr val="111111"/>
                </a:solidFill>
                <a:effectLst/>
                <a:latin typeface="Arial" panose="020B0604020202020204" pitchFamily="34" charset="0"/>
                <a:cs typeface="Arial" panose="020B0604020202020204" pitchFamily="34" charset="0"/>
              </a:rPr>
              <a:t>Un archivo de 200MB (megabytes) y una velocidad de descarga de 100Mbps (megabits por segundo). </a:t>
            </a:r>
          </a:p>
          <a:p>
            <a:pPr marL="457200" lvl="1" indent="0">
              <a:spcBef>
                <a:spcPts val="0"/>
              </a:spcBef>
              <a:buNone/>
            </a:pPr>
            <a:r>
              <a:rPr lang="es-ES" sz="1200">
                <a:solidFill>
                  <a:srgbClr val="111111"/>
                </a:solidFill>
                <a:effectLst/>
                <a:latin typeface="Arial" panose="020B0604020202020204" pitchFamily="34" charset="0"/>
                <a:cs typeface="Arial" panose="020B0604020202020204" pitchFamily="34" charset="0"/>
              </a:rPr>
              <a:t>Recordemos que 1 byte = 8 bits		( necesitamos convertir los megabytes a megabits)</a:t>
            </a:r>
          </a:p>
          <a:p>
            <a:pPr marL="457200" lvl="1" indent="0">
              <a:spcBef>
                <a:spcPts val="0"/>
              </a:spcBef>
              <a:buNone/>
            </a:pPr>
            <a:r>
              <a:rPr lang="es-ES" sz="1200">
                <a:solidFill>
                  <a:srgbClr val="111111"/>
                </a:solidFill>
                <a:effectLst/>
                <a:latin typeface="Arial" panose="020B0604020202020204" pitchFamily="34" charset="0"/>
                <a:cs typeface="Arial" panose="020B0604020202020204" pitchFamily="34" charset="0"/>
              </a:rPr>
              <a:t>	Entonces, 200MB * 8 = 1600 megabits.</a:t>
            </a:r>
          </a:p>
          <a:p>
            <a:pPr marL="457200" lvl="1" indent="0">
              <a:spcBef>
                <a:spcPts val="0"/>
              </a:spcBef>
              <a:buNone/>
            </a:pPr>
            <a:endParaRPr lang="es-ES" sz="1200">
              <a:solidFill>
                <a:schemeClr val="tx1"/>
              </a:solidFill>
              <a:latin typeface="Arial" panose="020B0604020202020204" pitchFamily="34" charset="0"/>
              <a:cs typeface="Arial" panose="020B0604020202020204" pitchFamily="34" charset="0"/>
            </a:endParaRPr>
          </a:p>
          <a:p>
            <a:pPr marL="457200" lvl="1" indent="0">
              <a:spcBef>
                <a:spcPts val="0"/>
              </a:spcBef>
              <a:buNone/>
            </a:pPr>
            <a:r>
              <a:rPr lang="es-ES" sz="1200" b="1">
                <a:solidFill>
                  <a:srgbClr val="111111"/>
                </a:solidFill>
                <a:effectLst/>
                <a:latin typeface="Arial" panose="020B0604020202020204" pitchFamily="34" charset="0"/>
                <a:cs typeface="Arial" panose="020B0604020202020204" pitchFamily="34" charset="0"/>
              </a:rPr>
              <a:t>2do - Cálculo del tiempo: 	</a:t>
            </a:r>
            <a:r>
              <a:rPr lang="es-ES" sz="1200">
                <a:solidFill>
                  <a:srgbClr val="111111"/>
                </a:solidFill>
                <a:effectLst/>
                <a:latin typeface="Arial" panose="020B0604020202020204" pitchFamily="34" charset="0"/>
                <a:cs typeface="Arial" panose="020B0604020202020204" pitchFamily="34" charset="0"/>
              </a:rPr>
              <a:t>calcular cuánto tiempo tomará descargar el archivo</a:t>
            </a:r>
          </a:p>
          <a:p>
            <a:pPr marL="457200" lvl="1" indent="0">
              <a:spcBef>
                <a:spcPts val="0"/>
              </a:spcBef>
              <a:buNone/>
            </a:pPr>
            <a:r>
              <a:rPr lang="es-ES" sz="1200">
                <a:solidFill>
                  <a:srgbClr val="111111"/>
                </a:solidFill>
                <a:effectLst/>
                <a:latin typeface="Arial" panose="020B0604020202020204" pitchFamily="34" charset="0"/>
                <a:cs typeface="Arial" panose="020B0604020202020204" pitchFamily="34" charset="0"/>
              </a:rPr>
              <a:t>Dividimos el tamaño total del archivo (en megabits) por la velocidad de descarga (en megabits por segundo). </a:t>
            </a:r>
          </a:p>
          <a:p>
            <a:pPr marL="457200" lvl="1" indent="0">
              <a:spcBef>
                <a:spcPts val="0"/>
              </a:spcBef>
              <a:buNone/>
            </a:pPr>
            <a:r>
              <a:rPr lang="es-ES" sz="1200" b="1">
                <a:solidFill>
                  <a:srgbClr val="111111"/>
                </a:solidFill>
                <a:effectLst/>
                <a:latin typeface="Arial" panose="020B0604020202020204" pitchFamily="34" charset="0"/>
                <a:cs typeface="Arial" panose="020B0604020202020204" pitchFamily="34" charset="0"/>
              </a:rPr>
              <a:t>	1600 megabits / 100 megabits por segundo = 16 segundos.</a:t>
            </a:r>
          </a:p>
        </p:txBody>
      </p:sp>
      <p:sp>
        <p:nvSpPr>
          <p:cNvPr id="8" name="Marcador de contenido 2">
            <a:extLst>
              <a:ext uri="{FF2B5EF4-FFF2-40B4-BE49-F238E27FC236}">
                <a16:creationId xmlns:a16="http://schemas.microsoft.com/office/drawing/2014/main" id="{2816DF0C-F754-1571-7C5B-2AA0C415C497}"/>
              </a:ext>
            </a:extLst>
          </p:cNvPr>
          <p:cNvSpPr txBox="1">
            <a:spLocks/>
          </p:cNvSpPr>
          <p:nvPr/>
        </p:nvSpPr>
        <p:spPr>
          <a:xfrm>
            <a:off x="1555206" y="4642102"/>
            <a:ext cx="9773194" cy="180488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AR" sz="2000" b="1">
                <a:solidFill>
                  <a:schemeClr val="tx1"/>
                </a:solidFill>
                <a:latin typeface="+mj-lt"/>
              </a:rPr>
              <a:t>Calcular :</a:t>
            </a:r>
          </a:p>
          <a:p>
            <a:pPr marL="0" indent="0">
              <a:buFont typeface="Wingdings 3" charset="2"/>
              <a:buNone/>
            </a:pPr>
            <a:r>
              <a:rPr lang="es-AR">
                <a:solidFill>
                  <a:schemeClr val="tx1"/>
                </a:solidFill>
                <a:latin typeface="+mj-lt"/>
              </a:rPr>
              <a:t>Y si tengo un archivo de 1GB almacenado en disco en la nube. </a:t>
            </a:r>
          </a:p>
          <a:p>
            <a:pPr marL="0" indent="0">
              <a:buFont typeface="Wingdings 3" charset="2"/>
              <a:buNone/>
            </a:pPr>
            <a:r>
              <a:rPr lang="es-AR">
                <a:solidFill>
                  <a:schemeClr val="tx1"/>
                </a:solidFill>
                <a:latin typeface="+mj-lt"/>
              </a:rPr>
              <a:t>	¿ Cuánto tiempo tarda en descargarse ?</a:t>
            </a:r>
          </a:p>
          <a:p>
            <a:pPr marL="0" indent="0">
              <a:buFont typeface="Wingdings 3" charset="2"/>
              <a:buNone/>
            </a:pPr>
            <a:r>
              <a:rPr lang="es-AR" sz="1100">
                <a:solidFill>
                  <a:schemeClr val="tx1"/>
                </a:solidFill>
                <a:latin typeface="+mj-lt"/>
              </a:rPr>
              <a:t>		RTA : 80 segundos</a:t>
            </a:r>
          </a:p>
          <a:p>
            <a:pPr marL="0" indent="0">
              <a:buFont typeface="Wingdings 3" charset="2"/>
              <a:buNone/>
            </a:pPr>
            <a:endParaRPr lang="es-AR">
              <a:solidFill>
                <a:schemeClr val="tx1"/>
              </a:solidFill>
              <a:latin typeface="+mj-lt"/>
            </a:endParaRPr>
          </a:p>
          <a:p>
            <a:pPr marL="457200" lvl="1" indent="0">
              <a:buFont typeface="Wingdings 3" charset="2"/>
              <a:buNone/>
            </a:pPr>
            <a:endParaRPr lang="es-AR" sz="1400">
              <a:solidFill>
                <a:schemeClr val="tx1"/>
              </a:solidFill>
              <a:latin typeface="HelveticaLTStd-Roman"/>
            </a:endParaRPr>
          </a:p>
        </p:txBody>
      </p:sp>
    </p:spTree>
    <p:extLst>
      <p:ext uri="{BB962C8B-B14F-4D97-AF65-F5344CB8AC3E}">
        <p14:creationId xmlns:p14="http://schemas.microsoft.com/office/powerpoint/2010/main" val="1429255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dirty="0"/>
              <a:t>Elementos de medición</a:t>
            </a:r>
            <a:endParaRPr lang="es-ES" dirty="0" err="1"/>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esquinas redondeadas 6">
            <a:extLst>
              <a:ext uri="{FF2B5EF4-FFF2-40B4-BE49-F238E27FC236}">
                <a16:creationId xmlns:a16="http://schemas.microsoft.com/office/drawing/2014/main" id="{7F15506B-9DBA-7CFA-90EF-E2BC57C59113}"/>
              </a:ext>
            </a:extLst>
          </p:cNvPr>
          <p:cNvSpPr/>
          <p:nvPr/>
        </p:nvSpPr>
        <p:spPr>
          <a:xfrm>
            <a:off x="1626104" y="904586"/>
            <a:ext cx="8880112" cy="2031113"/>
          </a:xfrm>
          <a:prstGeom prst="round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r>
              <a:rPr lang="es-AR" dirty="0">
                <a:solidFill>
                  <a:schemeClr val="tx1"/>
                </a:solidFill>
                <a:latin typeface="HelveticaLTStd-Roman"/>
              </a:rPr>
              <a:t>Medir el </a:t>
            </a:r>
            <a:r>
              <a:rPr lang="es-AR" dirty="0" err="1">
                <a:solidFill>
                  <a:schemeClr val="tx1"/>
                </a:solidFill>
                <a:latin typeface="HelveticaLTStd-Roman"/>
              </a:rPr>
              <a:t>BitRate</a:t>
            </a:r>
            <a:r>
              <a:rPr lang="es-AR" dirty="0">
                <a:solidFill>
                  <a:schemeClr val="tx1"/>
                </a:solidFill>
                <a:latin typeface="HelveticaLTStd-Roman"/>
              </a:rPr>
              <a:t> o Tasa de Bits de la conexión a internet </a:t>
            </a:r>
            <a:r>
              <a:rPr lang="es-AR" sz="1600" b="1" dirty="0">
                <a:solidFill>
                  <a:schemeClr val="tx1"/>
                </a:solidFill>
                <a:latin typeface="Century Gothic"/>
              </a:rPr>
              <a:t>:</a:t>
            </a:r>
            <a:endParaRPr lang="es-AR" sz="1200" b="1" dirty="0">
              <a:solidFill>
                <a:schemeClr val="tx1"/>
              </a:solidFill>
            </a:endParaRPr>
          </a:p>
          <a:p>
            <a:pPr marL="400050" lvl="1"/>
            <a:endParaRPr lang="es-ES" sz="1400"/>
          </a:p>
          <a:p>
            <a:pPr marL="400050" lvl="1"/>
            <a:r>
              <a:rPr lang="es-ES" sz="1400" dirty="0"/>
              <a:t>1 – Mediante diferentes instrumentos como ser paginas podemos hacer test de velocidad :</a:t>
            </a:r>
            <a:endParaRPr lang="es-ES" dirty="0"/>
          </a:p>
          <a:p>
            <a:pPr marL="400050" lvl="1"/>
            <a:endParaRPr lang="es-ES" sz="1400"/>
          </a:p>
          <a:p>
            <a:pPr marL="400050" lvl="1"/>
            <a:r>
              <a:rPr lang="es-ES" sz="1400" dirty="0"/>
              <a:t> </a:t>
            </a:r>
            <a:r>
              <a:rPr lang="es-ES" sz="1400" dirty="0">
                <a:ea typeface="+mn-lt"/>
                <a:cs typeface="+mn-lt"/>
              </a:rPr>
              <a:t>  https://speedtest.net</a:t>
            </a:r>
            <a:endParaRPr lang="es-ES" sz="1400" dirty="0"/>
          </a:p>
          <a:p>
            <a:pPr marL="400050" lvl="1"/>
            <a:endParaRPr lang="es-ES" sz="600"/>
          </a:p>
          <a:p>
            <a:pPr marL="400050" lvl="1"/>
            <a:r>
              <a:rPr lang="es-ES" sz="1400" dirty="0"/>
              <a:t> </a:t>
            </a:r>
            <a:r>
              <a:rPr lang="es-ES" sz="1400" dirty="0">
                <a:ea typeface="+mn-lt"/>
                <a:cs typeface="+mn-lt"/>
              </a:rPr>
              <a:t>  https://nperf.com</a:t>
            </a:r>
            <a:endParaRPr lang="es-ES" sz="1400" dirty="0"/>
          </a:p>
          <a:p>
            <a:pPr marL="400050" lvl="1"/>
            <a:endParaRPr lang="es-ES" sz="600"/>
          </a:p>
          <a:p>
            <a:pPr marL="400050" lvl="1"/>
            <a:r>
              <a:rPr lang="es-ES" sz="1400" dirty="0"/>
              <a:t>   https://fast.com</a:t>
            </a:r>
            <a:endParaRPr lang="es-ES" dirty="0"/>
          </a:p>
        </p:txBody>
      </p:sp>
      <p:sp>
        <p:nvSpPr>
          <p:cNvPr id="8" name="Título 1">
            <a:extLst>
              <a:ext uri="{FF2B5EF4-FFF2-40B4-BE49-F238E27FC236}">
                <a16:creationId xmlns:a16="http://schemas.microsoft.com/office/drawing/2014/main" id="{14AC8F52-AB9A-66CE-A13C-44B1F0494E54}"/>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pic>
        <p:nvPicPr>
          <p:cNvPr id="4" name="Imagen 3" descr="Interfaz de usuario gráfica, Texto, Aplicación&#10;&#10;Descripción generada automáticamente">
            <a:extLst>
              <a:ext uri="{FF2B5EF4-FFF2-40B4-BE49-F238E27FC236}">
                <a16:creationId xmlns:a16="http://schemas.microsoft.com/office/drawing/2014/main" id="{35F55011-6799-0453-5EBF-484155012640}"/>
              </a:ext>
            </a:extLst>
          </p:cNvPr>
          <p:cNvPicPr>
            <a:picLocks noChangeAspect="1"/>
          </p:cNvPicPr>
          <p:nvPr/>
        </p:nvPicPr>
        <p:blipFill>
          <a:blip r:embed="rId3"/>
          <a:stretch>
            <a:fillRect/>
          </a:stretch>
        </p:blipFill>
        <p:spPr>
          <a:xfrm>
            <a:off x="339748" y="3148256"/>
            <a:ext cx="4232031" cy="2458191"/>
          </a:xfrm>
          <a:prstGeom prst="rect">
            <a:avLst/>
          </a:prstGeom>
        </p:spPr>
      </p:pic>
      <p:pic>
        <p:nvPicPr>
          <p:cNvPr id="5" name="Imagen 4" descr="Interfaz de usuario gráfica, Diagrama, Aplicación&#10;&#10;Descripción generada automáticamente">
            <a:extLst>
              <a:ext uri="{FF2B5EF4-FFF2-40B4-BE49-F238E27FC236}">
                <a16:creationId xmlns:a16="http://schemas.microsoft.com/office/drawing/2014/main" id="{B093076A-10EB-A792-B896-338E34C9AEC6}"/>
              </a:ext>
            </a:extLst>
          </p:cNvPr>
          <p:cNvPicPr>
            <a:picLocks noChangeAspect="1"/>
          </p:cNvPicPr>
          <p:nvPr/>
        </p:nvPicPr>
        <p:blipFill>
          <a:blip r:embed="rId4"/>
          <a:stretch>
            <a:fillRect/>
          </a:stretch>
        </p:blipFill>
        <p:spPr>
          <a:xfrm>
            <a:off x="4650398" y="3154239"/>
            <a:ext cx="4239358" cy="3620966"/>
          </a:xfrm>
          <a:prstGeom prst="rect">
            <a:avLst/>
          </a:prstGeom>
        </p:spPr>
      </p:pic>
      <p:pic>
        <p:nvPicPr>
          <p:cNvPr id="10" name="Imagen 9" descr="Interfaz de usuario gráfica, Aplicación&#10;&#10;Descripción generada automáticamente">
            <a:extLst>
              <a:ext uri="{FF2B5EF4-FFF2-40B4-BE49-F238E27FC236}">
                <a16:creationId xmlns:a16="http://schemas.microsoft.com/office/drawing/2014/main" id="{686256F5-B2E0-7D08-6039-BCBF45201693}"/>
              </a:ext>
            </a:extLst>
          </p:cNvPr>
          <p:cNvPicPr>
            <a:picLocks noChangeAspect="1"/>
          </p:cNvPicPr>
          <p:nvPr/>
        </p:nvPicPr>
        <p:blipFill>
          <a:blip r:embed="rId5"/>
          <a:stretch>
            <a:fillRect/>
          </a:stretch>
        </p:blipFill>
        <p:spPr>
          <a:xfrm>
            <a:off x="8969252" y="3153507"/>
            <a:ext cx="3221649" cy="2872155"/>
          </a:xfrm>
          <a:prstGeom prst="rect">
            <a:avLst/>
          </a:prstGeom>
        </p:spPr>
      </p:pic>
    </p:spTree>
    <p:extLst>
      <p:ext uri="{BB962C8B-B14F-4D97-AF65-F5344CB8AC3E}">
        <p14:creationId xmlns:p14="http://schemas.microsoft.com/office/powerpoint/2010/main" val="1569042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dirty="0"/>
              <a:t>Control de medición.</a:t>
            </a: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esquinas redondeadas 6">
            <a:extLst>
              <a:ext uri="{FF2B5EF4-FFF2-40B4-BE49-F238E27FC236}">
                <a16:creationId xmlns:a16="http://schemas.microsoft.com/office/drawing/2014/main" id="{7F15506B-9DBA-7CFA-90EF-E2BC57C59113}"/>
              </a:ext>
            </a:extLst>
          </p:cNvPr>
          <p:cNvSpPr/>
          <p:nvPr/>
        </p:nvSpPr>
        <p:spPr>
          <a:xfrm>
            <a:off x="1639891" y="738579"/>
            <a:ext cx="9812709" cy="2216744"/>
          </a:xfrm>
          <a:prstGeom prst="round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r>
              <a:rPr lang="es-AR" dirty="0">
                <a:solidFill>
                  <a:schemeClr val="tx1"/>
                </a:solidFill>
                <a:latin typeface="HelveticaLTStd-Roman"/>
              </a:rPr>
              <a:t>¿ Qué elementos básicos pueden alterar esta medición de transferencia de información  ?</a:t>
            </a:r>
            <a:endParaRPr lang="es-ES" dirty="0">
              <a:solidFill>
                <a:schemeClr val="tx1"/>
              </a:solidFill>
            </a:endParaRPr>
          </a:p>
          <a:p>
            <a:pPr marL="400050" lvl="1"/>
            <a:endParaRPr lang="es-ES" sz="1400"/>
          </a:p>
          <a:p>
            <a:pPr marL="685800" lvl="1" indent="-285750">
              <a:buFont typeface="Calibri"/>
              <a:buChar char="-"/>
            </a:pPr>
            <a:r>
              <a:rPr lang="es-ES" sz="1400" dirty="0"/>
              <a:t>USO DE PROCESADOR DE LOS EQUIPOS DE MEDICION.</a:t>
            </a:r>
          </a:p>
          <a:p>
            <a:pPr marL="685800" lvl="1" indent="-285750">
              <a:buFont typeface="Calibri"/>
              <a:buChar char="-"/>
            </a:pPr>
            <a:r>
              <a:rPr lang="es-ES" sz="1400" dirty="0"/>
              <a:t>MEDIO FISICO .</a:t>
            </a:r>
          </a:p>
          <a:p>
            <a:pPr marL="685800" lvl="1" indent="-285750">
              <a:buFont typeface="Calibri"/>
              <a:buChar char="-"/>
            </a:pPr>
            <a:r>
              <a:rPr lang="es-ES" sz="1400" dirty="0"/>
              <a:t>UTILIZACION DEL ANCHO DE BANDA.</a:t>
            </a:r>
          </a:p>
          <a:p>
            <a:pPr marL="685800" lvl="1" indent="-285750">
              <a:buFont typeface="Calibri"/>
              <a:buChar char="-"/>
            </a:pPr>
            <a:r>
              <a:rPr lang="es-ES" sz="1400" dirty="0"/>
              <a:t>INESTABILIDAD.</a:t>
            </a:r>
          </a:p>
          <a:p>
            <a:pPr marL="685800" lvl="1" indent="-285750">
              <a:buFont typeface="Calibri"/>
              <a:buChar char="-"/>
            </a:pPr>
            <a:r>
              <a:rPr lang="es-ES" sz="1400" dirty="0"/>
              <a:t>SOFTWARE DE MEDICION </a:t>
            </a:r>
          </a:p>
          <a:p>
            <a:pPr marL="685800" lvl="1" indent="-285750">
              <a:buFont typeface="Calibri"/>
              <a:buChar char="-"/>
            </a:pPr>
            <a:r>
              <a:rPr lang="es-ES" sz="1400" dirty="0"/>
              <a:t>FACTORES AMBIENTALES </a:t>
            </a:r>
          </a:p>
          <a:p>
            <a:pPr marL="685800" lvl="1" indent="-285750">
              <a:buFont typeface="Calibri"/>
              <a:buChar char="-"/>
            </a:pPr>
            <a:r>
              <a:rPr lang="es-ES" sz="1400" dirty="0"/>
              <a:t>Cual más ?</a:t>
            </a:r>
          </a:p>
        </p:txBody>
      </p:sp>
      <p:sp>
        <p:nvSpPr>
          <p:cNvPr id="8" name="Título 1">
            <a:extLst>
              <a:ext uri="{FF2B5EF4-FFF2-40B4-BE49-F238E27FC236}">
                <a16:creationId xmlns:a16="http://schemas.microsoft.com/office/drawing/2014/main" id="{14AC8F52-AB9A-66CE-A13C-44B1F0494E54}"/>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pic>
        <p:nvPicPr>
          <p:cNvPr id="13" name="Imagen 12">
            <a:extLst>
              <a:ext uri="{FF2B5EF4-FFF2-40B4-BE49-F238E27FC236}">
                <a16:creationId xmlns:a16="http://schemas.microsoft.com/office/drawing/2014/main" id="{2D5CAD82-85C1-928B-D678-D941E9DA38B5}"/>
              </a:ext>
            </a:extLst>
          </p:cNvPr>
          <p:cNvPicPr>
            <a:picLocks noChangeAspect="1"/>
          </p:cNvPicPr>
          <p:nvPr/>
        </p:nvPicPr>
        <p:blipFill>
          <a:blip r:embed="rId3"/>
          <a:stretch>
            <a:fillRect/>
          </a:stretch>
        </p:blipFill>
        <p:spPr>
          <a:xfrm>
            <a:off x="1031858" y="3043355"/>
            <a:ext cx="5521971" cy="3819099"/>
          </a:xfrm>
          <a:prstGeom prst="rect">
            <a:avLst/>
          </a:prstGeom>
        </p:spPr>
      </p:pic>
      <p:pic>
        <p:nvPicPr>
          <p:cNvPr id="17" name="Imagen 16" descr="Imagen que contiene Gráfico&#10;&#10;Descripción generada automáticamente">
            <a:extLst>
              <a:ext uri="{FF2B5EF4-FFF2-40B4-BE49-F238E27FC236}">
                <a16:creationId xmlns:a16="http://schemas.microsoft.com/office/drawing/2014/main" id="{E02DDEF3-2CDB-D7EE-476F-6936799E4070}"/>
              </a:ext>
            </a:extLst>
          </p:cNvPr>
          <p:cNvPicPr>
            <a:picLocks noChangeAspect="1"/>
          </p:cNvPicPr>
          <p:nvPr/>
        </p:nvPicPr>
        <p:blipFill>
          <a:blip r:embed="rId4"/>
          <a:stretch>
            <a:fillRect/>
          </a:stretch>
        </p:blipFill>
        <p:spPr>
          <a:xfrm>
            <a:off x="7358063" y="3281363"/>
            <a:ext cx="3952875" cy="2390775"/>
          </a:xfrm>
          <a:prstGeom prst="rect">
            <a:avLst/>
          </a:prstGeom>
        </p:spPr>
      </p:pic>
    </p:spTree>
    <p:extLst>
      <p:ext uri="{BB962C8B-B14F-4D97-AF65-F5344CB8AC3E}">
        <p14:creationId xmlns:p14="http://schemas.microsoft.com/office/powerpoint/2010/main" val="1006550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dirty="0"/>
              <a:t>Otras herramientas</a:t>
            </a:r>
            <a:endParaRPr lang="es-ES" dirty="0"/>
          </a:p>
        </p:txBody>
      </p:sp>
      <p:sp>
        <p:nvSpPr>
          <p:cNvPr id="14" name="Marcador de contenido 2"/>
          <p:cNvSpPr>
            <a:spLocks noGrp="1"/>
          </p:cNvSpPr>
          <p:nvPr>
            <p:ph idx="1"/>
          </p:nvPr>
        </p:nvSpPr>
        <p:spPr>
          <a:xfrm>
            <a:off x="1555206" y="869047"/>
            <a:ext cx="8055138" cy="1444385"/>
          </a:xfrm>
        </p:spPr>
        <p:txBody>
          <a:bodyPr>
            <a:normAutofit/>
          </a:bodyPr>
          <a:lstStyle/>
          <a:p>
            <a:endParaRPr lang="es-AR" sz="1600" b="1"/>
          </a:p>
          <a:p>
            <a:pPr marL="0" indent="0">
              <a:buNone/>
            </a:pPr>
            <a:endParaRPr lang="es-ES" sz="1600"/>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contenido 2">
            <a:extLst>
              <a:ext uri="{FF2B5EF4-FFF2-40B4-BE49-F238E27FC236}">
                <a16:creationId xmlns:a16="http://schemas.microsoft.com/office/drawing/2014/main" id="{E9D45D7B-A41D-D993-C535-8219C52715E7}"/>
              </a:ext>
            </a:extLst>
          </p:cNvPr>
          <p:cNvSpPr txBox="1">
            <a:spLocks/>
          </p:cNvSpPr>
          <p:nvPr/>
        </p:nvSpPr>
        <p:spPr>
          <a:xfrm>
            <a:off x="2219670" y="1755647"/>
            <a:ext cx="8305074" cy="175564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s-ES" sz="1600"/>
          </a:p>
          <a:p>
            <a:pPr marL="0" indent="0">
              <a:buFont typeface="Wingdings 3" charset="2"/>
              <a:buNone/>
            </a:pPr>
            <a:endParaRPr lang="es-ES" sz="1600"/>
          </a:p>
        </p:txBody>
      </p:sp>
      <p:sp>
        <p:nvSpPr>
          <p:cNvPr id="7" name="Rectángulo: esquinas redondeadas 6">
            <a:extLst>
              <a:ext uri="{FF2B5EF4-FFF2-40B4-BE49-F238E27FC236}">
                <a16:creationId xmlns:a16="http://schemas.microsoft.com/office/drawing/2014/main" id="{7F15506B-9DBA-7CFA-90EF-E2BC57C59113}"/>
              </a:ext>
            </a:extLst>
          </p:cNvPr>
          <p:cNvSpPr/>
          <p:nvPr/>
        </p:nvSpPr>
        <p:spPr>
          <a:xfrm>
            <a:off x="1655389" y="872786"/>
            <a:ext cx="9906314" cy="888916"/>
          </a:xfrm>
          <a:prstGeom prst="round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r>
              <a:rPr lang="es-AR">
                <a:solidFill>
                  <a:schemeClr val="tx1"/>
                </a:solidFill>
                <a:latin typeface="HelveticaLTStd-Roman"/>
              </a:rPr>
              <a:t>¿ Existen otros medios para realizar mediciones de transferencia de información entre </a:t>
            </a:r>
            <a:r>
              <a:rPr lang="es-AR" dirty="0">
                <a:solidFill>
                  <a:schemeClr val="tx1"/>
                </a:solidFill>
                <a:latin typeface="HelveticaLTStd-Roman"/>
              </a:rPr>
              <a:t>dispositivos ?</a:t>
            </a:r>
          </a:p>
          <a:p>
            <a:r>
              <a:rPr lang="es-AR" dirty="0">
                <a:solidFill>
                  <a:schemeClr val="tx1"/>
                </a:solidFill>
                <a:latin typeface="HelveticaLTStd-Roman"/>
              </a:rPr>
              <a:t>¿ Cuales ? </a:t>
            </a:r>
          </a:p>
        </p:txBody>
      </p:sp>
      <p:sp>
        <p:nvSpPr>
          <p:cNvPr id="8" name="Título 1">
            <a:extLst>
              <a:ext uri="{FF2B5EF4-FFF2-40B4-BE49-F238E27FC236}">
                <a16:creationId xmlns:a16="http://schemas.microsoft.com/office/drawing/2014/main" id="{14AC8F52-AB9A-66CE-A13C-44B1F0494E54}"/>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pic>
        <p:nvPicPr>
          <p:cNvPr id="4" name="Imagen 3" descr="Gráfico, Gráfico de líneas&#10;&#10;Descripción generada automáticamente">
            <a:extLst>
              <a:ext uri="{FF2B5EF4-FFF2-40B4-BE49-F238E27FC236}">
                <a16:creationId xmlns:a16="http://schemas.microsoft.com/office/drawing/2014/main" id="{6513E46E-88D9-EA65-0C83-1401C89B9ADC}"/>
              </a:ext>
            </a:extLst>
          </p:cNvPr>
          <p:cNvPicPr>
            <a:picLocks noChangeAspect="1"/>
          </p:cNvPicPr>
          <p:nvPr/>
        </p:nvPicPr>
        <p:blipFill>
          <a:blip r:embed="rId3"/>
          <a:stretch>
            <a:fillRect/>
          </a:stretch>
        </p:blipFill>
        <p:spPr>
          <a:xfrm>
            <a:off x="4395706" y="4943109"/>
            <a:ext cx="3583178" cy="1829695"/>
          </a:xfrm>
          <a:prstGeom prst="rect">
            <a:avLst/>
          </a:prstGeom>
        </p:spPr>
      </p:pic>
      <p:pic>
        <p:nvPicPr>
          <p:cNvPr id="5" name="Imagen 4" descr="Flow metrics with Prometheus and Grafana - sFlow">
            <a:extLst>
              <a:ext uri="{FF2B5EF4-FFF2-40B4-BE49-F238E27FC236}">
                <a16:creationId xmlns:a16="http://schemas.microsoft.com/office/drawing/2014/main" id="{20709E6A-14E9-3D17-965D-4AFDEB45AAF5}"/>
              </a:ext>
            </a:extLst>
          </p:cNvPr>
          <p:cNvPicPr>
            <a:picLocks noChangeAspect="1"/>
          </p:cNvPicPr>
          <p:nvPr/>
        </p:nvPicPr>
        <p:blipFill>
          <a:blip r:embed="rId4"/>
          <a:stretch>
            <a:fillRect/>
          </a:stretch>
        </p:blipFill>
        <p:spPr>
          <a:xfrm>
            <a:off x="1452" y="1837614"/>
            <a:ext cx="4311112" cy="2376698"/>
          </a:xfrm>
          <a:prstGeom prst="rect">
            <a:avLst/>
          </a:prstGeom>
        </p:spPr>
      </p:pic>
      <p:pic>
        <p:nvPicPr>
          <p:cNvPr id="9" name="Imagen 8" descr="Router traffic graph is not correct in grafana - Grafana Labs Community  Forums">
            <a:extLst>
              <a:ext uri="{FF2B5EF4-FFF2-40B4-BE49-F238E27FC236}">
                <a16:creationId xmlns:a16="http://schemas.microsoft.com/office/drawing/2014/main" id="{4AA9335A-8819-D98A-0251-3FEA22D41900}"/>
              </a:ext>
            </a:extLst>
          </p:cNvPr>
          <p:cNvPicPr>
            <a:picLocks noChangeAspect="1"/>
          </p:cNvPicPr>
          <p:nvPr/>
        </p:nvPicPr>
        <p:blipFill>
          <a:blip r:embed="rId5"/>
          <a:stretch>
            <a:fillRect/>
          </a:stretch>
        </p:blipFill>
        <p:spPr>
          <a:xfrm>
            <a:off x="217299" y="4384083"/>
            <a:ext cx="3429000" cy="1333500"/>
          </a:xfrm>
          <a:prstGeom prst="rect">
            <a:avLst/>
          </a:prstGeom>
        </p:spPr>
      </p:pic>
      <p:pic>
        <p:nvPicPr>
          <p:cNvPr id="10" name="Imagen 9">
            <a:extLst>
              <a:ext uri="{FF2B5EF4-FFF2-40B4-BE49-F238E27FC236}">
                <a16:creationId xmlns:a16="http://schemas.microsoft.com/office/drawing/2014/main" id="{6626E520-2CA1-6DA0-D99D-52D05657C985}"/>
              </a:ext>
            </a:extLst>
          </p:cNvPr>
          <p:cNvPicPr>
            <a:picLocks noChangeAspect="1"/>
          </p:cNvPicPr>
          <p:nvPr/>
        </p:nvPicPr>
        <p:blipFill>
          <a:blip r:embed="rId6"/>
          <a:stretch>
            <a:fillRect/>
          </a:stretch>
        </p:blipFill>
        <p:spPr>
          <a:xfrm>
            <a:off x="8128538" y="1838486"/>
            <a:ext cx="3923332" cy="3017327"/>
          </a:xfrm>
          <a:prstGeom prst="rect">
            <a:avLst/>
          </a:prstGeom>
        </p:spPr>
      </p:pic>
      <p:pic>
        <p:nvPicPr>
          <p:cNvPr id="11" name="Imagen 10" descr="Imagen que contiene Interfaz de usuario gráfica&#10;&#10;Descripción generada automáticamente">
            <a:extLst>
              <a:ext uri="{FF2B5EF4-FFF2-40B4-BE49-F238E27FC236}">
                <a16:creationId xmlns:a16="http://schemas.microsoft.com/office/drawing/2014/main" id="{27409902-1513-74C0-8215-A111D9FCACBB}"/>
              </a:ext>
            </a:extLst>
          </p:cNvPr>
          <p:cNvPicPr>
            <a:picLocks noChangeAspect="1"/>
          </p:cNvPicPr>
          <p:nvPr/>
        </p:nvPicPr>
        <p:blipFill>
          <a:blip r:embed="rId7"/>
          <a:stretch>
            <a:fillRect/>
          </a:stretch>
        </p:blipFill>
        <p:spPr>
          <a:xfrm>
            <a:off x="4395787" y="1837760"/>
            <a:ext cx="3588988" cy="3015228"/>
          </a:xfrm>
          <a:prstGeom prst="rect">
            <a:avLst/>
          </a:prstGeom>
        </p:spPr>
      </p:pic>
    </p:spTree>
    <p:extLst>
      <p:ext uri="{BB962C8B-B14F-4D97-AF65-F5344CB8AC3E}">
        <p14:creationId xmlns:p14="http://schemas.microsoft.com/office/powerpoint/2010/main" val="452382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55260" y="204645"/>
            <a:ext cx="7417447" cy="488079"/>
          </a:xfrm>
        </p:spPr>
        <p:txBody>
          <a:bodyPr wrap="none">
            <a:noAutofit/>
          </a:bodyPr>
          <a:lstStyle/>
          <a:p>
            <a:r>
              <a:rPr lang="es-AR" sz="2800" b="1"/>
              <a:t>Practica 1 </a:t>
            </a:r>
          </a:p>
        </p:txBody>
      </p:sp>
      <p:sp>
        <p:nvSpPr>
          <p:cNvPr id="14" name="Marcador de contenido 2"/>
          <p:cNvSpPr>
            <a:spLocks noGrp="1"/>
          </p:cNvSpPr>
          <p:nvPr>
            <p:ph idx="1"/>
          </p:nvPr>
        </p:nvSpPr>
        <p:spPr>
          <a:xfrm>
            <a:off x="1581151" y="3620705"/>
            <a:ext cx="10479126" cy="3115159"/>
          </a:xfrm>
        </p:spPr>
        <p:txBody>
          <a:bodyPr tIns="0" bIns="0">
            <a:normAutofit fontScale="92500"/>
          </a:bodyPr>
          <a:lstStyle/>
          <a:p>
            <a:pPr algn="l">
              <a:spcBef>
                <a:spcPts val="0"/>
              </a:spcBef>
            </a:pPr>
            <a:r>
              <a:rPr lang="es-ES" sz="1100">
                <a:solidFill>
                  <a:srgbClr val="000000"/>
                </a:solidFill>
                <a:latin typeface="Calibri" panose="020F0502020204030204" pitchFamily="34" charset="0"/>
              </a:rPr>
              <a:t>1ro, </a:t>
            </a:r>
            <a:r>
              <a:rPr lang="es-ES" sz="1100" b="1">
                <a:solidFill>
                  <a:srgbClr val="000000"/>
                </a:solidFill>
                <a:latin typeface="Calibri" panose="020F0502020204030204" pitchFamily="34" charset="0"/>
              </a:rPr>
              <a:t>necesitamos convertir la capacidad de almacenamiento de los </a:t>
            </a:r>
            <a:r>
              <a:rPr lang="es-ES" sz="1100" b="1" err="1">
                <a:solidFill>
                  <a:srgbClr val="000000"/>
                </a:solidFill>
                <a:latin typeface="Calibri" panose="020F0502020204030204" pitchFamily="34" charset="0"/>
              </a:rPr>
              <a:t>cassettes</a:t>
            </a:r>
            <a:r>
              <a:rPr lang="es-ES" sz="1100" b="1">
                <a:solidFill>
                  <a:srgbClr val="000000"/>
                </a:solidFill>
                <a:latin typeface="Calibri" panose="020F0502020204030204" pitchFamily="34" charset="0"/>
              </a:rPr>
              <a:t> a bits</a:t>
            </a:r>
            <a:r>
              <a:rPr lang="es-ES" sz="1100">
                <a:solidFill>
                  <a:srgbClr val="000000"/>
                </a:solidFill>
                <a:latin typeface="Calibri" panose="020F0502020204030204" pitchFamily="34" charset="0"/>
              </a:rPr>
              <a:t>, ya que 1 Byte = 8 bits. Entonces, cada </a:t>
            </a:r>
            <a:r>
              <a:rPr lang="es-ES" sz="1100" err="1">
                <a:solidFill>
                  <a:srgbClr val="000000"/>
                </a:solidFill>
                <a:latin typeface="Calibri" panose="020F0502020204030204" pitchFamily="34" charset="0"/>
              </a:rPr>
              <a:t>cassette</a:t>
            </a:r>
            <a:r>
              <a:rPr lang="es-ES" sz="1100">
                <a:solidFill>
                  <a:srgbClr val="000000"/>
                </a:solidFill>
                <a:latin typeface="Calibri" panose="020F0502020204030204" pitchFamily="34" charset="0"/>
              </a:rPr>
              <a:t> tiene 7 </a:t>
            </a:r>
            <a:r>
              <a:rPr lang="es-ES" sz="1100" err="1">
                <a:solidFill>
                  <a:srgbClr val="000000"/>
                </a:solidFill>
                <a:latin typeface="Calibri" panose="020F0502020204030204" pitchFamily="34" charset="0"/>
              </a:rPr>
              <a:t>GBytes</a:t>
            </a:r>
            <a:r>
              <a:rPr lang="es-ES" sz="1100">
                <a:solidFill>
                  <a:srgbClr val="000000"/>
                </a:solidFill>
                <a:latin typeface="Calibri" panose="020F0502020204030204" pitchFamily="34" charset="0"/>
              </a:rPr>
              <a:t> * 8 = 56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Como el perro lleva 3 </a:t>
            </a:r>
            <a:r>
              <a:rPr lang="es-ES" sz="1100" err="1">
                <a:solidFill>
                  <a:srgbClr val="000000"/>
                </a:solidFill>
                <a:latin typeface="Calibri" panose="020F0502020204030204" pitchFamily="34" charset="0"/>
              </a:rPr>
              <a:t>cassettes</a:t>
            </a:r>
            <a:r>
              <a:rPr lang="es-ES" sz="1100">
                <a:solidFill>
                  <a:srgbClr val="000000"/>
                </a:solidFill>
                <a:latin typeface="Calibri" panose="020F0502020204030204" pitchFamily="34" charset="0"/>
              </a:rPr>
              <a:t>, la capacidad total es de 3 * 56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 168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a:t>
            </a:r>
          </a:p>
          <a:p>
            <a:pPr marL="0" indent="0" algn="l">
              <a:spcBef>
                <a:spcPts val="0"/>
              </a:spcBef>
              <a:buNone/>
            </a:pPr>
            <a:endParaRPr lang="es-ES" sz="1100">
              <a:solidFill>
                <a:srgbClr val="000000"/>
              </a:solidFill>
              <a:latin typeface="Calibri" panose="020F0502020204030204" pitchFamily="34" charset="0"/>
            </a:endParaRPr>
          </a:p>
          <a:p>
            <a:pPr algn="l">
              <a:spcBef>
                <a:spcPts val="0"/>
              </a:spcBef>
            </a:pPr>
            <a:r>
              <a:rPr lang="es-ES" sz="1100" b="1">
                <a:solidFill>
                  <a:srgbClr val="000000"/>
                </a:solidFill>
                <a:latin typeface="Calibri" panose="020F0502020204030204" pitchFamily="34" charset="0"/>
              </a:rPr>
              <a:t>a)</a:t>
            </a:r>
            <a:r>
              <a:rPr lang="es-ES" sz="1100">
                <a:solidFill>
                  <a:srgbClr val="000000"/>
                </a:solidFill>
                <a:latin typeface="Calibri" panose="020F0502020204030204" pitchFamily="34" charset="0"/>
              </a:rPr>
              <a:t> Para calcular la tasa de bits, necesitamos saber cuánto tiempo le toma al perro recorrer 500 metros a 18 Km/h. 	Primero, convertimos la velocidad a m/s: 18 Km/h = 5 m/s. Entonces, el perro tarda 500 m / 5 m/s = 100 segundos en recorrer la distancia. La tasa de bits es entonces 168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 100 s = 1.68 Gbps = </a:t>
            </a:r>
            <a:r>
              <a:rPr lang="es-ES" sz="1100" b="1">
                <a:solidFill>
                  <a:srgbClr val="000000"/>
                </a:solidFill>
                <a:latin typeface="Calibri" panose="020F0502020204030204" pitchFamily="34" charset="0"/>
              </a:rPr>
              <a:t>1680 Mbps.</a:t>
            </a:r>
          </a:p>
          <a:p>
            <a:pPr marL="0" indent="0" algn="l">
              <a:spcBef>
                <a:spcPts val="0"/>
              </a:spcBef>
              <a:buNone/>
            </a:pPr>
            <a:endParaRPr lang="es-ES" sz="1100" b="1">
              <a:solidFill>
                <a:srgbClr val="000000"/>
              </a:solidFill>
              <a:latin typeface="Calibri" panose="020F0502020204030204" pitchFamily="34" charset="0"/>
            </a:endParaRPr>
          </a:p>
          <a:p>
            <a:pPr algn="l">
              <a:spcBef>
                <a:spcPts val="0"/>
              </a:spcBef>
            </a:pPr>
            <a:r>
              <a:rPr lang="es-ES" sz="1100" b="1">
                <a:solidFill>
                  <a:srgbClr val="000000"/>
                </a:solidFill>
                <a:latin typeface="Calibri" panose="020F0502020204030204" pitchFamily="34" charset="0"/>
              </a:rPr>
              <a:t>b)</a:t>
            </a:r>
            <a:r>
              <a:rPr lang="es-ES" sz="1100">
                <a:solidFill>
                  <a:srgbClr val="000000"/>
                </a:solidFill>
                <a:latin typeface="Calibri" panose="020F0502020204030204" pitchFamily="34" charset="0"/>
              </a:rPr>
              <a:t> El retardo en la transmisión de datos es simplemente el tiempo que le toma al perro recorrer la distancia, que ya calculamos como </a:t>
            </a:r>
            <a:r>
              <a:rPr lang="es-ES" sz="1100" b="1">
                <a:solidFill>
                  <a:srgbClr val="000000"/>
                </a:solidFill>
                <a:latin typeface="Calibri" panose="020F0502020204030204" pitchFamily="34" charset="0"/>
              </a:rPr>
              <a:t>100 segundos.</a:t>
            </a:r>
          </a:p>
          <a:p>
            <a:pPr marL="0" indent="0" algn="l">
              <a:spcBef>
                <a:spcPts val="0"/>
              </a:spcBef>
              <a:buNone/>
            </a:pPr>
            <a:endParaRPr lang="es-ES" sz="1100" b="1">
              <a:solidFill>
                <a:srgbClr val="000000"/>
              </a:solidFill>
              <a:latin typeface="Calibri" panose="020F0502020204030204" pitchFamily="34" charset="0"/>
            </a:endParaRPr>
          </a:p>
          <a:p>
            <a:pPr algn="l">
              <a:spcBef>
                <a:spcPts val="0"/>
              </a:spcBef>
            </a:pPr>
            <a:r>
              <a:rPr lang="es-ES" sz="1100" b="1">
                <a:solidFill>
                  <a:srgbClr val="000000"/>
                </a:solidFill>
                <a:latin typeface="Calibri" panose="020F0502020204030204" pitchFamily="34" charset="0"/>
              </a:rPr>
              <a:t>c)</a:t>
            </a:r>
            <a:r>
              <a:rPr lang="es-ES" sz="1100">
                <a:solidFill>
                  <a:srgbClr val="000000"/>
                </a:solidFill>
                <a:latin typeface="Calibri" panose="020F0502020204030204" pitchFamily="34" charset="0"/>
              </a:rPr>
              <a:t> Para lograr una tasa de bits de 150 Mbps, necesitamos encontrar la distancia que el perro debería recorrer. Usando la fórmula de la tasa de bits, tenemos que 168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 150 Mbps = tiempo. Resolviendo para el tiempo obtenemos aproximadamente 1120 segundos. Como la velocidad del perro es de 5 m/s, la distancia sería 5 m/s * 1120 s = 5600 metros.</a:t>
            </a:r>
          </a:p>
          <a:p>
            <a:pPr algn="l">
              <a:spcBef>
                <a:spcPts val="0"/>
              </a:spcBef>
            </a:pPr>
            <a:endParaRPr lang="es-ES" sz="1100">
              <a:solidFill>
                <a:srgbClr val="000000"/>
              </a:solidFill>
              <a:latin typeface="Calibri" panose="020F0502020204030204" pitchFamily="34" charset="0"/>
            </a:endParaRPr>
          </a:p>
          <a:p>
            <a:pPr algn="l">
              <a:spcBef>
                <a:spcPts val="0"/>
              </a:spcBef>
            </a:pPr>
            <a:r>
              <a:rPr lang="es-ES" sz="1100" b="1">
                <a:solidFill>
                  <a:srgbClr val="000000"/>
                </a:solidFill>
                <a:latin typeface="Calibri" panose="020F0502020204030204" pitchFamily="34" charset="0"/>
              </a:rPr>
              <a:t>d)</a:t>
            </a:r>
            <a:r>
              <a:rPr lang="es-ES" sz="1100">
                <a:solidFill>
                  <a:srgbClr val="000000"/>
                </a:solidFill>
                <a:latin typeface="Calibri" panose="020F0502020204030204" pitchFamily="34" charset="0"/>
              </a:rPr>
              <a:t> Si el perro duplica su velocidad, entonces su nueva velocidad es de 10 m/s. Usando la misma fórmula que antes, encontramos que la nueva distancia sería 10 m/s * 1120 s = 11200 metros.</a:t>
            </a:r>
          </a:p>
          <a:p>
            <a:pPr algn="l">
              <a:spcBef>
                <a:spcPts val="0"/>
              </a:spcBef>
            </a:pPr>
            <a:endParaRPr lang="es-ES" sz="1100">
              <a:solidFill>
                <a:srgbClr val="000000"/>
              </a:solidFill>
              <a:latin typeface="Calibri" panose="020F0502020204030204" pitchFamily="34" charset="0"/>
            </a:endParaRPr>
          </a:p>
          <a:p>
            <a:pPr algn="l">
              <a:spcBef>
                <a:spcPts val="0"/>
              </a:spcBef>
            </a:pPr>
            <a:r>
              <a:rPr lang="es-ES" sz="1100" b="1">
                <a:solidFill>
                  <a:srgbClr val="000000"/>
                </a:solidFill>
                <a:latin typeface="Calibri" panose="020F0502020204030204" pitchFamily="34" charset="0"/>
              </a:rPr>
              <a:t>e)</a:t>
            </a:r>
            <a:r>
              <a:rPr lang="es-ES" sz="1100">
                <a:solidFill>
                  <a:srgbClr val="000000"/>
                </a:solidFill>
                <a:latin typeface="Calibri" panose="020F0502020204030204" pitchFamily="34" charset="0"/>
              </a:rPr>
              <a:t> Si cada </a:t>
            </a:r>
            <a:r>
              <a:rPr lang="es-ES" sz="1100" err="1">
                <a:solidFill>
                  <a:srgbClr val="000000"/>
                </a:solidFill>
                <a:latin typeface="Calibri" panose="020F0502020204030204" pitchFamily="34" charset="0"/>
              </a:rPr>
              <a:t>cassette</a:t>
            </a:r>
            <a:r>
              <a:rPr lang="es-ES" sz="1100">
                <a:solidFill>
                  <a:srgbClr val="000000"/>
                </a:solidFill>
                <a:latin typeface="Calibri" panose="020F0502020204030204" pitchFamily="34" charset="0"/>
              </a:rPr>
              <a:t> duplica su capacidad de almacenamiento, entonces la capacidad total sería de 2 * 168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 336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Usando la fórmula de la tasa de bits, encontramos que 336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 150 Mbps = tiempo. Resolviendo para el tiempo obtenemos aproximadamente 2240 segundos. Como la velocidad del perro es de 5 m/s, la distancia sería 5 m/s * 2240 s = 11200 metros.</a:t>
            </a:r>
          </a:p>
          <a:p>
            <a:pPr marL="0" indent="0" algn="l">
              <a:spcBef>
                <a:spcPts val="0"/>
              </a:spcBef>
              <a:buNone/>
            </a:pPr>
            <a:endParaRPr lang="es-ES" sz="1100">
              <a:solidFill>
                <a:srgbClr val="000000"/>
              </a:solidFill>
              <a:latin typeface="Calibri" panose="020F0502020204030204" pitchFamily="34" charset="0"/>
            </a:endParaRPr>
          </a:p>
          <a:p>
            <a:pPr algn="l">
              <a:spcBef>
                <a:spcPts val="0"/>
              </a:spcBef>
            </a:pPr>
            <a:r>
              <a:rPr lang="es-ES" sz="1100" b="1">
                <a:solidFill>
                  <a:srgbClr val="000000"/>
                </a:solidFill>
                <a:latin typeface="Calibri" panose="020F0502020204030204" pitchFamily="34" charset="0"/>
              </a:rPr>
              <a:t>f)</a:t>
            </a:r>
            <a:r>
              <a:rPr lang="es-ES" sz="1100">
                <a:solidFill>
                  <a:srgbClr val="000000"/>
                </a:solidFill>
                <a:latin typeface="Calibri" panose="020F0502020204030204" pitchFamily="34" charset="0"/>
              </a:rPr>
              <a:t> Si la línea de transmisión es ahora de 300 Mbps, entonces usando la fórmula de la tasa de bits con la capacidad original de 168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encontramos que 168 </a:t>
            </a:r>
            <a:r>
              <a:rPr lang="es-ES" sz="1100" err="1">
                <a:solidFill>
                  <a:srgbClr val="000000"/>
                </a:solidFill>
                <a:latin typeface="Calibri" panose="020F0502020204030204" pitchFamily="34" charset="0"/>
              </a:rPr>
              <a:t>Gbits</a:t>
            </a:r>
            <a:r>
              <a:rPr lang="es-ES" sz="1100">
                <a:solidFill>
                  <a:srgbClr val="000000"/>
                </a:solidFill>
                <a:latin typeface="Calibri" panose="020F0502020204030204" pitchFamily="34" charset="0"/>
              </a:rPr>
              <a:t> / 300 Mbps = tiempo. Resolviendo para el tiempo obtenemos aproximadamente 560 segundos. Como la velocidad del perro es de 5 m/s, la distancia sería 5 m/s * 560 s = 2800 metros.</a:t>
            </a: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662544" y="692722"/>
            <a:ext cx="10178474" cy="2736277"/>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b="0" i="0" u="none" strike="noStrike" baseline="0">
                <a:solidFill>
                  <a:srgbClr val="000000"/>
                </a:solidFill>
                <a:latin typeface="Calibri" panose="020F0502020204030204" pitchFamily="34" charset="0"/>
              </a:rPr>
              <a:t>Imagine que un perro mascota tiene en su collar 3 </a:t>
            </a:r>
            <a:r>
              <a:rPr lang="es-ES" sz="1400" b="0" i="0" u="none" strike="noStrike" baseline="0" err="1">
                <a:solidFill>
                  <a:srgbClr val="000000"/>
                </a:solidFill>
                <a:latin typeface="Calibri" panose="020F0502020204030204" pitchFamily="34" charset="0"/>
              </a:rPr>
              <a:t>cassettes</a:t>
            </a:r>
            <a:r>
              <a:rPr lang="es-ES" sz="1400" b="0" i="0" u="none" strike="noStrike" baseline="0">
                <a:solidFill>
                  <a:srgbClr val="000000"/>
                </a:solidFill>
                <a:latin typeface="Calibri" panose="020F0502020204030204" pitchFamily="34" charset="0"/>
              </a:rPr>
              <a:t> de cinta magnética, donde cada uno almacena 7 </a:t>
            </a:r>
            <a:r>
              <a:rPr lang="es-ES" sz="1400" b="0" i="0" u="none" strike="noStrike" baseline="0" err="1">
                <a:solidFill>
                  <a:srgbClr val="000000"/>
                </a:solidFill>
                <a:latin typeface="Calibri" panose="020F0502020204030204" pitchFamily="34" charset="0"/>
              </a:rPr>
              <a:t>GBytes</a:t>
            </a:r>
            <a:r>
              <a:rPr lang="es-ES" sz="1400" b="0" i="0" u="none" strike="noStrike" baseline="0">
                <a:solidFill>
                  <a:srgbClr val="000000"/>
                </a:solidFill>
                <a:latin typeface="Calibri" panose="020F0502020204030204" pitchFamily="34" charset="0"/>
              </a:rPr>
              <a:t>. Cuando el disco rígido de la PC de su dueño se llena, el perro va a buscar nuevos </a:t>
            </a:r>
            <a:r>
              <a:rPr lang="es-ES" sz="1400" b="0" i="0" u="none" strike="noStrike" baseline="0" err="1">
                <a:solidFill>
                  <a:srgbClr val="000000"/>
                </a:solidFill>
                <a:latin typeface="Calibri" panose="020F0502020204030204" pitchFamily="34" charset="0"/>
              </a:rPr>
              <a:t>cassettes</a:t>
            </a:r>
            <a:r>
              <a:rPr lang="es-ES" sz="1400" b="0" i="0" u="none" strike="noStrike" baseline="0">
                <a:solidFill>
                  <a:srgbClr val="000000"/>
                </a:solidFill>
                <a:latin typeface="Calibri" panose="020F0502020204030204" pitchFamily="34" charset="0"/>
              </a:rPr>
              <a:t> vacíos para hacer espacio en la PC, corriendo a 18 Km/h. </a:t>
            </a:r>
          </a:p>
          <a:p>
            <a:endParaRPr lang="es-ES" sz="1400" b="0" i="0" u="none" strike="noStrike" baseline="0">
              <a:solidFill>
                <a:srgbClr val="000000"/>
              </a:solidFill>
              <a:latin typeface="Calibri" panose="020F0502020204030204" pitchFamily="34" charset="0"/>
            </a:endParaRPr>
          </a:p>
          <a:p>
            <a:r>
              <a:rPr lang="es-ES" sz="1400" b="1" i="0" u="none" strike="noStrike" baseline="0">
                <a:solidFill>
                  <a:srgbClr val="000000"/>
                </a:solidFill>
                <a:latin typeface="Calibri" panose="020F0502020204030204" pitchFamily="34" charset="0"/>
              </a:rPr>
              <a:t>a)</a:t>
            </a:r>
            <a:r>
              <a:rPr lang="es-ES" sz="1400" b="0" i="0" u="none" strike="noStrike" baseline="0">
                <a:solidFill>
                  <a:srgbClr val="000000"/>
                </a:solidFill>
                <a:latin typeface="Calibri" panose="020F0502020204030204" pitchFamily="34" charset="0"/>
              </a:rPr>
              <a:t> Si la distancia a recorrer por el perro es de 500 metros, calcular la tasa de bits o velocidad de datos (bit-</a:t>
            </a:r>
            <a:r>
              <a:rPr lang="es-ES" sz="1400" b="0" i="0" u="none" strike="noStrike" baseline="0" err="1">
                <a:solidFill>
                  <a:srgbClr val="000000"/>
                </a:solidFill>
                <a:latin typeface="Calibri" panose="020F0502020204030204" pitchFamily="34" charset="0"/>
              </a:rPr>
              <a:t>rate</a:t>
            </a:r>
            <a:r>
              <a:rPr lang="es-ES" sz="1400" b="0" i="0" u="none" strike="noStrike" baseline="0">
                <a:solidFill>
                  <a:srgbClr val="000000"/>
                </a:solidFill>
                <a:latin typeface="Calibri" panose="020F0502020204030204" pitchFamily="34" charset="0"/>
              </a:rPr>
              <a:t>) que logra el perro corriendo a 18 Km/h, en Mbps. </a:t>
            </a:r>
          </a:p>
          <a:p>
            <a:r>
              <a:rPr lang="es-ES" sz="1400" b="1" i="0" u="none" strike="noStrike" baseline="0">
                <a:solidFill>
                  <a:srgbClr val="000000"/>
                </a:solidFill>
                <a:latin typeface="Calibri" panose="020F0502020204030204" pitchFamily="34" charset="0"/>
              </a:rPr>
              <a:t>b)</a:t>
            </a:r>
            <a:r>
              <a:rPr lang="es-ES" sz="1400" b="0" i="0" u="none" strike="noStrike" baseline="0">
                <a:solidFill>
                  <a:srgbClr val="000000"/>
                </a:solidFill>
                <a:latin typeface="Calibri" panose="020F0502020204030204" pitchFamily="34" charset="0"/>
              </a:rPr>
              <a:t> Calcular el retardo que resulta en esta transmisión de datos. </a:t>
            </a:r>
          </a:p>
          <a:p>
            <a:r>
              <a:rPr lang="es-ES" sz="1400" b="1" i="0" u="none" strike="noStrike" baseline="0">
                <a:solidFill>
                  <a:srgbClr val="000000"/>
                </a:solidFill>
                <a:latin typeface="Calibri" panose="020F0502020204030204" pitchFamily="34" charset="0"/>
              </a:rPr>
              <a:t>c)</a:t>
            </a:r>
            <a:r>
              <a:rPr lang="es-ES" sz="1400" b="0" i="0" u="none" strike="noStrike" baseline="0">
                <a:solidFill>
                  <a:srgbClr val="000000"/>
                </a:solidFill>
                <a:latin typeface="Calibri" panose="020F0502020204030204" pitchFamily="34" charset="0"/>
              </a:rPr>
              <a:t> ¿Hasta qué distancia el perro debería correr para lograr un bit-</a:t>
            </a:r>
            <a:r>
              <a:rPr lang="es-ES" sz="1400" b="0" i="0" u="none" strike="noStrike" baseline="0" err="1">
                <a:solidFill>
                  <a:srgbClr val="000000"/>
                </a:solidFill>
                <a:latin typeface="Calibri" panose="020F0502020204030204" pitchFamily="34" charset="0"/>
              </a:rPr>
              <a:t>rate</a:t>
            </a:r>
            <a:r>
              <a:rPr lang="es-ES" sz="1400" b="0" i="0" u="none" strike="noStrike" baseline="0">
                <a:solidFill>
                  <a:srgbClr val="000000"/>
                </a:solidFill>
                <a:latin typeface="Calibri" panose="020F0502020204030204" pitchFamily="34" charset="0"/>
              </a:rPr>
              <a:t> similar al de una línea de transmisión de datos de 150 Mbps? </a:t>
            </a:r>
          </a:p>
          <a:p>
            <a:r>
              <a:rPr lang="es-ES" sz="1400" b="1" i="0" u="none" strike="noStrike" baseline="0">
                <a:solidFill>
                  <a:srgbClr val="000000"/>
                </a:solidFill>
                <a:latin typeface="Calibri" panose="020F0502020204030204" pitchFamily="34" charset="0"/>
              </a:rPr>
              <a:t>d)</a:t>
            </a:r>
            <a:r>
              <a:rPr lang="es-ES" sz="1400" b="0" i="0" u="none" strike="noStrike" baseline="0">
                <a:solidFill>
                  <a:srgbClr val="000000"/>
                </a:solidFill>
                <a:latin typeface="Calibri" panose="020F0502020204030204" pitchFamily="34" charset="0"/>
              </a:rPr>
              <a:t> ¿Cuál sería la distancia a recorrer por el perro para igualar la línea de 150 Mbps, si el perro duplicara su velocidad? </a:t>
            </a:r>
          </a:p>
          <a:p>
            <a:r>
              <a:rPr lang="es-ES" sz="1400" b="1" i="0" u="none" strike="noStrike" baseline="0">
                <a:solidFill>
                  <a:srgbClr val="000000"/>
                </a:solidFill>
                <a:latin typeface="Calibri" panose="020F0502020204030204" pitchFamily="34" charset="0"/>
              </a:rPr>
              <a:t>e)</a:t>
            </a:r>
            <a:r>
              <a:rPr lang="es-ES" sz="1400" b="0" i="0" u="none" strike="noStrike" baseline="0">
                <a:solidFill>
                  <a:srgbClr val="000000"/>
                </a:solidFill>
                <a:latin typeface="Calibri" panose="020F0502020204030204" pitchFamily="34" charset="0"/>
              </a:rPr>
              <a:t> ¿Cuál sería la distancia a recorrer para igualar la línea de 150 Mbps, si cada </a:t>
            </a:r>
            <a:r>
              <a:rPr lang="es-ES" sz="1400" b="0" i="0" u="none" strike="noStrike" baseline="0" err="1">
                <a:solidFill>
                  <a:srgbClr val="000000"/>
                </a:solidFill>
                <a:latin typeface="Calibri" panose="020F0502020204030204" pitchFamily="34" charset="0"/>
              </a:rPr>
              <a:t>cassette</a:t>
            </a:r>
            <a:r>
              <a:rPr lang="es-ES" sz="1400" b="0" i="0" u="none" strike="noStrike" baseline="0">
                <a:solidFill>
                  <a:srgbClr val="000000"/>
                </a:solidFill>
                <a:latin typeface="Calibri" panose="020F0502020204030204" pitchFamily="34" charset="0"/>
              </a:rPr>
              <a:t> duplicara su capacidad de almacenamiento y el perro mantiene sus 18 Km/h? </a:t>
            </a:r>
          </a:p>
          <a:p>
            <a:r>
              <a:rPr lang="es-ES" sz="1400" b="1" i="0" u="none" strike="noStrike" baseline="0">
                <a:solidFill>
                  <a:srgbClr val="000000"/>
                </a:solidFill>
                <a:latin typeface="Calibri" panose="020F0502020204030204" pitchFamily="34" charset="0"/>
              </a:rPr>
              <a:t>f) </a:t>
            </a:r>
            <a:r>
              <a:rPr lang="es-ES" sz="1400" b="0" i="0" u="none" strike="noStrike" baseline="0">
                <a:solidFill>
                  <a:srgbClr val="000000"/>
                </a:solidFill>
                <a:latin typeface="Calibri" panose="020F0502020204030204" pitchFamily="34" charset="0"/>
              </a:rPr>
              <a:t>¿Cuál sería la distancia, si la línea de transmisión fuese ahora de 300 Mbps? </a:t>
            </a:r>
            <a:endParaRPr lang="es-AR"/>
          </a:p>
        </p:txBody>
      </p:sp>
    </p:spTree>
    <p:extLst>
      <p:ext uri="{BB962C8B-B14F-4D97-AF65-F5344CB8AC3E}">
        <p14:creationId xmlns:p14="http://schemas.microsoft.com/office/powerpoint/2010/main" val="149224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50630" y="497049"/>
            <a:ext cx="7417447" cy="488079"/>
          </a:xfrm>
        </p:spPr>
        <p:txBody>
          <a:bodyPr wrap="none">
            <a:noAutofit/>
          </a:bodyPr>
          <a:lstStyle/>
          <a:p>
            <a:r>
              <a:rPr lang="es-AR" sz="2800" b="1"/>
              <a:t>Practica 2 </a:t>
            </a:r>
          </a:p>
        </p:txBody>
      </p:sp>
      <p:sp>
        <p:nvSpPr>
          <p:cNvPr id="14" name="Marcador de contenido 2"/>
          <p:cNvSpPr>
            <a:spLocks noGrp="1"/>
          </p:cNvSpPr>
          <p:nvPr>
            <p:ph idx="1"/>
          </p:nvPr>
        </p:nvSpPr>
        <p:spPr>
          <a:xfrm>
            <a:off x="2314575" y="3001752"/>
            <a:ext cx="9526443" cy="3115159"/>
          </a:xfrm>
        </p:spPr>
        <p:txBody>
          <a:bodyPr tIns="0" bIns="0">
            <a:normAutofit/>
          </a:bodyPr>
          <a:lstStyle/>
          <a:p>
            <a:pPr marL="0" indent="0">
              <a:spcBef>
                <a:spcPts val="0"/>
              </a:spcBef>
              <a:buNone/>
            </a:pPr>
            <a:endParaRPr lang="es-ES" sz="1200">
              <a:solidFill>
                <a:srgbClr val="000000"/>
              </a:solidFill>
              <a:latin typeface="Calibri" panose="020F0502020204030204" pitchFamily="34" charset="0"/>
            </a:endParaRPr>
          </a:p>
          <a:p>
            <a:pPr marL="0" indent="0">
              <a:spcBef>
                <a:spcPts val="0"/>
              </a:spcBef>
              <a:buNone/>
            </a:pPr>
            <a:r>
              <a:rPr lang="es-ES" sz="1200">
                <a:solidFill>
                  <a:srgbClr val="000000"/>
                </a:solidFill>
                <a:latin typeface="Calibri" panose="020F0502020204030204" pitchFamily="34" charset="0"/>
              </a:rPr>
              <a:t>La velocidad de la luz en el vacío es de </a:t>
            </a:r>
            <a:r>
              <a:rPr lang="es-AR" sz="1200">
                <a:solidFill>
                  <a:srgbClr val="000000"/>
                </a:solidFill>
                <a:latin typeface="Calibri" panose="020F0502020204030204" pitchFamily="34" charset="0"/>
              </a:rPr>
              <a:t>299.792,458 km/s, para el cálculo usaremos </a:t>
            </a:r>
            <a:r>
              <a:rPr lang="es-AR" sz="1200" b="1">
                <a:solidFill>
                  <a:srgbClr val="000000"/>
                </a:solidFill>
                <a:latin typeface="Calibri" panose="020F0502020204030204" pitchFamily="34" charset="0"/>
              </a:rPr>
              <a:t>300.000km/s</a:t>
            </a:r>
          </a:p>
          <a:p>
            <a:pPr marL="0" indent="0">
              <a:spcBef>
                <a:spcPts val="0"/>
              </a:spcBef>
              <a:buNone/>
            </a:pPr>
            <a:endParaRPr lang="es-AR" sz="1200" b="1">
              <a:solidFill>
                <a:srgbClr val="000000"/>
              </a:solidFill>
              <a:latin typeface="Calibri" panose="020F0502020204030204" pitchFamily="34" charset="0"/>
            </a:endParaRPr>
          </a:p>
          <a:p>
            <a:pPr marL="0" indent="0">
              <a:spcBef>
                <a:spcPts val="0"/>
              </a:spcBef>
              <a:buNone/>
            </a:pPr>
            <a:r>
              <a:rPr lang="es-ES" sz="1200">
                <a:solidFill>
                  <a:srgbClr val="000000"/>
                </a:solidFill>
                <a:latin typeface="Calibri" panose="020F0502020204030204" pitchFamily="34" charset="0"/>
              </a:rPr>
              <a:t>Calculemos el tiempo de propagación para después compararlo con el “</a:t>
            </a:r>
            <a:r>
              <a:rPr lang="es-ES" sz="1200" err="1">
                <a:solidFill>
                  <a:srgbClr val="000000"/>
                </a:solidFill>
                <a:latin typeface="Calibri" panose="020F0502020204030204" pitchFamily="34" charset="0"/>
              </a:rPr>
              <a:t>switching</a:t>
            </a:r>
            <a:r>
              <a:rPr lang="es-ES" sz="1200">
                <a:solidFill>
                  <a:srgbClr val="000000"/>
                </a:solidFill>
                <a:latin typeface="Calibri" panose="020F0502020204030204" pitchFamily="34" charset="0"/>
              </a:rPr>
              <a:t> time”. </a:t>
            </a:r>
          </a:p>
          <a:p>
            <a:pPr marL="0" indent="0">
              <a:spcBef>
                <a:spcPts val="0"/>
              </a:spcBef>
              <a:buNone/>
            </a:pPr>
            <a:endParaRPr lang="es-AR" sz="1200">
              <a:solidFill>
                <a:srgbClr val="000000"/>
              </a:solidFill>
              <a:latin typeface="Calibri" panose="020F0502020204030204" pitchFamily="34" charset="0"/>
            </a:endParaRPr>
          </a:p>
          <a:p>
            <a:pPr marL="0" indent="0">
              <a:spcBef>
                <a:spcPts val="0"/>
              </a:spcBef>
              <a:buNone/>
            </a:pPr>
            <a:r>
              <a:rPr lang="es-AR" sz="1200">
                <a:solidFill>
                  <a:srgbClr val="000000"/>
                </a:solidFill>
                <a:latin typeface="Calibri" panose="020F0502020204030204" pitchFamily="34" charset="0"/>
              </a:rPr>
              <a:t>Tiempo de propagación =&gt;  Distancia / Velocidad = 300 Km / (300000 Km/s) = 0,001 s = 1 ms = 1000 </a:t>
            </a:r>
            <a:r>
              <a:rPr lang="el-GR" sz="1200">
                <a:solidFill>
                  <a:srgbClr val="000000"/>
                </a:solidFill>
                <a:latin typeface="Calibri" panose="020F0502020204030204" pitchFamily="34" charset="0"/>
              </a:rPr>
              <a:t>μ</a:t>
            </a:r>
            <a:r>
              <a:rPr lang="es-AR" sz="1200">
                <a:solidFill>
                  <a:srgbClr val="000000"/>
                </a:solidFill>
                <a:latin typeface="Calibri" panose="020F0502020204030204" pitchFamily="34" charset="0"/>
              </a:rPr>
              <a:t>s. </a:t>
            </a:r>
          </a:p>
          <a:p>
            <a:pPr marL="0" indent="0">
              <a:spcBef>
                <a:spcPts val="0"/>
              </a:spcBef>
              <a:buNone/>
            </a:pPr>
            <a:endParaRPr lang="es-ES" sz="1200">
              <a:solidFill>
                <a:srgbClr val="000000"/>
              </a:solidFill>
              <a:latin typeface="Calibri" panose="020F0502020204030204" pitchFamily="34" charset="0"/>
            </a:endParaRPr>
          </a:p>
          <a:p>
            <a:pPr marL="0" indent="0">
              <a:spcBef>
                <a:spcPts val="0"/>
              </a:spcBef>
              <a:buNone/>
            </a:pPr>
            <a:r>
              <a:rPr lang="es-ES" sz="1200">
                <a:solidFill>
                  <a:srgbClr val="000000"/>
                </a:solidFill>
                <a:latin typeface="Calibri" panose="020F0502020204030204" pitchFamily="34" charset="0"/>
              </a:rPr>
              <a:t>	La distancia entre Rosario y Buenos Aires es de 300 Km y el tiempo de propagación es  1000</a:t>
            </a:r>
            <a:r>
              <a:rPr lang="el-GR" sz="1200">
                <a:solidFill>
                  <a:srgbClr val="000000"/>
                </a:solidFill>
                <a:latin typeface="Calibri" panose="020F0502020204030204" pitchFamily="34" charset="0"/>
              </a:rPr>
              <a:t> μ</a:t>
            </a:r>
            <a:r>
              <a:rPr lang="es-AR" sz="1200">
                <a:solidFill>
                  <a:srgbClr val="000000"/>
                </a:solidFill>
                <a:latin typeface="Calibri" panose="020F0502020204030204" pitchFamily="34" charset="0"/>
              </a:rPr>
              <a:t>s. </a:t>
            </a:r>
          </a:p>
          <a:p>
            <a:pPr marL="0" indent="0">
              <a:spcBef>
                <a:spcPts val="0"/>
              </a:spcBef>
              <a:buNone/>
            </a:pPr>
            <a:r>
              <a:rPr lang="es-AR" sz="1200">
                <a:solidFill>
                  <a:srgbClr val="000000"/>
                </a:solidFill>
                <a:latin typeface="Calibri" panose="020F0502020204030204" pitchFamily="34" charset="0"/>
              </a:rPr>
              <a:t>	El </a:t>
            </a:r>
            <a:r>
              <a:rPr lang="es-AR" sz="1200" err="1">
                <a:solidFill>
                  <a:srgbClr val="000000"/>
                </a:solidFill>
                <a:latin typeface="Calibri" panose="020F0502020204030204" pitchFamily="34" charset="0"/>
              </a:rPr>
              <a:t>switching</a:t>
            </a:r>
            <a:r>
              <a:rPr lang="es-AR" sz="1200">
                <a:solidFill>
                  <a:srgbClr val="000000"/>
                </a:solidFill>
                <a:latin typeface="Calibri" panose="020F0502020204030204" pitchFamily="34" charset="0"/>
              </a:rPr>
              <a:t> time es 10</a:t>
            </a:r>
            <a:r>
              <a:rPr lang="el-GR" sz="1200">
                <a:solidFill>
                  <a:srgbClr val="000000"/>
                </a:solidFill>
                <a:latin typeface="Calibri" panose="020F0502020204030204" pitchFamily="34" charset="0"/>
              </a:rPr>
              <a:t> μ</a:t>
            </a:r>
            <a:r>
              <a:rPr lang="es-AR" sz="1200">
                <a:solidFill>
                  <a:srgbClr val="000000"/>
                </a:solidFill>
                <a:latin typeface="Calibri" panose="020F0502020204030204" pitchFamily="34" charset="0"/>
              </a:rPr>
              <a:t>s. </a:t>
            </a:r>
          </a:p>
          <a:p>
            <a:pPr marL="0" indent="0">
              <a:spcBef>
                <a:spcPts val="0"/>
              </a:spcBef>
              <a:buNone/>
            </a:pPr>
            <a:endParaRPr lang="es-ES" sz="1200">
              <a:solidFill>
                <a:srgbClr val="000000"/>
              </a:solidFill>
              <a:latin typeface="Calibri" panose="020F0502020204030204" pitchFamily="34" charset="0"/>
            </a:endParaRPr>
          </a:p>
          <a:p>
            <a:pPr marL="0" indent="0">
              <a:spcBef>
                <a:spcPts val="0"/>
              </a:spcBef>
              <a:buNone/>
            </a:pPr>
            <a:endParaRPr lang="es-ES" sz="1200">
              <a:solidFill>
                <a:srgbClr val="000000"/>
              </a:solidFill>
              <a:latin typeface="Calibri" panose="020F0502020204030204" pitchFamily="34" charset="0"/>
            </a:endParaRPr>
          </a:p>
          <a:p>
            <a:pPr marL="0" indent="0">
              <a:spcBef>
                <a:spcPts val="0"/>
              </a:spcBef>
              <a:buNone/>
            </a:pPr>
            <a:r>
              <a:rPr lang="es-ES" sz="1200">
                <a:solidFill>
                  <a:srgbClr val="000000"/>
                </a:solidFill>
                <a:latin typeface="Calibri" panose="020F0502020204030204" pitchFamily="34" charset="0"/>
              </a:rPr>
              <a:t>Por lo tanto, no es importante un “</a:t>
            </a:r>
            <a:r>
              <a:rPr lang="es-ES" sz="1200" err="1">
                <a:solidFill>
                  <a:srgbClr val="000000"/>
                </a:solidFill>
                <a:latin typeface="Calibri" panose="020F0502020204030204" pitchFamily="34" charset="0"/>
              </a:rPr>
              <a:t>switching</a:t>
            </a:r>
            <a:r>
              <a:rPr lang="es-ES" sz="1200">
                <a:solidFill>
                  <a:srgbClr val="000000"/>
                </a:solidFill>
                <a:latin typeface="Calibri" panose="020F0502020204030204" pitchFamily="34" charset="0"/>
              </a:rPr>
              <a:t> time” de </a:t>
            </a:r>
            <a:r>
              <a:rPr lang="es-AR" sz="1200">
                <a:solidFill>
                  <a:srgbClr val="000000"/>
                </a:solidFill>
                <a:latin typeface="Calibri" panose="020F0502020204030204" pitchFamily="34" charset="0"/>
              </a:rPr>
              <a:t>10</a:t>
            </a:r>
            <a:r>
              <a:rPr lang="el-GR" sz="1200">
                <a:solidFill>
                  <a:srgbClr val="000000"/>
                </a:solidFill>
                <a:latin typeface="Calibri" panose="020F0502020204030204" pitchFamily="34" charset="0"/>
              </a:rPr>
              <a:t> μ</a:t>
            </a:r>
            <a:r>
              <a:rPr lang="es-AR" sz="1200">
                <a:solidFill>
                  <a:srgbClr val="000000"/>
                </a:solidFill>
                <a:latin typeface="Calibri" panose="020F0502020204030204" pitchFamily="34" charset="0"/>
              </a:rPr>
              <a:t>s</a:t>
            </a:r>
            <a:r>
              <a:rPr lang="es-ES" sz="1200">
                <a:solidFill>
                  <a:srgbClr val="000000"/>
                </a:solidFill>
                <a:latin typeface="Calibri" panose="020F0502020204030204" pitchFamily="34" charset="0"/>
              </a:rPr>
              <a:t>, que es 100 veces más chico, que el retardo. </a:t>
            </a: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662544" y="1070636"/>
            <a:ext cx="10178474" cy="1824964"/>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a:solidFill>
                  <a:srgbClr val="000000"/>
                </a:solidFill>
                <a:latin typeface="Calibri" panose="020F0502020204030204" pitchFamily="34" charset="0"/>
              </a:rPr>
              <a:t>Un pequeño retardo ocurre en cada paquete de datos que atraviesa un switch de la red, desde que éste lo recibe, hasta que lo retransmite. </a:t>
            </a:r>
          </a:p>
          <a:p>
            <a:r>
              <a:rPr lang="es-ES" sz="1400">
                <a:solidFill>
                  <a:srgbClr val="000000"/>
                </a:solidFill>
                <a:latin typeface="Calibri" panose="020F0502020204030204" pitchFamily="34" charset="0"/>
              </a:rPr>
              <a:t>Suponiendo que este “</a:t>
            </a:r>
            <a:r>
              <a:rPr lang="es-ES" sz="1400" err="1">
                <a:solidFill>
                  <a:srgbClr val="000000"/>
                </a:solidFill>
                <a:latin typeface="Calibri" panose="020F0502020204030204" pitchFamily="34" charset="0"/>
              </a:rPr>
              <a:t>switching</a:t>
            </a:r>
            <a:r>
              <a:rPr lang="es-ES" sz="1400">
                <a:solidFill>
                  <a:srgbClr val="000000"/>
                </a:solidFill>
                <a:latin typeface="Calibri" panose="020F0502020204030204" pitchFamily="34" charset="0"/>
              </a:rPr>
              <a:t> time” fuera de 10 </a:t>
            </a:r>
            <a:r>
              <a:rPr lang="es-ES" sz="1400" err="1">
                <a:solidFill>
                  <a:srgbClr val="000000"/>
                </a:solidFill>
                <a:latin typeface="Calibri" panose="020F0502020204030204" pitchFamily="34" charset="0"/>
              </a:rPr>
              <a:t>μs</a:t>
            </a:r>
            <a:r>
              <a:rPr lang="es-ES" sz="1400">
                <a:solidFill>
                  <a:srgbClr val="000000"/>
                </a:solidFill>
                <a:latin typeface="Calibri" panose="020F0502020204030204" pitchFamily="34" charset="0"/>
              </a:rPr>
              <a:t> (micro segundos) </a:t>
            </a:r>
          </a:p>
          <a:p>
            <a:r>
              <a:rPr lang="es-ES" sz="1400">
                <a:solidFill>
                  <a:srgbClr val="000000"/>
                </a:solidFill>
                <a:latin typeface="Calibri" panose="020F0502020204030204" pitchFamily="34" charset="0"/>
              </a:rPr>
              <a:t>¿es importante este retardo en una transmisión de datos entre Buenos Aires y Rosario? (distancia = 300 Km). </a:t>
            </a:r>
          </a:p>
          <a:p>
            <a:endParaRPr lang="es-ES" sz="1400">
              <a:solidFill>
                <a:srgbClr val="000000"/>
              </a:solidFill>
              <a:latin typeface="Calibri" panose="020F0502020204030204" pitchFamily="34" charset="0"/>
            </a:endParaRPr>
          </a:p>
          <a:p>
            <a:r>
              <a:rPr lang="es-ES" sz="1200" b="0" i="0" u="none" strike="noStrike" baseline="0">
                <a:solidFill>
                  <a:srgbClr val="000000"/>
                </a:solidFill>
                <a:latin typeface="Calibri" panose="020F0502020204030204" pitchFamily="34" charset="0"/>
              </a:rPr>
              <a:t>(Por simplicidad, asumir que la velocidad de propagación de las señales en los cables de cobre o fibra óptica es igual a la velocidad de la luz en el vacío). </a:t>
            </a:r>
            <a:endParaRPr lang="es-AR" sz="1050">
              <a:solidFill>
                <a:srgbClr val="000000"/>
              </a:solidFill>
              <a:latin typeface="Calibri" panose="020F0502020204030204" pitchFamily="34" charset="0"/>
            </a:endParaRPr>
          </a:p>
        </p:txBody>
      </p:sp>
    </p:spTree>
    <p:extLst>
      <p:ext uri="{BB962C8B-B14F-4D97-AF65-F5344CB8AC3E}">
        <p14:creationId xmlns:p14="http://schemas.microsoft.com/office/powerpoint/2010/main" val="66979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50630" y="497049"/>
            <a:ext cx="7417447" cy="488079"/>
          </a:xfrm>
        </p:spPr>
        <p:txBody>
          <a:bodyPr wrap="none">
            <a:noAutofit/>
          </a:bodyPr>
          <a:lstStyle/>
          <a:p>
            <a:r>
              <a:rPr lang="es-AR" sz="2800" b="1"/>
              <a:t>Practica 3 </a:t>
            </a:r>
          </a:p>
        </p:txBody>
      </p:sp>
      <p:sp>
        <p:nvSpPr>
          <p:cNvPr id="14" name="Marcador de contenido 2"/>
          <p:cNvSpPr>
            <a:spLocks noGrp="1"/>
          </p:cNvSpPr>
          <p:nvPr>
            <p:ph idx="1"/>
          </p:nvPr>
        </p:nvSpPr>
        <p:spPr>
          <a:xfrm>
            <a:off x="1662544" y="2933084"/>
            <a:ext cx="10092749" cy="3508653"/>
          </a:xfrm>
        </p:spPr>
        <p:txBody>
          <a:bodyPr wrap="none" tIns="0" bIns="0">
            <a:noAutofit/>
          </a:bodyPr>
          <a:lstStyle/>
          <a:p>
            <a:pPr marL="0" indent="0">
              <a:spcBef>
                <a:spcPts val="0"/>
              </a:spcBef>
              <a:buNone/>
            </a:pPr>
            <a:r>
              <a:rPr lang="es-ES" sz="1200" b="1">
                <a:solidFill>
                  <a:srgbClr val="000000"/>
                </a:solidFill>
                <a:latin typeface="Calibri" panose="020F0502020204030204" pitchFamily="34" charset="0"/>
              </a:rPr>
              <a:t>a) Gran tasa de bits con un gran retardo</a:t>
            </a:r>
            <a:r>
              <a:rPr lang="es-ES" sz="1200">
                <a:solidFill>
                  <a:srgbClr val="000000"/>
                </a:solidFill>
                <a:latin typeface="Calibri" panose="020F0502020204030204" pitchFamily="34" charset="0"/>
              </a:rPr>
              <a:t>: </a:t>
            </a:r>
          </a:p>
          <a:p>
            <a:pPr marL="400050" lvl="1" indent="0">
              <a:spcBef>
                <a:spcPts val="0"/>
              </a:spcBef>
              <a:buNone/>
            </a:pPr>
            <a:r>
              <a:rPr lang="es-ES" sz="1200">
                <a:solidFill>
                  <a:srgbClr val="000000"/>
                </a:solidFill>
                <a:latin typeface="Calibri" panose="020F0502020204030204" pitchFamily="34" charset="0"/>
              </a:rPr>
              <a:t> Un camión transportando muchos discos rígidos de datos. </a:t>
            </a:r>
          </a:p>
          <a:p>
            <a:pPr marL="0" indent="0">
              <a:spcBef>
                <a:spcPts val="0"/>
              </a:spcBef>
              <a:buNone/>
            </a:pPr>
            <a:r>
              <a:rPr lang="es-ES" sz="1200">
                <a:solidFill>
                  <a:srgbClr val="000000"/>
                </a:solidFill>
                <a:latin typeface="Calibri" panose="020F0502020204030204" pitchFamily="34" charset="0"/>
              </a:rPr>
              <a:t>	Supongamos un camión que lleva, por ejemplo, 1000 discos rígidos de 1 </a:t>
            </a:r>
            <a:r>
              <a:rPr lang="es-ES" sz="1200" err="1">
                <a:solidFill>
                  <a:srgbClr val="000000"/>
                </a:solidFill>
                <a:latin typeface="Calibri" panose="020F0502020204030204" pitchFamily="34" charset="0"/>
              </a:rPr>
              <a:t>TeraBytes</a:t>
            </a:r>
            <a:r>
              <a:rPr lang="es-ES" sz="1200">
                <a:solidFill>
                  <a:srgbClr val="000000"/>
                </a:solidFill>
                <a:latin typeface="Calibri" panose="020F0502020204030204" pitchFamily="34" charset="0"/>
              </a:rPr>
              <a:t> a 1 Km de distancia y que se mueve a una velocidad promedio de 60 Km/hora. </a:t>
            </a:r>
          </a:p>
          <a:p>
            <a:pPr marL="0" indent="0">
              <a:spcBef>
                <a:spcPts val="0"/>
              </a:spcBef>
              <a:buNone/>
            </a:pPr>
            <a:endParaRPr lang="es-ES" sz="1200">
              <a:solidFill>
                <a:srgbClr val="000000"/>
              </a:solidFill>
              <a:latin typeface="Calibri" panose="020F0502020204030204" pitchFamily="34" charset="0"/>
            </a:endParaRPr>
          </a:p>
          <a:p>
            <a:pPr marL="0" indent="0">
              <a:spcBef>
                <a:spcPts val="0"/>
              </a:spcBef>
              <a:buNone/>
            </a:pPr>
            <a:r>
              <a:rPr lang="es-ES" sz="1200">
                <a:solidFill>
                  <a:srgbClr val="000000"/>
                </a:solidFill>
                <a:latin typeface="Calibri" panose="020F0502020204030204" pitchFamily="34" charset="0"/>
              </a:rPr>
              <a:t>		El tiempo que demora el camión es el retardo: </a:t>
            </a:r>
          </a:p>
          <a:p>
            <a:pPr marL="0" indent="0">
              <a:spcBef>
                <a:spcPts val="0"/>
              </a:spcBef>
              <a:buNone/>
            </a:pPr>
            <a:r>
              <a:rPr lang="es-AR" sz="1200">
                <a:solidFill>
                  <a:srgbClr val="000000"/>
                </a:solidFill>
                <a:latin typeface="Calibri" panose="020F0502020204030204" pitchFamily="34" charset="0"/>
              </a:rPr>
              <a:t>		Tiempo = Distancia / Velocidad 	=&gt; 1 Km / (60 Km/hora) = 0,0167 hora =&gt; 1 minuto (retardo). </a:t>
            </a:r>
          </a:p>
          <a:p>
            <a:pPr marL="0" indent="0">
              <a:spcBef>
                <a:spcPts val="0"/>
              </a:spcBef>
              <a:buNone/>
            </a:pPr>
            <a:r>
              <a:rPr lang="es-AR" sz="1200">
                <a:solidFill>
                  <a:srgbClr val="000000"/>
                </a:solidFill>
                <a:latin typeface="Calibri" panose="020F0502020204030204" pitchFamily="34" charset="0"/>
              </a:rPr>
              <a:t>		El Bit </a:t>
            </a:r>
            <a:r>
              <a:rPr lang="es-AR" sz="1200" err="1">
                <a:solidFill>
                  <a:srgbClr val="000000"/>
                </a:solidFill>
                <a:latin typeface="Calibri" panose="020F0502020204030204" pitchFamily="34" charset="0"/>
              </a:rPr>
              <a:t>Rate</a:t>
            </a:r>
            <a:r>
              <a:rPr lang="es-AR" sz="1200">
                <a:solidFill>
                  <a:srgbClr val="000000"/>
                </a:solidFill>
                <a:latin typeface="Calibri" panose="020F0502020204030204" pitchFamily="34" charset="0"/>
              </a:rPr>
              <a:t> = Bits / Tiempo 	=&gt; 1000 x 8 Terabits / 60 s. = 133 </a:t>
            </a:r>
            <a:r>
              <a:rPr lang="es-AR" sz="1200" err="1">
                <a:solidFill>
                  <a:srgbClr val="000000"/>
                </a:solidFill>
                <a:latin typeface="Calibri" panose="020F0502020204030204" pitchFamily="34" charset="0"/>
              </a:rPr>
              <a:t>Tbps</a:t>
            </a:r>
            <a:r>
              <a:rPr lang="es-AR" sz="1200">
                <a:solidFill>
                  <a:srgbClr val="000000"/>
                </a:solidFill>
                <a:latin typeface="Calibri" panose="020F0502020204030204" pitchFamily="34" charset="0"/>
              </a:rPr>
              <a:t> = 133.000 Gbps. </a:t>
            </a:r>
          </a:p>
          <a:p>
            <a:pPr marL="0" indent="0">
              <a:spcBef>
                <a:spcPts val="0"/>
              </a:spcBef>
              <a:buNone/>
            </a:pPr>
            <a:endParaRPr lang="es-AR" sz="1200">
              <a:solidFill>
                <a:srgbClr val="000000"/>
              </a:solidFill>
              <a:latin typeface="Calibri" panose="020F0502020204030204" pitchFamily="34" charset="0"/>
            </a:endParaRPr>
          </a:p>
          <a:p>
            <a:pPr marL="0" indent="0">
              <a:spcBef>
                <a:spcPts val="0"/>
              </a:spcBef>
              <a:buNone/>
            </a:pPr>
            <a:endParaRPr lang="es-AR" sz="1200">
              <a:solidFill>
                <a:srgbClr val="000000"/>
              </a:solidFill>
              <a:latin typeface="Calibri" panose="020F0502020204030204" pitchFamily="34" charset="0"/>
            </a:endParaRPr>
          </a:p>
          <a:p>
            <a:pPr marL="0" indent="0">
              <a:spcBef>
                <a:spcPts val="0"/>
              </a:spcBef>
              <a:buNone/>
            </a:pPr>
            <a:r>
              <a:rPr lang="es-ES" sz="1200" b="1">
                <a:solidFill>
                  <a:srgbClr val="000000"/>
                </a:solidFill>
                <a:latin typeface="Calibri" panose="020F0502020204030204" pitchFamily="34" charset="0"/>
              </a:rPr>
              <a:t>b) Baja tasa de bits y bajo retardo:</a:t>
            </a:r>
          </a:p>
          <a:p>
            <a:pPr marL="0" indent="0">
              <a:spcBef>
                <a:spcPts val="0"/>
              </a:spcBef>
              <a:buNone/>
            </a:pPr>
            <a:r>
              <a:rPr lang="es-ES" sz="1200" b="1">
                <a:solidFill>
                  <a:srgbClr val="000000"/>
                </a:solidFill>
                <a:latin typeface="Calibri" panose="020F0502020204030204" pitchFamily="34" charset="0"/>
              </a:rPr>
              <a:t>	</a:t>
            </a:r>
            <a:r>
              <a:rPr lang="es-ES" sz="1200">
                <a:solidFill>
                  <a:srgbClr val="000000"/>
                </a:solidFill>
                <a:latin typeface="Calibri" panose="020F0502020204030204" pitchFamily="34" charset="0"/>
              </a:rPr>
              <a:t> Una comunicación por telégrafo. </a:t>
            </a:r>
          </a:p>
          <a:p>
            <a:pPr marL="0" indent="0">
              <a:spcBef>
                <a:spcPts val="0"/>
              </a:spcBef>
              <a:buNone/>
            </a:pPr>
            <a:r>
              <a:rPr lang="es-ES" sz="1200">
                <a:solidFill>
                  <a:srgbClr val="000000"/>
                </a:solidFill>
                <a:latin typeface="Calibri" panose="020F0502020204030204" pitchFamily="34" charset="0"/>
              </a:rPr>
              <a:t>	Supongamos que el operador del telégrafo transmite 2 símbolos por segundo, a una distancia de 100 Km: </a:t>
            </a:r>
          </a:p>
          <a:p>
            <a:pPr marL="0" indent="0">
              <a:spcBef>
                <a:spcPts val="0"/>
              </a:spcBef>
              <a:buNone/>
            </a:pPr>
            <a:r>
              <a:rPr lang="es-ES" sz="1200">
                <a:solidFill>
                  <a:srgbClr val="000000"/>
                </a:solidFill>
                <a:latin typeface="Calibri" panose="020F0502020204030204" pitchFamily="34" charset="0"/>
              </a:rPr>
              <a:t>	(y supongamos que la velocidad de la señal en el cable del telégrafo es 2/3 de la velocidad de la luz). </a:t>
            </a:r>
          </a:p>
          <a:p>
            <a:pPr marL="0" indent="0">
              <a:spcBef>
                <a:spcPts val="0"/>
              </a:spcBef>
              <a:buNone/>
            </a:pPr>
            <a:r>
              <a:rPr lang="es-ES" sz="1200">
                <a:solidFill>
                  <a:srgbClr val="000000"/>
                </a:solidFill>
                <a:latin typeface="Calibri" panose="020F0502020204030204" pitchFamily="34" charset="0"/>
              </a:rPr>
              <a:t>	Considerando una codificación ASQII de 8 bits por cada letra del alfabeto:</a:t>
            </a:r>
          </a:p>
          <a:p>
            <a:pPr marL="0" indent="0">
              <a:spcBef>
                <a:spcPts val="0"/>
              </a:spcBef>
              <a:buNone/>
            </a:pPr>
            <a:r>
              <a:rPr lang="en-US" sz="1200">
                <a:solidFill>
                  <a:srgbClr val="000000"/>
                </a:solidFill>
                <a:latin typeface="Calibri" panose="020F0502020204030204" pitchFamily="34" charset="0"/>
              </a:rPr>
              <a:t>		Bit Rate = 2. 8 bits / 1 s = 16 bps. </a:t>
            </a:r>
          </a:p>
          <a:p>
            <a:pPr marL="0" indent="0">
              <a:spcBef>
                <a:spcPts val="0"/>
              </a:spcBef>
              <a:buNone/>
            </a:pPr>
            <a:r>
              <a:rPr lang="es-ES" sz="1200">
                <a:solidFill>
                  <a:srgbClr val="000000"/>
                </a:solidFill>
                <a:latin typeface="Calibri" panose="020F0502020204030204" pitchFamily="34" charset="0"/>
              </a:rPr>
              <a:t>		Retardo = retardo de transmisión = Distancia / Velocidad de propagación </a:t>
            </a:r>
          </a:p>
          <a:p>
            <a:pPr marL="0" indent="0">
              <a:spcBef>
                <a:spcPts val="0"/>
              </a:spcBef>
              <a:buNone/>
            </a:pPr>
            <a:r>
              <a:rPr lang="es-AR" sz="1200">
                <a:solidFill>
                  <a:srgbClr val="000000"/>
                </a:solidFill>
                <a:latin typeface="Calibri" panose="020F0502020204030204" pitchFamily="34" charset="0"/>
              </a:rPr>
              <a:t>		= 100 Km /(2/3 x 300.000 Km/s) = 0,055 ms = 55 </a:t>
            </a:r>
            <a:r>
              <a:rPr lang="el-GR" sz="1200">
                <a:solidFill>
                  <a:srgbClr val="000000"/>
                </a:solidFill>
                <a:latin typeface="Calibri" panose="020F0502020204030204" pitchFamily="34" charset="0"/>
              </a:rPr>
              <a:t>μ</a:t>
            </a:r>
            <a:r>
              <a:rPr lang="es-AR" sz="1200">
                <a:solidFill>
                  <a:srgbClr val="000000"/>
                </a:solidFill>
                <a:latin typeface="Calibri" panose="020F0502020204030204" pitchFamily="34" charset="0"/>
              </a:rPr>
              <a:t>s.</a:t>
            </a:r>
            <a:endParaRPr lang="es-ES" sz="1200">
              <a:solidFill>
                <a:srgbClr val="000000"/>
              </a:solidFill>
              <a:latin typeface="Calibri" panose="020F0502020204030204" pitchFamily="34" charset="0"/>
            </a:endParaRP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662544" y="1070635"/>
            <a:ext cx="10178474" cy="1577315"/>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a:solidFill>
                  <a:srgbClr val="000000"/>
                </a:solidFill>
                <a:latin typeface="Calibri" panose="020F0502020204030204" pitchFamily="34" charset="0"/>
              </a:rPr>
              <a:t>La performance de un sistema cliente-servidor es fuertemente dependiente de 2 características de la red: </a:t>
            </a:r>
          </a:p>
          <a:p>
            <a:r>
              <a:rPr lang="es-ES" sz="1400">
                <a:solidFill>
                  <a:srgbClr val="000000"/>
                </a:solidFill>
                <a:latin typeface="Calibri" panose="020F0502020204030204" pitchFamily="34" charset="0"/>
              </a:rPr>
              <a:t>	la </a:t>
            </a:r>
            <a:r>
              <a:rPr lang="es-ES" sz="1400" b="1">
                <a:solidFill>
                  <a:srgbClr val="000000"/>
                </a:solidFill>
                <a:latin typeface="Calibri" panose="020F0502020204030204" pitchFamily="34" charset="0"/>
              </a:rPr>
              <a:t>tasa de bits</a:t>
            </a:r>
            <a:r>
              <a:rPr lang="es-ES" sz="1400">
                <a:solidFill>
                  <a:srgbClr val="000000"/>
                </a:solidFill>
                <a:latin typeface="Calibri" panose="020F0502020204030204" pitchFamily="34" charset="0"/>
              </a:rPr>
              <a:t>, (bits por segundo) </a:t>
            </a:r>
          </a:p>
          <a:p>
            <a:r>
              <a:rPr lang="es-ES" sz="1400">
                <a:solidFill>
                  <a:srgbClr val="000000"/>
                </a:solidFill>
                <a:latin typeface="Calibri" panose="020F0502020204030204" pitchFamily="34" charset="0"/>
              </a:rPr>
              <a:t>	y el </a:t>
            </a:r>
            <a:r>
              <a:rPr lang="es-ES" sz="1400" b="1">
                <a:solidFill>
                  <a:srgbClr val="000000"/>
                </a:solidFill>
                <a:latin typeface="Calibri" panose="020F0502020204030204" pitchFamily="34" charset="0"/>
              </a:rPr>
              <a:t>retardo</a:t>
            </a:r>
            <a:r>
              <a:rPr lang="es-ES" sz="1400">
                <a:solidFill>
                  <a:srgbClr val="000000"/>
                </a:solidFill>
                <a:latin typeface="Calibri" panose="020F0502020204030204" pitchFamily="34" charset="0"/>
              </a:rPr>
              <a:t>, (tiempo que tarda en llegar un bit desde origen a destino). </a:t>
            </a:r>
          </a:p>
          <a:p>
            <a:endParaRPr lang="es-ES" sz="1400">
              <a:solidFill>
                <a:srgbClr val="000000"/>
              </a:solidFill>
              <a:latin typeface="Calibri" panose="020F0502020204030204" pitchFamily="34" charset="0"/>
            </a:endParaRPr>
          </a:p>
          <a:p>
            <a:r>
              <a:rPr lang="es-ES" sz="1400">
                <a:solidFill>
                  <a:srgbClr val="000000"/>
                </a:solidFill>
                <a:latin typeface="Calibri" panose="020F0502020204030204" pitchFamily="34" charset="0"/>
              </a:rPr>
              <a:t>a) Dar un ejemplo de una red que desarrolle una gran tasa de bits, pero a la vez, que tenga un gran retardo. </a:t>
            </a:r>
          </a:p>
          <a:p>
            <a:r>
              <a:rPr lang="es-ES" sz="1400">
                <a:solidFill>
                  <a:srgbClr val="000000"/>
                </a:solidFill>
                <a:latin typeface="Calibri" panose="020F0502020204030204" pitchFamily="34" charset="0"/>
              </a:rPr>
              <a:t>b) Mencionar un ejemplo inverso, es decir, una red que presente una muy baja tasa de bits, pero con un retardo muy pequeño también.</a:t>
            </a:r>
            <a:endParaRPr lang="es-AR" sz="1400">
              <a:solidFill>
                <a:srgbClr val="000000"/>
              </a:solidFill>
              <a:latin typeface="Calibri" panose="020F0502020204030204" pitchFamily="34" charset="0"/>
            </a:endParaRPr>
          </a:p>
        </p:txBody>
      </p:sp>
    </p:spTree>
    <p:extLst>
      <p:ext uri="{BB962C8B-B14F-4D97-AF65-F5344CB8AC3E}">
        <p14:creationId xmlns:p14="http://schemas.microsoft.com/office/powerpoint/2010/main" val="235565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11" end="1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xEl>
                                              <p:pRg st="12" end="1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13" end="1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xEl>
                                              <p:pRg st="14" end="1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xEl>
                                              <p:pRg st="15" end="1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50630" y="497049"/>
            <a:ext cx="7417447" cy="488079"/>
          </a:xfrm>
        </p:spPr>
        <p:txBody>
          <a:bodyPr wrap="none">
            <a:noAutofit/>
          </a:bodyPr>
          <a:lstStyle/>
          <a:p>
            <a:r>
              <a:rPr lang="es-AR" sz="2800" b="1"/>
              <a:t>Practica 4 </a:t>
            </a:r>
          </a:p>
        </p:txBody>
      </p:sp>
      <p:sp>
        <p:nvSpPr>
          <p:cNvPr id="14" name="Marcador de contenido 2"/>
          <p:cNvSpPr>
            <a:spLocks noGrp="1"/>
          </p:cNvSpPr>
          <p:nvPr>
            <p:ph idx="1"/>
          </p:nvPr>
        </p:nvSpPr>
        <p:spPr>
          <a:xfrm>
            <a:off x="1793492" y="3032896"/>
            <a:ext cx="10092749" cy="3508653"/>
          </a:xfrm>
        </p:spPr>
        <p:txBody>
          <a:bodyPr wrap="none" tIns="0" bIns="0">
            <a:noAutofit/>
          </a:bodyPr>
          <a:lstStyle/>
          <a:p>
            <a:pPr marL="228600" indent="-228600">
              <a:spcBef>
                <a:spcPts val="0"/>
              </a:spcBef>
              <a:buFont typeface="+mj-lt"/>
              <a:buAutoNum type="alphaLcParenR"/>
            </a:pPr>
            <a:r>
              <a:rPr lang="es-ES" sz="1200">
                <a:solidFill>
                  <a:srgbClr val="000000"/>
                </a:solidFill>
                <a:latin typeface="Calibri" panose="020F0502020204030204" pitchFamily="34" charset="0"/>
              </a:rPr>
              <a:t>La </a:t>
            </a:r>
            <a:r>
              <a:rPr lang="es-ES" sz="1200" b="1">
                <a:solidFill>
                  <a:srgbClr val="000000"/>
                </a:solidFill>
                <a:latin typeface="Calibri" panose="020F0502020204030204" pitchFamily="34" charset="0"/>
              </a:rPr>
              <a:t>transmisión de voz</a:t>
            </a:r>
            <a:r>
              <a:rPr lang="es-ES" sz="1200">
                <a:solidFill>
                  <a:srgbClr val="000000"/>
                </a:solidFill>
                <a:latin typeface="Calibri" panose="020F0502020204030204" pitchFamily="34" charset="0"/>
              </a:rPr>
              <a:t> debería tener</a:t>
            </a:r>
          </a:p>
          <a:p>
            <a:pPr marL="971550" lvl="2" indent="-171450">
              <a:spcBef>
                <a:spcPts val="0"/>
              </a:spcBef>
            </a:pPr>
            <a:r>
              <a:rPr lang="es-ES" sz="1200">
                <a:solidFill>
                  <a:srgbClr val="000000"/>
                </a:solidFill>
                <a:latin typeface="Calibri" panose="020F0502020204030204" pitchFamily="34" charset="0"/>
              </a:rPr>
              <a:t>una velocidad constante de datos</a:t>
            </a:r>
          </a:p>
          <a:p>
            <a:pPr marL="971550" lvl="2" indent="-171450">
              <a:spcBef>
                <a:spcPts val="0"/>
              </a:spcBef>
            </a:pPr>
            <a:r>
              <a:rPr lang="es-ES" sz="1200">
                <a:solidFill>
                  <a:srgbClr val="000000"/>
                </a:solidFill>
                <a:latin typeface="Calibri" panose="020F0502020204030204" pitchFamily="34" charset="0"/>
              </a:rPr>
              <a:t>poco retardo</a:t>
            </a:r>
          </a:p>
          <a:p>
            <a:pPr marL="971550" lvl="2" indent="-171450">
              <a:spcBef>
                <a:spcPts val="0"/>
              </a:spcBef>
            </a:pPr>
            <a:r>
              <a:rPr lang="es-ES" sz="1200">
                <a:solidFill>
                  <a:srgbClr val="000000"/>
                </a:solidFill>
                <a:latin typeface="Calibri" panose="020F0502020204030204" pitchFamily="34" charset="0"/>
              </a:rPr>
              <a:t>el mismo orden o secuencia de paquetes en el receptor</a:t>
            </a:r>
          </a:p>
          <a:p>
            <a:pPr marL="971550" lvl="2" indent="-171450">
              <a:spcBef>
                <a:spcPts val="0"/>
              </a:spcBef>
            </a:pPr>
            <a:r>
              <a:rPr lang="es-ES" sz="1200">
                <a:solidFill>
                  <a:srgbClr val="000000"/>
                </a:solidFill>
                <a:latin typeface="Calibri" panose="020F0502020204030204" pitchFamily="34" charset="0"/>
              </a:rPr>
              <a:t>y se puede tolerar la pérdida de algunos paquetes. </a:t>
            </a:r>
          </a:p>
          <a:p>
            <a:pPr marL="1028700" lvl="2">
              <a:spcBef>
                <a:spcPts val="0"/>
              </a:spcBef>
              <a:buAutoNum type="alphaLcParenR"/>
            </a:pPr>
            <a:endParaRPr lang="es-ES" sz="1200">
              <a:solidFill>
                <a:srgbClr val="000000"/>
              </a:solidFill>
              <a:latin typeface="Calibri" panose="020F0502020204030204" pitchFamily="34" charset="0"/>
            </a:endParaRPr>
          </a:p>
          <a:p>
            <a:pPr marL="228600" indent="-228600">
              <a:spcBef>
                <a:spcPts val="0"/>
              </a:spcBef>
              <a:buFont typeface="+mj-lt"/>
              <a:buAutoNum type="alphaLcParenR"/>
            </a:pPr>
            <a:r>
              <a:rPr lang="es-ES" sz="1200">
                <a:solidFill>
                  <a:srgbClr val="000000"/>
                </a:solidFill>
                <a:latin typeface="Calibri" panose="020F0502020204030204" pitchFamily="34" charset="0"/>
              </a:rPr>
              <a:t>b) Una transmisión de video necesita </a:t>
            </a:r>
          </a:p>
          <a:p>
            <a:pPr marL="971550" lvl="2" indent="-171450">
              <a:spcBef>
                <a:spcPts val="0"/>
              </a:spcBef>
            </a:pPr>
            <a:r>
              <a:rPr lang="es-ES" sz="1200">
                <a:solidFill>
                  <a:srgbClr val="000000"/>
                </a:solidFill>
                <a:latin typeface="Calibri" panose="020F0502020204030204" pitchFamily="34" charset="0"/>
              </a:rPr>
              <a:t>velocidad casi constante</a:t>
            </a:r>
          </a:p>
          <a:p>
            <a:pPr marL="971550" lvl="2" indent="-171450">
              <a:spcBef>
                <a:spcPts val="0"/>
              </a:spcBef>
            </a:pPr>
            <a:r>
              <a:rPr lang="es-ES" sz="1200">
                <a:solidFill>
                  <a:srgbClr val="000000"/>
                </a:solidFill>
                <a:latin typeface="Calibri" panose="020F0502020204030204" pitchFamily="34" charset="0"/>
              </a:rPr>
              <a:t>la misma secuencia</a:t>
            </a:r>
          </a:p>
          <a:p>
            <a:pPr marL="971550" lvl="2" indent="-171450">
              <a:spcBef>
                <a:spcPts val="0"/>
              </a:spcBef>
            </a:pPr>
            <a:r>
              <a:rPr lang="es-ES" sz="1200">
                <a:solidFill>
                  <a:srgbClr val="000000"/>
                </a:solidFill>
                <a:latin typeface="Calibri" panose="020F0502020204030204" pitchFamily="34" charset="0"/>
              </a:rPr>
              <a:t>pocos errores </a:t>
            </a:r>
          </a:p>
          <a:p>
            <a:pPr marL="971550" lvl="2" indent="-171450">
              <a:spcBef>
                <a:spcPts val="0"/>
              </a:spcBef>
            </a:pPr>
            <a:r>
              <a:rPr lang="es-ES" sz="1200">
                <a:solidFill>
                  <a:srgbClr val="000000"/>
                </a:solidFill>
                <a:latin typeface="Calibri" panose="020F0502020204030204" pitchFamily="34" charset="0"/>
              </a:rPr>
              <a:t>puede tolerarse un retardo de algunos segundos. </a:t>
            </a:r>
          </a:p>
          <a:p>
            <a:pPr lvl="2">
              <a:spcBef>
                <a:spcPts val="0"/>
              </a:spcBef>
            </a:pPr>
            <a:endParaRPr lang="es-ES" sz="1200">
              <a:solidFill>
                <a:srgbClr val="000000"/>
              </a:solidFill>
              <a:latin typeface="Calibri" panose="020F0502020204030204" pitchFamily="34" charset="0"/>
            </a:endParaRPr>
          </a:p>
          <a:p>
            <a:pPr marL="228600" indent="-228600">
              <a:spcBef>
                <a:spcPts val="0"/>
              </a:spcBef>
              <a:buFont typeface="+mj-lt"/>
              <a:buAutoNum type="alphaLcParenR"/>
            </a:pPr>
            <a:r>
              <a:rPr lang="es-ES" sz="1200">
                <a:solidFill>
                  <a:srgbClr val="000000"/>
                </a:solidFill>
                <a:latin typeface="Calibri" panose="020F0502020204030204" pitchFamily="34" charset="0"/>
              </a:rPr>
              <a:t>Para una transmisión de datos bancarios, lo más importante es que </a:t>
            </a:r>
          </a:p>
          <a:p>
            <a:pPr marL="971550" lvl="2" indent="-171450">
              <a:spcBef>
                <a:spcPts val="0"/>
              </a:spcBef>
            </a:pPr>
            <a:r>
              <a:rPr lang="es-ES" sz="1200">
                <a:solidFill>
                  <a:srgbClr val="000000"/>
                </a:solidFill>
                <a:latin typeface="Calibri" panose="020F0502020204030204" pitchFamily="34" charset="0"/>
              </a:rPr>
              <a:t>no contenga errores de bits. </a:t>
            </a:r>
          </a:p>
          <a:p>
            <a:pPr marL="0" indent="0">
              <a:spcBef>
                <a:spcPts val="0"/>
              </a:spcBef>
              <a:buNone/>
            </a:pPr>
            <a:endParaRPr lang="es-ES" sz="1200">
              <a:solidFill>
                <a:srgbClr val="000000"/>
              </a:solidFill>
              <a:latin typeface="Calibri" panose="020F0502020204030204" pitchFamily="34" charset="0"/>
            </a:endParaRP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750630" y="1170448"/>
            <a:ext cx="10178474" cy="1677128"/>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a:solidFill>
                  <a:srgbClr val="000000"/>
                </a:solidFill>
                <a:latin typeface="Calibri" panose="020F0502020204030204" pitchFamily="34" charset="0"/>
              </a:rPr>
              <a:t>Además de tasa de bits y retardo, mencionar otras características necesarias para lograr una óptima Calidad de Servicio (</a:t>
            </a:r>
            <a:r>
              <a:rPr lang="es-ES" sz="1400" err="1">
                <a:solidFill>
                  <a:srgbClr val="000000"/>
                </a:solidFill>
                <a:latin typeface="Calibri" panose="020F0502020204030204" pitchFamily="34" charset="0"/>
              </a:rPr>
              <a:t>QoS</a:t>
            </a:r>
            <a:r>
              <a:rPr lang="es-ES" sz="1400">
                <a:solidFill>
                  <a:srgbClr val="000000"/>
                </a:solidFill>
                <a:latin typeface="Calibri" panose="020F0502020204030204" pitchFamily="34" charset="0"/>
              </a:rPr>
              <a:t>) en las siguientes transmisiones de datos: </a:t>
            </a:r>
          </a:p>
          <a:p>
            <a:r>
              <a:rPr lang="es-AR" sz="1400">
                <a:solidFill>
                  <a:srgbClr val="000000"/>
                </a:solidFill>
                <a:latin typeface="Calibri" panose="020F0502020204030204" pitchFamily="34" charset="0"/>
              </a:rPr>
              <a:t>	a) Comunicación telefónica digital. </a:t>
            </a:r>
          </a:p>
          <a:p>
            <a:r>
              <a:rPr lang="es-AR" sz="1400">
                <a:solidFill>
                  <a:srgbClr val="000000"/>
                </a:solidFill>
                <a:latin typeface="Calibri" panose="020F0502020204030204" pitchFamily="34" charset="0"/>
              </a:rPr>
              <a:t>	b) Película HD. </a:t>
            </a:r>
          </a:p>
          <a:p>
            <a:r>
              <a:rPr lang="es-AR" sz="1400">
                <a:solidFill>
                  <a:srgbClr val="000000"/>
                </a:solidFill>
                <a:latin typeface="Calibri" panose="020F0502020204030204" pitchFamily="34" charset="0"/>
              </a:rPr>
              <a:t>	c) Transacción bancaria.</a:t>
            </a:r>
          </a:p>
        </p:txBody>
      </p:sp>
      <p:graphicFrame>
        <p:nvGraphicFramePr>
          <p:cNvPr id="5" name="Tabla 4">
            <a:extLst>
              <a:ext uri="{FF2B5EF4-FFF2-40B4-BE49-F238E27FC236}">
                <a16:creationId xmlns:a16="http://schemas.microsoft.com/office/drawing/2014/main" id="{58E47950-203E-00E5-52E3-2E88C75AE545}"/>
              </a:ext>
            </a:extLst>
          </p:cNvPr>
          <p:cNvGraphicFramePr>
            <a:graphicFrameLocks noGrp="1"/>
          </p:cNvGraphicFramePr>
          <p:nvPr>
            <p:extLst>
              <p:ext uri="{D42A27DB-BD31-4B8C-83A1-F6EECF244321}">
                <p14:modId xmlns:p14="http://schemas.microsoft.com/office/powerpoint/2010/main" val="2670879319"/>
              </p:ext>
            </p:extLst>
          </p:nvPr>
        </p:nvGraphicFramePr>
        <p:xfrm>
          <a:off x="6610350" y="4010425"/>
          <a:ext cx="5449927" cy="1824962"/>
        </p:xfrm>
        <a:graphic>
          <a:graphicData uri="http://schemas.openxmlformats.org/drawingml/2006/table">
            <a:tbl>
              <a:tblPr>
                <a:tableStyleId>{5C22544A-7EE6-4342-B048-85BDC9FD1C3A}</a:tableStyleId>
              </a:tblPr>
              <a:tblGrid>
                <a:gridCol w="1121993">
                  <a:extLst>
                    <a:ext uri="{9D8B030D-6E8A-4147-A177-3AD203B41FA5}">
                      <a16:colId xmlns:a16="http://schemas.microsoft.com/office/drawing/2014/main" val="20000"/>
                    </a:ext>
                  </a:extLst>
                </a:gridCol>
                <a:gridCol w="1127211">
                  <a:extLst>
                    <a:ext uri="{9D8B030D-6E8A-4147-A177-3AD203B41FA5}">
                      <a16:colId xmlns:a16="http://schemas.microsoft.com/office/drawing/2014/main" val="1260664415"/>
                    </a:ext>
                  </a:extLst>
                </a:gridCol>
                <a:gridCol w="1447285">
                  <a:extLst>
                    <a:ext uri="{9D8B030D-6E8A-4147-A177-3AD203B41FA5}">
                      <a16:colId xmlns:a16="http://schemas.microsoft.com/office/drawing/2014/main" val="2086187044"/>
                    </a:ext>
                  </a:extLst>
                </a:gridCol>
                <a:gridCol w="876719">
                  <a:extLst>
                    <a:ext uri="{9D8B030D-6E8A-4147-A177-3AD203B41FA5}">
                      <a16:colId xmlns:a16="http://schemas.microsoft.com/office/drawing/2014/main" val="3495413026"/>
                    </a:ext>
                  </a:extLst>
                </a:gridCol>
                <a:gridCol w="876719">
                  <a:extLst>
                    <a:ext uri="{9D8B030D-6E8A-4147-A177-3AD203B41FA5}">
                      <a16:colId xmlns:a16="http://schemas.microsoft.com/office/drawing/2014/main" val="20001"/>
                    </a:ext>
                  </a:extLst>
                </a:gridCol>
              </a:tblGrid>
              <a:tr h="359435">
                <a:tc>
                  <a:txBody>
                    <a:bodyPr/>
                    <a:lstStyle/>
                    <a:p>
                      <a:pPr algn="ctr" fontAlgn="b"/>
                      <a:endParaRPr lang="es-AR"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fontAlgn="b"/>
                      <a:r>
                        <a:rPr lang="es-E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Velocidad</a:t>
                      </a:r>
                      <a:endParaRPr lang="es-AR"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fontAlgn="b"/>
                      <a:r>
                        <a:rPr lang="es-E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Retardo</a:t>
                      </a:r>
                      <a:endParaRPr lang="es-AR"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fontAlgn="b"/>
                      <a:r>
                        <a:rPr lang="es-E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Secuencia</a:t>
                      </a:r>
                      <a:endParaRPr lang="es-AR"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solidFill>
                      <a:schemeClr val="accent1">
                        <a:lumMod val="40000"/>
                        <a:lumOff val="60000"/>
                      </a:schemeClr>
                    </a:solidFill>
                  </a:tcPr>
                </a:tc>
                <a:tc>
                  <a:txBody>
                    <a:bodyPr/>
                    <a:lstStyle/>
                    <a:p>
                      <a:pPr algn="ctr" fontAlgn="b"/>
                      <a:r>
                        <a:rPr lang="es-AR"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Errores </a:t>
                      </a:r>
                    </a:p>
                  </a:txBody>
                  <a:tcPr marL="9525" marR="9525" marT="9525" marB="0" anchor="ctr">
                    <a:solidFill>
                      <a:schemeClr val="accent1">
                        <a:lumMod val="40000"/>
                        <a:lumOff val="60000"/>
                      </a:schemeClr>
                    </a:solidFill>
                  </a:tcPr>
                </a:tc>
                <a:extLst>
                  <a:ext uri="{0D108BD9-81ED-4DB2-BD59-A6C34878D82A}">
                    <a16:rowId xmlns:a16="http://schemas.microsoft.com/office/drawing/2014/main" val="10000"/>
                  </a:ext>
                </a:extLst>
              </a:tr>
              <a:tr h="488509">
                <a:tc>
                  <a:txBody>
                    <a:bodyPr/>
                    <a:lstStyle/>
                    <a:p>
                      <a:pPr algn="ctr" fontAlgn="ctr"/>
                      <a:r>
                        <a:rPr lang="es-AR" sz="1200" b="1">
                          <a:effectLst/>
                          <a:latin typeface="Calibri" panose="020F0502020204030204" pitchFamily="34" charset="0"/>
                          <a:ea typeface="Calibri" panose="020F0502020204030204" pitchFamily="34" charset="0"/>
                          <a:cs typeface="Calibri" panose="020F0502020204030204" pitchFamily="34" charset="0"/>
                        </a:rPr>
                        <a:t>Tráfico de voz</a:t>
                      </a: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Constante</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AR" sz="1100">
                          <a:effectLst/>
                          <a:latin typeface="Calibri" panose="020F0502020204030204" pitchFamily="34" charset="0"/>
                          <a:ea typeface="Calibri" panose="020F0502020204030204" pitchFamily="34" charset="0"/>
                          <a:cs typeface="Calibri" panose="020F0502020204030204" pitchFamily="34" charset="0"/>
                        </a:rPr>
                        <a:t>Muy Bajo</a:t>
                      </a: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Mismo Orden</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Tolerable</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extLst>
                  <a:ext uri="{0D108BD9-81ED-4DB2-BD59-A6C34878D82A}">
                    <a16:rowId xmlns:a16="http://schemas.microsoft.com/office/drawing/2014/main" val="10001"/>
                  </a:ext>
                </a:extLst>
              </a:tr>
              <a:tr h="488509">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s-AR" sz="1200" b="1">
                          <a:effectLst/>
                          <a:latin typeface="Calibri" panose="020F0502020204030204" pitchFamily="34" charset="0"/>
                          <a:ea typeface="Calibri" panose="020F0502020204030204" pitchFamily="34" charset="0"/>
                          <a:cs typeface="Calibri" panose="020F0502020204030204" pitchFamily="34" charset="0"/>
                        </a:rPr>
                        <a:t>Tráfico de video</a:t>
                      </a: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Casi Constante</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Medio</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Mismo Orden</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Tolerable</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extLst>
                  <a:ext uri="{0D108BD9-81ED-4DB2-BD59-A6C34878D82A}">
                    <a16:rowId xmlns:a16="http://schemas.microsoft.com/office/drawing/2014/main" val="2164215933"/>
                  </a:ext>
                </a:extLst>
              </a:tr>
              <a:tr h="488509">
                <a:tc>
                  <a:txBody>
                    <a:bodyPr/>
                    <a:lstStyle/>
                    <a:p>
                      <a:pPr algn="ctr" fontAlgn="ctr"/>
                      <a:r>
                        <a:rPr lang="es-ES" sz="1200" b="1">
                          <a:effectLst/>
                          <a:latin typeface="Calibri" panose="020F0502020204030204" pitchFamily="34" charset="0"/>
                          <a:ea typeface="Calibri" panose="020F0502020204030204" pitchFamily="34" charset="0"/>
                          <a:cs typeface="Calibri" panose="020F0502020204030204" pitchFamily="34" charset="0"/>
                        </a:rPr>
                        <a:t>Transacción bancaria</a:t>
                      </a:r>
                      <a:endParaRPr lang="es-AR" sz="1200" b="1">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Tolerable</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Tolerable</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Mismo Orden</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tc>
                  <a:txBody>
                    <a:bodyPr/>
                    <a:lstStyle/>
                    <a:p>
                      <a:pPr algn="ctr" fontAlgn="ctr"/>
                      <a:r>
                        <a:rPr lang="es-ES" sz="1100">
                          <a:effectLst/>
                          <a:latin typeface="Calibri" panose="020F0502020204030204" pitchFamily="34" charset="0"/>
                          <a:ea typeface="Calibri" panose="020F0502020204030204" pitchFamily="34" charset="0"/>
                          <a:cs typeface="Calibri" panose="020F0502020204030204" pitchFamily="34" charset="0"/>
                        </a:rPr>
                        <a:t>Cero</a:t>
                      </a:r>
                      <a:endParaRPr lang="es-AR" sz="1100">
                        <a:effectLst/>
                        <a:latin typeface="Calibri" panose="020F0502020204030204" pitchFamily="34" charset="0"/>
                        <a:ea typeface="Calibri" panose="020F0502020204030204" pitchFamily="34" charset="0"/>
                        <a:cs typeface="Calibri" panose="020F0502020204030204" pitchFamily="34" charset="0"/>
                      </a:endParaRPr>
                    </a:p>
                  </a:txBody>
                  <a:tcPr marL="30480" marR="30480" marT="30480" marB="30480" anchor="ctr"/>
                </a:tc>
                <a:extLst>
                  <a:ext uri="{0D108BD9-81ED-4DB2-BD59-A6C34878D82A}">
                    <a16:rowId xmlns:a16="http://schemas.microsoft.com/office/drawing/2014/main" val="2529752472"/>
                  </a:ext>
                </a:extLst>
              </a:tr>
            </a:tbl>
          </a:graphicData>
        </a:graphic>
      </p:graphicFrame>
    </p:spTree>
    <p:extLst>
      <p:ext uri="{BB962C8B-B14F-4D97-AF65-F5344CB8AC3E}">
        <p14:creationId xmlns:p14="http://schemas.microsoft.com/office/powerpoint/2010/main" val="199009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50630" y="497049"/>
            <a:ext cx="7417447" cy="488079"/>
          </a:xfrm>
        </p:spPr>
        <p:txBody>
          <a:bodyPr wrap="none">
            <a:noAutofit/>
          </a:bodyPr>
          <a:lstStyle/>
          <a:p>
            <a:r>
              <a:rPr lang="es-AR" sz="2800" b="1"/>
              <a:t>Practica 5 </a:t>
            </a:r>
          </a:p>
        </p:txBody>
      </p:sp>
      <p:sp>
        <p:nvSpPr>
          <p:cNvPr id="14" name="Marcador de contenido 2"/>
          <p:cNvSpPr>
            <a:spLocks noGrp="1"/>
          </p:cNvSpPr>
          <p:nvPr>
            <p:ph idx="1"/>
          </p:nvPr>
        </p:nvSpPr>
        <p:spPr>
          <a:xfrm>
            <a:off x="1793492" y="3032896"/>
            <a:ext cx="10092749" cy="3508653"/>
          </a:xfrm>
        </p:spPr>
        <p:txBody>
          <a:bodyPr wrap="none" tIns="0" bIns="0">
            <a:noAutofit/>
          </a:bodyPr>
          <a:lstStyle/>
          <a:p>
            <a:pPr marL="0" indent="0">
              <a:spcBef>
                <a:spcPts val="0"/>
              </a:spcBef>
              <a:buNone/>
            </a:pPr>
            <a:r>
              <a:rPr lang="es-ES" sz="1200">
                <a:solidFill>
                  <a:srgbClr val="000000"/>
                </a:solidFill>
                <a:latin typeface="Calibri" panose="020F0502020204030204" pitchFamily="34" charset="0"/>
              </a:rPr>
              <a:t>Recordar (La velocidad de la luz en el vacío es de </a:t>
            </a:r>
            <a:r>
              <a:rPr lang="es-AR" sz="1200">
                <a:solidFill>
                  <a:srgbClr val="000000"/>
                </a:solidFill>
                <a:latin typeface="Calibri" panose="020F0502020204030204" pitchFamily="34" charset="0"/>
              </a:rPr>
              <a:t>299.792,458 km/s, para el cálculo usaremos </a:t>
            </a:r>
            <a:r>
              <a:rPr lang="es-AR" sz="1200" b="1">
                <a:solidFill>
                  <a:srgbClr val="000000"/>
                </a:solidFill>
                <a:latin typeface="Calibri" panose="020F0502020204030204" pitchFamily="34" charset="0"/>
              </a:rPr>
              <a:t>300.000km/s</a:t>
            </a:r>
            <a:r>
              <a:rPr lang="es-ES" sz="1200">
                <a:solidFill>
                  <a:srgbClr val="000000"/>
                </a:solidFill>
                <a:latin typeface="Calibri" panose="020F0502020204030204" pitchFamily="34" charset="0"/>
              </a:rPr>
              <a:t>)</a:t>
            </a:r>
          </a:p>
          <a:p>
            <a:pPr marL="0" indent="0">
              <a:spcBef>
                <a:spcPts val="0"/>
              </a:spcBef>
              <a:buNone/>
            </a:pPr>
            <a:endParaRPr lang="es-ES" sz="1200">
              <a:solidFill>
                <a:srgbClr val="000000"/>
              </a:solidFill>
              <a:latin typeface="Calibri" panose="020F0502020204030204" pitchFamily="34" charset="0"/>
            </a:endParaRPr>
          </a:p>
          <a:p>
            <a:pPr marL="0" indent="0">
              <a:buNone/>
            </a:pPr>
            <a:r>
              <a:rPr lang="es-ES" sz="1200">
                <a:solidFill>
                  <a:srgbClr val="000000"/>
                </a:solidFill>
                <a:latin typeface="Calibri" panose="020F0502020204030204" pitchFamily="34" charset="0"/>
              </a:rPr>
              <a:t>		Retardo (Tiempo de propagación) = 	Distancia / Velocidad de Propagación  </a:t>
            </a:r>
          </a:p>
          <a:p>
            <a:pPr marL="0" indent="0">
              <a:buNone/>
            </a:pPr>
            <a:r>
              <a:rPr lang="es-ES" sz="1200">
                <a:solidFill>
                  <a:srgbClr val="000000"/>
                </a:solidFill>
                <a:latin typeface="Calibri" panose="020F0502020204030204" pitchFamily="34" charset="0"/>
              </a:rPr>
              <a:t>				</a:t>
            </a:r>
            <a:r>
              <a:rPr lang="pl-PL" sz="1200">
                <a:solidFill>
                  <a:srgbClr val="000000"/>
                </a:solidFill>
                <a:latin typeface="Calibri" panose="020F0502020204030204" pitchFamily="34" charset="0"/>
              </a:rPr>
              <a:t>= 36.000 Km x 2 / (300.000 Km/s) = 0,24 s. </a:t>
            </a:r>
            <a:endParaRPr lang="es-ES" sz="1200">
              <a:solidFill>
                <a:srgbClr val="000000"/>
              </a:solidFill>
              <a:latin typeface="Calibri" panose="020F0502020204030204" pitchFamily="34" charset="0"/>
            </a:endParaRPr>
          </a:p>
          <a:p>
            <a:pPr marL="0" indent="0">
              <a:buNone/>
            </a:pPr>
            <a:endParaRPr lang="es-ES" sz="1200">
              <a:solidFill>
                <a:srgbClr val="000000"/>
              </a:solidFill>
              <a:latin typeface="Calibri" panose="020F0502020204030204" pitchFamily="34" charset="0"/>
            </a:endParaRPr>
          </a:p>
          <a:p>
            <a:pPr marL="0" indent="0">
              <a:buNone/>
            </a:pPr>
            <a:r>
              <a:rPr lang="es-ES" sz="1200">
                <a:solidFill>
                  <a:srgbClr val="000000"/>
                </a:solidFill>
                <a:latin typeface="Calibri" panose="020F0502020204030204" pitchFamily="34" charset="0"/>
              </a:rPr>
              <a:t>		* a tener en cuenta que toda comunicación se suma el tiempo de respuesta.</a:t>
            </a: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750630" y="1170448"/>
            <a:ext cx="10178474" cy="1458452"/>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a:solidFill>
                  <a:srgbClr val="000000"/>
                </a:solidFill>
                <a:latin typeface="Calibri" panose="020F0502020204030204" pitchFamily="34" charset="0"/>
              </a:rPr>
              <a:t>Una red de datos emplea una red satelital geoestacionaria, cuyos satélites están a 36.000 Km de la Tierra. </a:t>
            </a:r>
          </a:p>
          <a:p>
            <a:r>
              <a:rPr lang="es-ES" sz="1400">
                <a:solidFill>
                  <a:srgbClr val="000000"/>
                </a:solidFill>
                <a:latin typeface="Calibri" panose="020F0502020204030204" pitchFamily="34" charset="0"/>
              </a:rPr>
              <a:t>¿Cuál será el mínimo retardo que afectará a una comunicación satelital de este tipo? </a:t>
            </a:r>
            <a:endParaRPr lang="es-AR" sz="1400">
              <a:solidFill>
                <a:srgbClr val="000000"/>
              </a:solidFill>
              <a:latin typeface="Calibri" panose="020F0502020204030204" pitchFamily="34" charset="0"/>
            </a:endParaRPr>
          </a:p>
        </p:txBody>
      </p:sp>
    </p:spTree>
    <p:extLst>
      <p:ext uri="{BB962C8B-B14F-4D97-AF65-F5344CB8AC3E}">
        <p14:creationId xmlns:p14="http://schemas.microsoft.com/office/powerpoint/2010/main" val="3809101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50630" y="497049"/>
            <a:ext cx="7417447" cy="488079"/>
          </a:xfrm>
        </p:spPr>
        <p:txBody>
          <a:bodyPr wrap="none">
            <a:noAutofit/>
          </a:bodyPr>
          <a:lstStyle/>
          <a:p>
            <a:r>
              <a:rPr lang="es-AR" sz="2800" b="1"/>
              <a:t>Practica 6 </a:t>
            </a:r>
          </a:p>
        </p:txBody>
      </p:sp>
      <p:sp>
        <p:nvSpPr>
          <p:cNvPr id="14" name="Marcador de contenido 2"/>
          <p:cNvSpPr>
            <a:spLocks noGrp="1"/>
          </p:cNvSpPr>
          <p:nvPr>
            <p:ph idx="1"/>
          </p:nvPr>
        </p:nvSpPr>
        <p:spPr>
          <a:xfrm>
            <a:off x="1793492" y="3032896"/>
            <a:ext cx="10092749" cy="3508653"/>
          </a:xfrm>
        </p:spPr>
        <p:txBody>
          <a:bodyPr wrap="none" tIns="0" bIns="0">
            <a:noAutofit/>
          </a:bodyPr>
          <a:lstStyle/>
          <a:p>
            <a:pPr marL="0" indent="0">
              <a:spcBef>
                <a:spcPts val="0"/>
              </a:spcBef>
              <a:buNone/>
            </a:pPr>
            <a:r>
              <a:rPr lang="es-ES" sz="1200">
                <a:solidFill>
                  <a:srgbClr val="000000"/>
                </a:solidFill>
                <a:latin typeface="Calibri" panose="020F0502020204030204" pitchFamily="34" charset="0"/>
              </a:rPr>
              <a:t>Recordar (La velocidad de la luz en el vacío es de </a:t>
            </a:r>
            <a:r>
              <a:rPr lang="es-AR" sz="1200">
                <a:solidFill>
                  <a:srgbClr val="000000"/>
                </a:solidFill>
                <a:latin typeface="Calibri" panose="020F0502020204030204" pitchFamily="34" charset="0"/>
              </a:rPr>
              <a:t>299.792,458 km/s, para el cálculo usaremos </a:t>
            </a:r>
            <a:r>
              <a:rPr lang="es-AR" sz="1200" b="1">
                <a:solidFill>
                  <a:srgbClr val="000000"/>
                </a:solidFill>
                <a:latin typeface="Calibri" panose="020F0502020204030204" pitchFamily="34" charset="0"/>
              </a:rPr>
              <a:t>300.000km/s</a:t>
            </a:r>
            <a:r>
              <a:rPr lang="es-ES" sz="1200">
                <a:solidFill>
                  <a:srgbClr val="000000"/>
                </a:solidFill>
                <a:latin typeface="Calibri" panose="020F0502020204030204" pitchFamily="34" charset="0"/>
              </a:rPr>
              <a:t>)</a:t>
            </a:r>
          </a:p>
          <a:p>
            <a:pPr marL="0" indent="0">
              <a:spcBef>
                <a:spcPts val="0"/>
              </a:spcBef>
              <a:buNone/>
            </a:pPr>
            <a:endParaRPr lang="es-ES" sz="1200">
              <a:solidFill>
                <a:srgbClr val="000000"/>
              </a:solidFill>
              <a:latin typeface="Calibri" panose="020F0502020204030204" pitchFamily="34" charset="0"/>
            </a:endParaRPr>
          </a:p>
          <a:p>
            <a:pPr marL="0" indent="0">
              <a:buNone/>
            </a:pPr>
            <a:r>
              <a:rPr lang="es-ES" sz="1200">
                <a:solidFill>
                  <a:srgbClr val="000000"/>
                </a:solidFill>
                <a:latin typeface="Calibri" panose="020F0502020204030204" pitchFamily="34" charset="0"/>
              </a:rPr>
              <a:t>			Distancia = 	(Tiempo de bit) x (Velocidad de propagación)</a:t>
            </a:r>
          </a:p>
          <a:p>
            <a:pPr marL="0" indent="0">
              <a:buNone/>
            </a:pPr>
            <a:r>
              <a:rPr lang="es-ES" sz="1200">
                <a:solidFill>
                  <a:srgbClr val="000000"/>
                </a:solidFill>
                <a:latin typeface="Calibri" panose="020F0502020204030204" pitchFamily="34" charset="0"/>
              </a:rPr>
              <a:t>					 = (1/10Mbps) x (2/3 x 300.000 Km/s) = </a:t>
            </a:r>
          </a:p>
          <a:p>
            <a:pPr marL="0" indent="0">
              <a:buNone/>
            </a:pPr>
            <a:r>
              <a:rPr lang="es-AR" sz="1200">
                <a:solidFill>
                  <a:srgbClr val="000000"/>
                </a:solidFill>
                <a:latin typeface="Calibri" panose="020F0502020204030204" pitchFamily="34" charset="0"/>
              </a:rPr>
              <a:t>					= 0,02 Km </a:t>
            </a:r>
            <a:r>
              <a:rPr lang="es-AR" sz="1200" b="1">
                <a:solidFill>
                  <a:srgbClr val="000000"/>
                </a:solidFill>
                <a:latin typeface="Calibri" panose="020F0502020204030204" pitchFamily="34" charset="0"/>
              </a:rPr>
              <a:t>= 20 m </a:t>
            </a:r>
            <a:endParaRPr lang="es-ES" sz="1200" b="1">
              <a:solidFill>
                <a:srgbClr val="000000"/>
              </a:solidFill>
              <a:latin typeface="Calibri" panose="020F0502020204030204" pitchFamily="34" charset="0"/>
            </a:endParaRP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750630" y="1170448"/>
            <a:ext cx="10178474" cy="1458452"/>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a:solidFill>
                  <a:srgbClr val="000000"/>
                </a:solidFill>
                <a:latin typeface="Calibri" panose="020F0502020204030204" pitchFamily="34" charset="0"/>
              </a:rPr>
              <a:t>¿Qué longitud tiene un bit en una red estándar Ethernet, si transmitimos a una velocidad de 10 Mbps por un </a:t>
            </a:r>
            <a:r>
              <a:rPr lang="es-ES" sz="1400" err="1">
                <a:solidFill>
                  <a:srgbClr val="000000"/>
                </a:solidFill>
                <a:latin typeface="Calibri" panose="020F0502020204030204" pitchFamily="34" charset="0"/>
              </a:rPr>
              <a:t>coaxil</a:t>
            </a:r>
            <a:r>
              <a:rPr lang="es-ES" sz="1400">
                <a:solidFill>
                  <a:srgbClr val="000000"/>
                </a:solidFill>
                <a:latin typeface="Calibri" panose="020F0502020204030204" pitchFamily="34" charset="0"/>
              </a:rPr>
              <a:t> cuya velocidad de propagación es 2/3 de la velocidad de la luz en el vacío?  </a:t>
            </a:r>
            <a:endParaRPr lang="es-AR" sz="1400">
              <a:solidFill>
                <a:srgbClr val="000000"/>
              </a:solidFill>
              <a:latin typeface="Calibri" panose="020F0502020204030204" pitchFamily="34" charset="0"/>
            </a:endParaRPr>
          </a:p>
        </p:txBody>
      </p:sp>
    </p:spTree>
    <p:extLst>
      <p:ext uri="{BB962C8B-B14F-4D97-AF65-F5344CB8AC3E}">
        <p14:creationId xmlns:p14="http://schemas.microsoft.com/office/powerpoint/2010/main" val="282496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50630" y="497049"/>
            <a:ext cx="7417447" cy="488079"/>
          </a:xfrm>
        </p:spPr>
        <p:txBody>
          <a:bodyPr wrap="none">
            <a:noAutofit/>
          </a:bodyPr>
          <a:lstStyle/>
          <a:p>
            <a:r>
              <a:rPr lang="es-AR" sz="2800" b="1"/>
              <a:t>Practica 7 </a:t>
            </a:r>
          </a:p>
        </p:txBody>
      </p:sp>
      <p:sp>
        <p:nvSpPr>
          <p:cNvPr id="14" name="Marcador de contenido 2"/>
          <p:cNvSpPr>
            <a:spLocks noGrp="1"/>
          </p:cNvSpPr>
          <p:nvPr>
            <p:ph idx="1"/>
          </p:nvPr>
        </p:nvSpPr>
        <p:spPr>
          <a:xfrm>
            <a:off x="2000250" y="3032896"/>
            <a:ext cx="9885991" cy="3508653"/>
          </a:xfrm>
        </p:spPr>
        <p:txBody>
          <a:bodyPr wrap="none" tIns="0" bIns="0">
            <a:noAutofit/>
          </a:bodyPr>
          <a:lstStyle/>
          <a:p>
            <a:pPr marL="0" indent="0">
              <a:buNone/>
            </a:pPr>
            <a:endParaRPr lang="es-AR" sz="1200">
              <a:solidFill>
                <a:srgbClr val="000000"/>
              </a:solidFill>
              <a:latin typeface="Calibri" panose="020F0502020204030204" pitchFamily="34" charset="0"/>
            </a:endParaRPr>
          </a:p>
          <a:p>
            <a:pPr marL="0" indent="0">
              <a:buNone/>
            </a:pPr>
            <a:r>
              <a:rPr lang="es-AR" sz="1200">
                <a:solidFill>
                  <a:srgbClr val="000000"/>
                </a:solidFill>
                <a:latin typeface="Calibri" panose="020F0502020204030204" pitchFamily="34" charset="0"/>
              </a:rPr>
              <a:t>	Cantidad de bits por </a:t>
            </a:r>
            <a:r>
              <a:rPr lang="es-AR" sz="1200" b="1">
                <a:solidFill>
                  <a:srgbClr val="000000"/>
                </a:solidFill>
                <a:latin typeface="Calibri" panose="020F0502020204030204" pitchFamily="34" charset="0"/>
              </a:rPr>
              <a:t>Imagen </a:t>
            </a:r>
            <a:r>
              <a:rPr lang="es-AR" sz="1200" b="1" err="1">
                <a:solidFill>
                  <a:srgbClr val="000000"/>
                </a:solidFill>
                <a:latin typeface="Calibri" panose="020F0502020204030204" pitchFamily="34" charset="0"/>
              </a:rPr>
              <a:t>FullHD</a:t>
            </a:r>
            <a:r>
              <a:rPr lang="es-AR" sz="1200" b="1">
                <a:solidFill>
                  <a:srgbClr val="000000"/>
                </a:solidFill>
                <a:latin typeface="Calibri" panose="020F0502020204030204" pitchFamily="34" charset="0"/>
              </a:rPr>
              <a:t> =</a:t>
            </a:r>
            <a:r>
              <a:rPr lang="es-AR" sz="1200">
                <a:solidFill>
                  <a:srgbClr val="000000"/>
                </a:solidFill>
                <a:latin typeface="Calibri" panose="020F0502020204030204" pitchFamily="34" charset="0"/>
              </a:rPr>
              <a:t> (1920 x 1080 pixel) x (3 x 8 bits/pixel) = </a:t>
            </a:r>
            <a:r>
              <a:rPr lang="es-AR" sz="1200" b="1">
                <a:solidFill>
                  <a:srgbClr val="000000"/>
                </a:solidFill>
                <a:latin typeface="Calibri" panose="020F0502020204030204" pitchFamily="34" charset="0"/>
              </a:rPr>
              <a:t>49.766.400 bits. </a:t>
            </a:r>
          </a:p>
          <a:p>
            <a:pPr marL="0" indent="0">
              <a:buNone/>
            </a:pPr>
            <a:endParaRPr lang="es-ES" sz="1200">
              <a:solidFill>
                <a:srgbClr val="000000"/>
              </a:solidFill>
              <a:latin typeface="Calibri" panose="020F0502020204030204" pitchFamily="34" charset="0"/>
            </a:endParaRPr>
          </a:p>
          <a:p>
            <a:pPr marL="0" indent="0">
              <a:buNone/>
            </a:pPr>
            <a:r>
              <a:rPr lang="es-ES" sz="1200">
                <a:solidFill>
                  <a:srgbClr val="000000"/>
                </a:solidFill>
                <a:latin typeface="Calibri" panose="020F0502020204030204" pitchFamily="34" charset="0"/>
              </a:rPr>
              <a:t>	</a:t>
            </a:r>
            <a:r>
              <a:rPr lang="es-ES" sz="1200" b="1">
                <a:solidFill>
                  <a:srgbClr val="000000"/>
                </a:solidFill>
                <a:latin typeface="Calibri" panose="020F0502020204030204" pitchFamily="34" charset="0"/>
              </a:rPr>
              <a:t>a) </a:t>
            </a:r>
            <a:r>
              <a:rPr lang="es-ES" sz="1200">
                <a:solidFill>
                  <a:srgbClr val="000000"/>
                </a:solidFill>
                <a:latin typeface="Calibri" panose="020F0502020204030204" pitchFamily="34" charset="0"/>
              </a:rPr>
              <a:t>Tiempo de transmisión = (Cantidad de bits) / (Velocidad de transmisión) = </a:t>
            </a:r>
          </a:p>
          <a:p>
            <a:pPr marL="0" indent="0">
              <a:buNone/>
            </a:pPr>
            <a:r>
              <a:rPr lang="en-US" sz="1200">
                <a:solidFill>
                  <a:srgbClr val="000000"/>
                </a:solidFill>
                <a:latin typeface="Calibri" panose="020F0502020204030204" pitchFamily="34" charset="0"/>
              </a:rPr>
              <a:t>				= 49.766.400 bits / (56.000 bits/s) = 888 s =&gt;</a:t>
            </a:r>
            <a:r>
              <a:rPr lang="en-US" sz="1200" b="1">
                <a:solidFill>
                  <a:srgbClr val="000000"/>
                </a:solidFill>
                <a:latin typeface="Calibri" panose="020F0502020204030204" pitchFamily="34" charset="0"/>
              </a:rPr>
              <a:t>	 14,8 min. </a:t>
            </a:r>
          </a:p>
          <a:p>
            <a:pPr marL="0" indent="0">
              <a:buNone/>
            </a:pPr>
            <a:endParaRPr lang="en-US" sz="1200">
              <a:solidFill>
                <a:srgbClr val="000000"/>
              </a:solidFill>
              <a:latin typeface="Calibri" panose="020F0502020204030204" pitchFamily="34" charset="0"/>
            </a:endParaRPr>
          </a:p>
          <a:p>
            <a:pPr marL="0" indent="0">
              <a:buNone/>
            </a:pPr>
            <a:r>
              <a:rPr lang="es-ES" sz="1200">
                <a:solidFill>
                  <a:srgbClr val="000000"/>
                </a:solidFill>
                <a:latin typeface="Calibri" panose="020F0502020204030204" pitchFamily="34" charset="0"/>
              </a:rPr>
              <a:t>	</a:t>
            </a:r>
            <a:r>
              <a:rPr lang="es-ES" sz="1200" b="1">
                <a:solidFill>
                  <a:srgbClr val="000000"/>
                </a:solidFill>
                <a:latin typeface="Calibri" panose="020F0502020204030204" pitchFamily="34" charset="0"/>
              </a:rPr>
              <a:t>b) </a:t>
            </a:r>
            <a:r>
              <a:rPr lang="es-ES" sz="1200">
                <a:solidFill>
                  <a:srgbClr val="000000"/>
                </a:solidFill>
                <a:latin typeface="Calibri" panose="020F0502020204030204" pitchFamily="34" charset="0"/>
              </a:rPr>
              <a:t>Tiempo = Imagen HD / 1 Mbps = </a:t>
            </a:r>
            <a:r>
              <a:rPr lang="es-ES" sz="1200" b="1">
                <a:solidFill>
                  <a:srgbClr val="000000"/>
                </a:solidFill>
                <a:latin typeface="Calibri" panose="020F0502020204030204" pitchFamily="34" charset="0"/>
              </a:rPr>
              <a:t>49,7 s </a:t>
            </a:r>
          </a:p>
          <a:p>
            <a:pPr marL="0" indent="0">
              <a:buNone/>
            </a:pPr>
            <a:r>
              <a:rPr lang="es-ES" sz="1200">
                <a:solidFill>
                  <a:srgbClr val="000000"/>
                </a:solidFill>
                <a:latin typeface="Calibri" panose="020F0502020204030204" pitchFamily="34" charset="0"/>
              </a:rPr>
              <a:t>	</a:t>
            </a:r>
            <a:r>
              <a:rPr lang="es-ES" sz="1200" b="1">
                <a:solidFill>
                  <a:srgbClr val="000000"/>
                </a:solidFill>
                <a:latin typeface="Calibri" panose="020F0502020204030204" pitchFamily="34" charset="0"/>
              </a:rPr>
              <a:t>c) </a:t>
            </a:r>
            <a:r>
              <a:rPr lang="es-ES" sz="1200">
                <a:solidFill>
                  <a:srgbClr val="000000"/>
                </a:solidFill>
                <a:latin typeface="Calibri" panose="020F0502020204030204" pitchFamily="34" charset="0"/>
              </a:rPr>
              <a:t>Tiempo = Imagen HD / 10 Mbps = </a:t>
            </a:r>
            <a:r>
              <a:rPr lang="es-ES" sz="1200" b="1">
                <a:solidFill>
                  <a:srgbClr val="000000"/>
                </a:solidFill>
                <a:latin typeface="Calibri" panose="020F0502020204030204" pitchFamily="34" charset="0"/>
              </a:rPr>
              <a:t>4,9 s </a:t>
            </a:r>
          </a:p>
          <a:p>
            <a:pPr marL="0" indent="0">
              <a:buNone/>
            </a:pPr>
            <a:r>
              <a:rPr lang="es-ES" sz="1200">
                <a:solidFill>
                  <a:srgbClr val="000000"/>
                </a:solidFill>
                <a:latin typeface="Calibri" panose="020F0502020204030204" pitchFamily="34" charset="0"/>
              </a:rPr>
              <a:t>	</a:t>
            </a:r>
            <a:r>
              <a:rPr lang="es-ES" sz="1200" b="1">
                <a:solidFill>
                  <a:srgbClr val="000000"/>
                </a:solidFill>
                <a:latin typeface="Calibri" panose="020F0502020204030204" pitchFamily="34" charset="0"/>
              </a:rPr>
              <a:t>d) </a:t>
            </a:r>
            <a:r>
              <a:rPr lang="es-ES" sz="1200">
                <a:solidFill>
                  <a:srgbClr val="000000"/>
                </a:solidFill>
                <a:latin typeface="Calibri" panose="020F0502020204030204" pitchFamily="34" charset="0"/>
              </a:rPr>
              <a:t>Tiempo = Imagen HD / 1000 Mbps = </a:t>
            </a:r>
            <a:r>
              <a:rPr lang="es-ES" sz="1200" b="1">
                <a:solidFill>
                  <a:srgbClr val="000000"/>
                </a:solidFill>
                <a:latin typeface="Calibri" panose="020F0502020204030204" pitchFamily="34" charset="0"/>
              </a:rPr>
              <a:t>0,049 s</a:t>
            </a:r>
            <a:r>
              <a:rPr lang="es-ES" sz="1200">
                <a:solidFill>
                  <a:srgbClr val="000000"/>
                </a:solidFill>
                <a:latin typeface="Calibri" panose="020F0502020204030204" pitchFamily="34" charset="0"/>
              </a:rPr>
              <a:t> </a:t>
            </a:r>
          </a:p>
          <a:p>
            <a:endParaRPr lang="es-ES" sz="1200" b="1">
              <a:solidFill>
                <a:srgbClr val="000000"/>
              </a:solidFill>
              <a:latin typeface="Calibri" panose="020F0502020204030204" pitchFamily="34" charset="0"/>
            </a:endParaRPr>
          </a:p>
        </p:txBody>
      </p:sp>
      <p:pic>
        <p:nvPicPr>
          <p:cNvPr id="3" name="Picture 6" descr="CVG - UTN Facultad Regional Rosario">
            <a:extLst>
              <a:ext uri="{FF2B5EF4-FFF2-40B4-BE49-F238E27FC236}">
                <a16:creationId xmlns:a16="http://schemas.microsoft.com/office/drawing/2014/main" id="{AF1C4E0E-43BA-B459-4C22-65BECB747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7627" y="141277"/>
            <a:ext cx="2152650" cy="644224"/>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5A5B6D2A-3B54-E5CC-F85F-6C6AAFC7AF4A}"/>
              </a:ext>
            </a:extLst>
          </p:cNvPr>
          <p:cNvSpPr txBox="1">
            <a:spLocks/>
          </p:cNvSpPr>
          <p:nvPr/>
        </p:nvSpPr>
        <p:spPr>
          <a:xfrm>
            <a:off x="10559092" y="741089"/>
            <a:ext cx="1501186" cy="329547"/>
          </a:xfrm>
          <a:prstGeom prst="rect">
            <a:avLst/>
          </a:prstGeom>
        </p:spPr>
        <p:txBody>
          <a:bodyPr vert="horz" wrap="none"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AR" sz="1400" b="1"/>
              <a:t>Redes de Datos</a:t>
            </a:r>
          </a:p>
        </p:txBody>
      </p:sp>
      <p:sp>
        <p:nvSpPr>
          <p:cNvPr id="6" name="Rectángulo: esquinas redondeadas 5">
            <a:extLst>
              <a:ext uri="{FF2B5EF4-FFF2-40B4-BE49-F238E27FC236}">
                <a16:creationId xmlns:a16="http://schemas.microsoft.com/office/drawing/2014/main" id="{8F51369F-2A55-9016-86A4-E1DFE7374F1D}"/>
              </a:ext>
            </a:extLst>
          </p:cNvPr>
          <p:cNvSpPr/>
          <p:nvPr/>
        </p:nvSpPr>
        <p:spPr>
          <a:xfrm>
            <a:off x="1750630" y="1170447"/>
            <a:ext cx="10178474" cy="1662821"/>
          </a:xfrm>
          <a:prstGeom prst="roundRect">
            <a:avLst/>
          </a:prstGeom>
          <a:solidFill>
            <a:schemeClr val="bg1"/>
          </a:solidFill>
        </p:spPr>
        <p:style>
          <a:lnRef idx="2">
            <a:schemeClr val="accent1"/>
          </a:lnRef>
          <a:fillRef idx="1">
            <a:schemeClr val="lt1"/>
          </a:fillRef>
          <a:effectRef idx="0">
            <a:schemeClr val="accent1"/>
          </a:effectRef>
          <a:fontRef idx="minor">
            <a:schemeClr val="dk1"/>
          </a:fontRef>
        </p:style>
        <p:txBody>
          <a:bodyPr tIns="36000" bIns="36000" rtlCol="0" anchor="ctr"/>
          <a:lstStyle/>
          <a:p>
            <a:r>
              <a:rPr lang="es-ES" sz="1400">
                <a:solidFill>
                  <a:srgbClr val="000000"/>
                </a:solidFill>
                <a:latin typeface="Calibri" panose="020F0502020204030204" pitchFamily="34" charset="0"/>
              </a:rPr>
              <a:t>Una sola imagen </a:t>
            </a:r>
            <a:r>
              <a:rPr lang="es-ES" sz="1400" err="1">
                <a:solidFill>
                  <a:srgbClr val="000000"/>
                </a:solidFill>
                <a:latin typeface="Calibri" panose="020F0502020204030204" pitchFamily="34" charset="0"/>
              </a:rPr>
              <a:t>FullHD</a:t>
            </a:r>
            <a:r>
              <a:rPr lang="es-ES" sz="1400">
                <a:solidFill>
                  <a:srgbClr val="000000"/>
                </a:solidFill>
                <a:latin typeface="Calibri" panose="020F0502020204030204" pitchFamily="34" charset="0"/>
              </a:rPr>
              <a:t> es transmitida con 3 bytes/pixel con información de color, brillo, </a:t>
            </a:r>
            <a:r>
              <a:rPr lang="es-ES" sz="1400" err="1">
                <a:solidFill>
                  <a:srgbClr val="000000"/>
                </a:solidFill>
                <a:latin typeface="Calibri" panose="020F0502020204030204" pitchFamily="34" charset="0"/>
              </a:rPr>
              <a:t>etc</a:t>
            </a:r>
            <a:r>
              <a:rPr lang="es-ES" sz="1400">
                <a:solidFill>
                  <a:srgbClr val="000000"/>
                </a:solidFill>
                <a:latin typeface="Calibri" panose="020F0502020204030204" pitchFamily="34" charset="0"/>
              </a:rPr>
              <a:t>… </a:t>
            </a:r>
          </a:p>
          <a:p>
            <a:endParaRPr lang="es-ES" sz="1400">
              <a:solidFill>
                <a:srgbClr val="000000"/>
              </a:solidFill>
              <a:latin typeface="Calibri" panose="020F0502020204030204" pitchFamily="34" charset="0"/>
            </a:endParaRPr>
          </a:p>
          <a:p>
            <a:r>
              <a:rPr lang="es-ES" sz="1400">
                <a:solidFill>
                  <a:srgbClr val="000000"/>
                </a:solidFill>
                <a:latin typeface="Calibri" panose="020F0502020204030204" pitchFamily="34" charset="0"/>
              </a:rPr>
              <a:t>	a) ¿Cuánto demora la transferencia de la imagen a través de un modem de 56 Kbps? </a:t>
            </a:r>
          </a:p>
          <a:p>
            <a:r>
              <a:rPr lang="es-ES" sz="1400">
                <a:solidFill>
                  <a:srgbClr val="000000"/>
                </a:solidFill>
                <a:latin typeface="Calibri" panose="020F0502020204030204" pitchFamily="34" charset="0"/>
              </a:rPr>
              <a:t>	b) ¿Y con un cable modem de 1 Mbps? </a:t>
            </a:r>
          </a:p>
          <a:p>
            <a:r>
              <a:rPr lang="es-ES" sz="1400">
                <a:solidFill>
                  <a:srgbClr val="000000"/>
                </a:solidFill>
                <a:latin typeface="Calibri" panose="020F0502020204030204" pitchFamily="34" charset="0"/>
              </a:rPr>
              <a:t>	c) ¿Y con Ethernet de 10 Mbps? </a:t>
            </a:r>
          </a:p>
          <a:p>
            <a:r>
              <a:rPr lang="es-AR" sz="1400">
                <a:solidFill>
                  <a:srgbClr val="000000"/>
                </a:solidFill>
                <a:latin typeface="Calibri" panose="020F0502020204030204" pitchFamily="34" charset="0"/>
              </a:rPr>
              <a:t>	d) ¿Y con </a:t>
            </a:r>
            <a:r>
              <a:rPr lang="es-AR" sz="1400" err="1">
                <a:solidFill>
                  <a:srgbClr val="000000"/>
                </a:solidFill>
                <a:latin typeface="Calibri" panose="020F0502020204030204" pitchFamily="34" charset="0"/>
              </a:rPr>
              <a:t>GigaEthernet</a:t>
            </a:r>
            <a:r>
              <a:rPr lang="es-AR" sz="1400">
                <a:solidFill>
                  <a:srgbClr val="000000"/>
                </a:solidFill>
                <a:latin typeface="Calibri" panose="020F0502020204030204" pitchFamily="34" charset="0"/>
              </a:rPr>
              <a:t>? </a:t>
            </a:r>
            <a:endParaRPr lang="es-ES" sz="1400">
              <a:solidFill>
                <a:srgbClr val="000000"/>
              </a:solidFill>
              <a:latin typeface="Calibri" panose="020F0502020204030204" pitchFamily="34" charset="0"/>
            </a:endParaRPr>
          </a:p>
          <a:p>
            <a:r>
              <a:rPr lang="es-ES" sz="1400">
                <a:solidFill>
                  <a:srgbClr val="000000"/>
                </a:solidFill>
                <a:latin typeface="Calibri" panose="020F0502020204030204" pitchFamily="34" charset="0"/>
              </a:rPr>
              <a:t>  </a:t>
            </a:r>
            <a:endParaRPr lang="es-AR" sz="1400">
              <a:solidFill>
                <a:srgbClr val="000000"/>
              </a:solidFill>
              <a:latin typeface="Calibri" panose="020F0502020204030204" pitchFamily="34" charset="0"/>
            </a:endParaRPr>
          </a:p>
        </p:txBody>
      </p:sp>
    </p:spTree>
    <p:extLst>
      <p:ext uri="{BB962C8B-B14F-4D97-AF65-F5344CB8AC3E}">
        <p14:creationId xmlns:p14="http://schemas.microsoft.com/office/powerpoint/2010/main" val="161908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200" y="1677682"/>
            <a:ext cx="3911600" cy="16645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50" name="Picture 2" descr="Socios – CONFEDI">
            <a:extLst>
              <a:ext uri="{FF2B5EF4-FFF2-40B4-BE49-F238E27FC236}">
                <a16:creationId xmlns:a16="http://schemas.microsoft.com/office/drawing/2014/main" id="{94FE28C7-4B9A-34CF-8F98-773F3D2D86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0" y="5180318"/>
            <a:ext cx="5715000" cy="69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44560"/>
      </p:ext>
    </p:extLst>
  </p:cSld>
  <p:clrMapOvr>
    <a:masterClrMapping/>
  </p:clrMapOvr>
</p:sld>
</file>

<file path=ppt/theme/theme1.xml><?xml version="1.0" encoding="utf-8"?>
<a:theme xmlns:a="http://schemas.openxmlformats.org/drawingml/2006/main" name="Espiral">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DA4E8D6D0486344AA7B4CE707A6270F6" ma:contentTypeVersion="14" ma:contentTypeDescription="Crear nuevo documento." ma:contentTypeScope="" ma:versionID="a46a00073aa260d84f123a72e2a441ab">
  <xsd:schema xmlns:xsd="http://www.w3.org/2001/XMLSchema" xmlns:xs="http://www.w3.org/2001/XMLSchema" xmlns:p="http://schemas.microsoft.com/office/2006/metadata/properties" xmlns:ns2="930044ce-150d-4585-a095-122d50c6a967" xmlns:ns3="d9398c75-9b64-4eb3-923e-1c2e749e53f7" targetNamespace="http://schemas.microsoft.com/office/2006/metadata/properties" ma:root="true" ma:fieldsID="ae13c7b65cb0e90704d86c92720d8f51" ns2:_="" ns3:_="">
    <xsd:import namespace="930044ce-150d-4585-a095-122d50c6a967"/>
    <xsd:import namespace="d9398c75-9b64-4eb3-923e-1c2e749e53f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0044ce-150d-4585-a095-122d50c6a9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n" ma:readOnly="false" ma:fieldId="{5cf76f15-5ced-4ddc-b409-7134ff3c332f}" ma:taxonomyMulti="true" ma:sspId="8222c16d-7b94-478f-87a4-30f74c840f9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9398c75-9b64-4eb3-923e-1c2e749e53f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7eae1cc-bcd2-4078-a618-5416ef0939dd}" ma:internalName="TaxCatchAll" ma:showField="CatchAllData" ma:web="d9398c75-9b64-4eb3-923e-1c2e749e53f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30044ce-150d-4585-a095-122d50c6a967">
      <Terms xmlns="http://schemas.microsoft.com/office/infopath/2007/PartnerControls"/>
    </lcf76f155ced4ddcb4097134ff3c332f>
    <TaxCatchAll xmlns="d9398c75-9b64-4eb3-923e-1c2e749e53f7" xsi:nil="true"/>
  </documentManagement>
</p:properties>
</file>

<file path=customXml/itemProps1.xml><?xml version="1.0" encoding="utf-8"?>
<ds:datastoreItem xmlns:ds="http://schemas.openxmlformats.org/officeDocument/2006/customXml" ds:itemID="{27834D64-D704-401E-99CF-E454B08943E4}">
  <ds:schemaRefs>
    <ds:schemaRef ds:uri="http://schemas.microsoft.com/sharepoint/v3/contenttype/forms"/>
  </ds:schemaRefs>
</ds:datastoreItem>
</file>

<file path=customXml/itemProps2.xml><?xml version="1.0" encoding="utf-8"?>
<ds:datastoreItem xmlns:ds="http://schemas.openxmlformats.org/officeDocument/2006/customXml" ds:itemID="{55987A03-B69E-4440-8656-90FFEBC005FB}">
  <ds:schemaRefs>
    <ds:schemaRef ds:uri="930044ce-150d-4585-a095-122d50c6a967"/>
    <ds:schemaRef ds:uri="d9398c75-9b64-4eb3-923e-1c2e749e53f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1040C8C-11C3-43A6-93ED-6BDFF705D1FE}">
  <ds:schemaRefs>
    <ds:schemaRef ds:uri="930044ce-150d-4585-a095-122d50c6a967"/>
    <ds:schemaRef ds:uri="d9398c75-9b64-4eb3-923e-1c2e749e53f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Wisp</Template>
  <Application>Microsoft Office PowerPoint</Application>
  <PresentationFormat>Panorámica</PresentationFormat>
  <Slides>16</Slides>
  <Notes>0</Notes>
  <HiddenSlides>0</HiddenSlide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Espiral</vt:lpstr>
      <vt:lpstr>Practica  Introductoria</vt:lpstr>
      <vt:lpstr>Conceptos Iniciales </vt:lpstr>
      <vt:lpstr>Conceptos Iniciales </vt:lpstr>
      <vt:lpstr>Conceptos Iniciales </vt:lpstr>
      <vt:lpstr>Conceptos Iniciales </vt:lpstr>
      <vt:lpstr>Elementos de medición</vt:lpstr>
      <vt:lpstr>Control de medición.</vt:lpstr>
      <vt:lpstr>Otras herramientas</vt:lpstr>
      <vt:lpstr>Practica 1 </vt:lpstr>
      <vt:lpstr>Practica 2 </vt:lpstr>
      <vt:lpstr>Practica 3 </vt:lpstr>
      <vt:lpstr>Practica 4 </vt:lpstr>
      <vt:lpstr>Practica 5 </vt:lpstr>
      <vt:lpstr>Practica 6 </vt:lpstr>
      <vt:lpstr>Practica 7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CISCO ASR-920</dc:title>
  <dc:creator>diogenes pastori</dc:creator>
  <cp:revision>91</cp:revision>
  <dcterms:created xsi:type="dcterms:W3CDTF">2019-07-15T14:34:59Z</dcterms:created>
  <dcterms:modified xsi:type="dcterms:W3CDTF">2024-05-27T20:42:19Z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0x010100DA4E8D6D0486344AA7B4CE707A6270F6</vt:lpwstr>
  </property>
</Properties>
</file>