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62" r:id="rId2"/>
    <p:sldId id="256" r:id="rId3"/>
    <p:sldId id="263" r:id="rId4"/>
    <p:sldId id="264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0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59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104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811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640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45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050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203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9207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304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802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244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453D-470E-429C-A108-D00BC31EBEFD}" type="datetimeFigureOut">
              <a:rPr lang="es-AR" smtClean="0"/>
              <a:t>04/06/2024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A9FDB-6B7E-4937-9707-87641E0C2BE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59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86633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AR" b="1" smtClean="0"/>
              <a:t>Las </a:t>
            </a:r>
            <a:r>
              <a:rPr lang="es-AR" b="1" dirty="0" smtClean="0"/>
              <a:t>forma jurídica de las relaciones entre organizaciones</a:t>
            </a:r>
            <a:endParaRPr lang="es-A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3645024"/>
            <a:ext cx="47625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05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AR" b="1" dirty="0" smtClean="0"/>
              <a:t>Contrato: Concepto</a:t>
            </a:r>
            <a:endParaRPr lang="es-AR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87624" y="1916832"/>
            <a:ext cx="6400800" cy="4248472"/>
          </a:xfrm>
        </p:spPr>
        <p:txBody>
          <a:bodyPr>
            <a:normAutofit/>
          </a:bodyPr>
          <a:lstStyle/>
          <a:p>
            <a:endParaRPr lang="es-AR" sz="1800" b="1" i="0" dirty="0" smtClean="0">
              <a:solidFill>
                <a:srgbClr val="222222"/>
              </a:solidFill>
              <a:effectLst/>
              <a:latin typeface="arial"/>
            </a:endParaRPr>
          </a:p>
          <a:p>
            <a:r>
              <a:rPr lang="es-AR" sz="1800" b="1" i="0" dirty="0" smtClean="0">
                <a:solidFill>
                  <a:srgbClr val="222222"/>
                </a:solidFill>
                <a:effectLst/>
                <a:latin typeface="arial"/>
              </a:rPr>
              <a:t>Art 957 </a:t>
            </a:r>
            <a:r>
              <a:rPr lang="es-AR" sz="1800" b="1" i="0" dirty="0" err="1" smtClean="0">
                <a:solidFill>
                  <a:srgbClr val="222222"/>
                </a:solidFill>
                <a:effectLst/>
                <a:latin typeface="arial"/>
              </a:rPr>
              <a:t>CCyCN</a:t>
            </a:r>
            <a:r>
              <a:rPr lang="es-AR" sz="1800" b="0" i="0" dirty="0" smtClean="0">
                <a:solidFill>
                  <a:srgbClr val="222222"/>
                </a:solidFill>
                <a:effectLst/>
                <a:latin typeface="arial"/>
              </a:rPr>
              <a:t>. -</a:t>
            </a:r>
            <a:r>
              <a:rPr lang="es-AR" sz="1800" b="1" i="0" dirty="0" smtClean="0">
                <a:solidFill>
                  <a:srgbClr val="222222"/>
                </a:solidFill>
                <a:effectLst/>
                <a:latin typeface="arial"/>
              </a:rPr>
              <a:t>Definición. Contrato es el acto jurídico mediante el cual dos o más partes manifiestan su consentimiento para crear, regular, modificar, transferir o extinguir relaciones jurídicas patrimoniales.</a:t>
            </a:r>
          </a:p>
          <a:p>
            <a:endParaRPr lang="es-AR" sz="1800" dirty="0" smtClean="0"/>
          </a:p>
          <a:p>
            <a:endParaRPr lang="es-AR" sz="1800" dirty="0"/>
          </a:p>
          <a:p>
            <a:endParaRPr lang="es-AR" sz="1800" dirty="0" smtClean="0"/>
          </a:p>
          <a:p>
            <a:endParaRPr lang="es-AR" sz="1800" dirty="0"/>
          </a:p>
          <a:p>
            <a:endParaRPr lang="es-AR" sz="1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221088"/>
            <a:ext cx="3877866" cy="171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075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3999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1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1368151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AR" dirty="0" smtClean="0"/>
              <a:t>CLASIFICACIÓN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 flipH="1">
            <a:off x="5652119" y="5255220"/>
            <a:ext cx="2776265" cy="1486147"/>
          </a:xfrm>
        </p:spPr>
        <p:txBody>
          <a:bodyPr>
            <a:normAutofit/>
          </a:bodyPr>
          <a:lstStyle/>
          <a:p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1" y="2204864"/>
            <a:ext cx="7900410" cy="305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5" y="5255221"/>
            <a:ext cx="3944896" cy="1479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5409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260648"/>
            <a:ext cx="7772400" cy="14700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AR" b="1" dirty="0" smtClean="0"/>
              <a:t>El contrato como instrumento económico</a:t>
            </a:r>
            <a:endParaRPr lang="es-AR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3568" y="2276872"/>
            <a:ext cx="7992888" cy="3361928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AR" b="1" dirty="0" smtClean="0">
                <a:solidFill>
                  <a:schemeClr val="tx1"/>
                </a:solidFill>
              </a:rPr>
              <a:t>Contratos paritarios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AR" b="1" dirty="0" smtClean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AR" b="1" dirty="0" smtClean="0">
                <a:solidFill>
                  <a:schemeClr val="tx1"/>
                </a:solidFill>
              </a:rPr>
              <a:t>Contratos por adhesión a cláusulas predispuestas</a:t>
            </a:r>
          </a:p>
          <a:p>
            <a:pPr algn="l"/>
            <a:endParaRPr lang="es-AR" b="1" dirty="0" smtClean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AR" b="1" dirty="0" smtClean="0">
                <a:solidFill>
                  <a:schemeClr val="tx1"/>
                </a:solidFill>
              </a:rPr>
              <a:t>Contratos de consumo</a:t>
            </a:r>
            <a:endParaRPr lang="es-A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1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548681"/>
            <a:ext cx="7772400" cy="122413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AR" b="1" dirty="0" smtClean="0"/>
              <a:t>Contratos paritarios</a:t>
            </a:r>
            <a:endParaRPr lang="es-AR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99592" y="2348880"/>
            <a:ext cx="7200800" cy="3289920"/>
          </a:xfrm>
        </p:spPr>
        <p:txBody>
          <a:bodyPr>
            <a:normAutofit fontScale="92500"/>
          </a:bodyPr>
          <a:lstStyle/>
          <a:p>
            <a:pPr algn="just">
              <a:spcAft>
                <a:spcPts val="150"/>
              </a:spcAft>
            </a:pPr>
            <a:r>
              <a:rPr lang="es-AR" sz="30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Reflejan la estructura tradicional de formación del contrato: éste es el resultado de un acuerdo entre partes que se encuentran en igualdad de condiciones </a:t>
            </a:r>
            <a:r>
              <a:rPr lang="es-AR" sz="30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negociales</a:t>
            </a:r>
            <a:r>
              <a:rPr lang="es-AR" sz="30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y que regulan sus intereses en un mismo plano de fuerza </a:t>
            </a:r>
            <a:r>
              <a:rPr lang="es-AR" sz="30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negocial</a:t>
            </a:r>
            <a:r>
              <a:rPr lang="es-AR" sz="30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AR" sz="2400" dirty="0">
                <a:ea typeface="Calibri"/>
                <a:cs typeface="Times New Roman"/>
              </a:rPr>
              <a:t> 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4571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404664"/>
            <a:ext cx="7772400" cy="147002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AR" b="1" dirty="0" smtClean="0"/>
              <a:t>Contratos por adhesión</a:t>
            </a:r>
            <a:endParaRPr lang="es-AR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416824" cy="3505944"/>
          </a:xfrm>
        </p:spPr>
        <p:txBody>
          <a:bodyPr>
            <a:normAutofit/>
          </a:bodyPr>
          <a:lstStyle/>
          <a:p>
            <a:pPr algn="just"/>
            <a:r>
              <a:rPr lang="es-AR" sz="2800" dirty="0">
                <a:solidFill>
                  <a:schemeClr val="tx1"/>
                </a:solidFill>
                <a:ea typeface="Calibri"/>
                <a:cs typeface="Times New Roman"/>
              </a:rPr>
              <a:t>En esta categoría contractual un sujeto, llamado </a:t>
            </a:r>
            <a:r>
              <a:rPr lang="es-AR" sz="2800" dirty="0" smtClean="0">
                <a:solidFill>
                  <a:schemeClr val="tx1"/>
                </a:solidFill>
                <a:ea typeface="Calibri"/>
                <a:cs typeface="Times New Roman"/>
              </a:rPr>
              <a:t>predisponente, impone </a:t>
            </a:r>
            <a:r>
              <a:rPr lang="es-AR" sz="2800" dirty="0">
                <a:solidFill>
                  <a:schemeClr val="tx1"/>
                </a:solidFill>
                <a:ea typeface="Calibri"/>
                <a:cs typeface="Times New Roman"/>
              </a:rPr>
              <a:t>el contenido del contrato a su contraparte, denominada adherente, quien solo puede aceptar o rechazar el acuerdo, mas no modificarlo. </a:t>
            </a:r>
            <a:endParaRPr lang="es-AR" sz="2800" dirty="0" smtClean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r>
              <a:rPr lang="es-AR" sz="2800" b="1" dirty="0" smtClean="0">
                <a:solidFill>
                  <a:schemeClr val="tx1"/>
                </a:solidFill>
                <a:ea typeface="Calibri"/>
                <a:cs typeface="Times New Roman"/>
              </a:rPr>
              <a:t>Son </a:t>
            </a:r>
            <a:r>
              <a:rPr lang="es-AR" sz="2800" b="1" dirty="0">
                <a:solidFill>
                  <a:schemeClr val="tx1"/>
                </a:solidFill>
                <a:ea typeface="Calibri"/>
                <a:cs typeface="Times New Roman"/>
              </a:rPr>
              <a:t>acuerdos en los que no hay negociación </a:t>
            </a:r>
            <a:r>
              <a:rPr lang="es-AR" sz="2800" b="1" dirty="0" smtClean="0">
                <a:solidFill>
                  <a:schemeClr val="tx1"/>
                </a:solidFill>
                <a:ea typeface="Calibri"/>
                <a:cs typeface="Times New Roman"/>
              </a:rPr>
              <a:t>previa</a:t>
            </a:r>
            <a:r>
              <a:rPr lang="es-AR" sz="2800" b="1" dirty="0">
                <a:solidFill>
                  <a:schemeClr val="tx1"/>
                </a:solidFill>
                <a:ea typeface="Calibri"/>
                <a:cs typeface="Times New Roman"/>
              </a:rPr>
              <a:t>.</a:t>
            </a:r>
            <a:endParaRPr lang="es-A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86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27584" y="404664"/>
            <a:ext cx="7772400" cy="147002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AR" b="1" dirty="0" smtClean="0"/>
              <a:t>Contratos de consumo</a:t>
            </a:r>
            <a:endParaRPr lang="es-AR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71600" y="2348880"/>
            <a:ext cx="7128792" cy="3240360"/>
          </a:xfrm>
        </p:spPr>
        <p:txBody>
          <a:bodyPr>
            <a:normAutofit fontScale="85000" lnSpcReduction="10000"/>
          </a:bodyPr>
          <a:lstStyle/>
          <a:p>
            <a:r>
              <a:rPr lang="es-AR" dirty="0">
                <a:solidFill>
                  <a:schemeClr val="tx1"/>
                </a:solidFill>
              </a:rPr>
              <a:t>E</a:t>
            </a:r>
            <a:r>
              <a:rPr lang="es-AR" dirty="0" smtClean="0">
                <a:solidFill>
                  <a:schemeClr val="tx1"/>
                </a:solidFill>
              </a:rPr>
              <a:t>s el celebrado a título oneroso entre un consumidor final –persona física o jurídica–, con una persona física o jurídica que actúe profesional u ocasionalmente o con una empresa productora de bienes o prestadora de servicios, pública o privada y que tenga por objeto la adquisición, uso o goce de los mismos por parte del primero, para su uso privado, familiar o social</a:t>
            </a:r>
            <a:r>
              <a:rPr lang="es-AR" dirty="0" smtClean="0"/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2739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</TotalTime>
  <Words>226</Words>
  <Application>Microsoft Office PowerPoint</Application>
  <PresentationFormat>Presentación en pantalla (4:3)</PresentationFormat>
  <Paragraphs>22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Las forma jurídica de las relaciones entre organizaciones</vt:lpstr>
      <vt:lpstr>Contrato: Concepto</vt:lpstr>
      <vt:lpstr>Presentación de PowerPoint</vt:lpstr>
      <vt:lpstr>CLASIFICACIÓN</vt:lpstr>
      <vt:lpstr>El contrato como instrumento económico</vt:lpstr>
      <vt:lpstr>Contratos paritarios</vt:lpstr>
      <vt:lpstr>Contratos por adhesión</vt:lpstr>
      <vt:lpstr>Contratos de consumo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Contrato: Concepto</dc:title>
  <dc:creator>Patricia</dc:creator>
  <cp:lastModifiedBy>Martin Gabriel Trucco</cp:lastModifiedBy>
  <cp:revision>21</cp:revision>
  <dcterms:created xsi:type="dcterms:W3CDTF">2020-04-09T21:19:36Z</dcterms:created>
  <dcterms:modified xsi:type="dcterms:W3CDTF">2024-06-04T19:02:17Z</dcterms:modified>
</cp:coreProperties>
</file>