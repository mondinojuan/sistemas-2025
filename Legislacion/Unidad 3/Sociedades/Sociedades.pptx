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9" r:id="rId5"/>
    <p:sldId id="267" r:id="rId6"/>
    <p:sldId id="268" r:id="rId7"/>
    <p:sldId id="258" r:id="rId8"/>
    <p:sldId id="260" r:id="rId9"/>
    <p:sldId id="261" r:id="rId10"/>
    <p:sldId id="262" r:id="rId11"/>
    <p:sldId id="263" r:id="rId12"/>
    <p:sldId id="259" r:id="rId13"/>
    <p:sldId id="264" r:id="rId14"/>
    <p:sldId id="265" r:id="rId15"/>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121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32818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86972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255386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170434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3214690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42744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11047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77023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2706125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39253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5B98627C-453E-46FE-9760-0DBED7870F9A}" type="datetimeFigureOut">
              <a:rPr lang="es-AR" smtClean="0"/>
              <a:t>27/4/2025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D0BC70C3-2021-4562-9893-1F13D6773A2F}" type="slidenum">
              <a:rPr lang="es-AR" smtClean="0"/>
              <a:t>‹Nº›</a:t>
            </a:fld>
            <a:endParaRPr lang="es-AR"/>
          </a:p>
        </p:txBody>
      </p:sp>
    </p:spTree>
    <p:extLst>
      <p:ext uri="{BB962C8B-B14F-4D97-AF65-F5344CB8AC3E}">
        <p14:creationId xmlns:p14="http://schemas.microsoft.com/office/powerpoint/2010/main" val="1346583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98627C-453E-46FE-9760-0DBED7870F9A}" type="datetimeFigureOut">
              <a:rPr lang="es-AR" smtClean="0"/>
              <a:t>27/4/2025</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BC70C3-2021-4562-9893-1F13D6773A2F}" type="slidenum">
              <a:rPr lang="es-AR" smtClean="0"/>
              <a:t>‹Nº›</a:t>
            </a:fld>
            <a:endParaRPr lang="es-AR"/>
          </a:p>
        </p:txBody>
      </p:sp>
    </p:spTree>
    <p:extLst>
      <p:ext uri="{BB962C8B-B14F-4D97-AF65-F5344CB8AC3E}">
        <p14:creationId xmlns:p14="http://schemas.microsoft.com/office/powerpoint/2010/main" val="2024726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332657"/>
            <a:ext cx="7772400" cy="1512167"/>
          </a:xfrm>
        </p:spPr>
        <p:txBody>
          <a:bodyPr/>
          <a:lstStyle/>
          <a:p>
            <a:r>
              <a:rPr lang="es-AR" dirty="0"/>
              <a:t>Ley General de Sociedades (Ley 19.550 </a:t>
            </a:r>
            <a:r>
              <a:rPr lang="es-AR" dirty="0" err="1"/>
              <a:t>Mod</a:t>
            </a:r>
            <a:r>
              <a:rPr lang="es-AR" dirty="0"/>
              <a:t>. Ley 26994 del 2014)</a:t>
            </a:r>
          </a:p>
        </p:txBody>
      </p:sp>
      <p:sp>
        <p:nvSpPr>
          <p:cNvPr id="3" name="2 Subtítulo"/>
          <p:cNvSpPr>
            <a:spLocks noGrp="1"/>
          </p:cNvSpPr>
          <p:nvPr>
            <p:ph type="subTitle" idx="1"/>
          </p:nvPr>
        </p:nvSpPr>
        <p:spPr>
          <a:xfrm>
            <a:off x="2987824" y="3965451"/>
            <a:ext cx="2808312" cy="1752600"/>
          </a:xfrm>
        </p:spPr>
        <p:txBody>
          <a:bodyPr/>
          <a:lstStyle/>
          <a:p>
            <a:endParaRPr lang="es-A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636912"/>
            <a:ext cx="4248472" cy="3632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007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685800" y="332657"/>
            <a:ext cx="4318248" cy="2088231"/>
          </a:xfrm>
        </p:spPr>
        <p:txBody>
          <a:bodyPr/>
          <a:lstStyle/>
          <a:p>
            <a:r>
              <a:rPr lang="es-AR" dirty="0"/>
              <a:t>Concepto de sociedad</a:t>
            </a:r>
          </a:p>
        </p:txBody>
      </p:sp>
      <p:sp>
        <p:nvSpPr>
          <p:cNvPr id="5" name="4 Subtítulo"/>
          <p:cNvSpPr>
            <a:spLocks noGrp="1"/>
          </p:cNvSpPr>
          <p:nvPr>
            <p:ph type="subTitle" idx="1"/>
          </p:nvPr>
        </p:nvSpPr>
        <p:spPr>
          <a:xfrm>
            <a:off x="1403648" y="2852936"/>
            <a:ext cx="6120680" cy="3456384"/>
          </a:xfrm>
        </p:spPr>
        <p:txBody>
          <a:bodyPr>
            <a:normAutofit/>
          </a:bodyPr>
          <a:lstStyle/>
          <a:p>
            <a:pPr algn="l"/>
            <a:r>
              <a:rPr lang="es-AR" sz="2000" b="0" i="0" dirty="0">
                <a:solidFill>
                  <a:srgbClr val="000000"/>
                </a:solidFill>
                <a:effectLst/>
                <a:latin typeface="Times New Roman" panose="02020603050405020304" pitchFamily="18" charset="0"/>
                <a:cs typeface="Times New Roman" panose="02020603050405020304" pitchFamily="18" charset="0"/>
              </a:rPr>
              <a:t>ARTICULO 1º — Habrá sociedad si una o más personas en forma organizada conforme a uno de los tipos previstos en esta ley, se obligan a realizar aportes para aplicarlos a la producción o intercambio de bienes o servicios, participando de los beneficios y soportando las pérdidas.</a:t>
            </a:r>
            <a:br>
              <a:rPr lang="es-AR" sz="2000" dirty="0">
                <a:latin typeface="Times New Roman" panose="02020603050405020304" pitchFamily="18" charset="0"/>
                <a:cs typeface="Times New Roman" panose="02020603050405020304" pitchFamily="18" charset="0"/>
              </a:rPr>
            </a:br>
            <a:br>
              <a:rPr lang="es-AR" sz="2000" dirty="0">
                <a:latin typeface="Times New Roman" panose="02020603050405020304" pitchFamily="18" charset="0"/>
                <a:cs typeface="Times New Roman" panose="02020603050405020304" pitchFamily="18" charset="0"/>
              </a:rPr>
            </a:br>
            <a:r>
              <a:rPr lang="es-AR" sz="2000" b="0" i="0" dirty="0">
                <a:solidFill>
                  <a:srgbClr val="000000"/>
                </a:solidFill>
                <a:effectLst/>
                <a:latin typeface="Times New Roman" panose="02020603050405020304" pitchFamily="18" charset="0"/>
                <a:cs typeface="Times New Roman" panose="02020603050405020304" pitchFamily="18" charset="0"/>
              </a:rPr>
              <a:t>La sociedad unipersonal sólo se podrá constituir como sociedad anónima. La sociedad unipersonal no puede constituirse por una sociedad unipersonal.</a:t>
            </a:r>
            <a:endParaRPr lang="es-AR" sz="2000" dirty="0">
              <a:latin typeface="Times New Roman" panose="02020603050405020304" pitchFamily="18" charset="0"/>
              <a:cs typeface="Times New Roman" panose="02020603050405020304" pitchFamily="18" charset="0"/>
            </a:endParaRPr>
          </a:p>
        </p:txBody>
      </p:sp>
      <p:pic>
        <p:nvPicPr>
          <p:cNvPr id="20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851343">
            <a:off x="4860032" y="764704"/>
            <a:ext cx="3598533"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401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A1FEBC-61E0-807E-99EE-4C80B14F2459}"/>
              </a:ext>
            </a:extLst>
          </p:cNvPr>
          <p:cNvSpPr>
            <a:spLocks noGrp="1"/>
          </p:cNvSpPr>
          <p:nvPr>
            <p:ph type="title"/>
          </p:nvPr>
        </p:nvSpPr>
        <p:spPr/>
        <p:txBody>
          <a:bodyPr/>
          <a:lstStyle/>
          <a:p>
            <a:r>
              <a:rPr lang="es-MX" dirty="0"/>
              <a:t>Sociedades unipersonales</a:t>
            </a:r>
            <a:endParaRPr lang="es-AR" dirty="0"/>
          </a:p>
        </p:txBody>
      </p:sp>
      <p:sp>
        <p:nvSpPr>
          <p:cNvPr id="3" name="Marcador de contenido 2">
            <a:extLst>
              <a:ext uri="{FF2B5EF4-FFF2-40B4-BE49-F238E27FC236}">
                <a16:creationId xmlns:a16="http://schemas.microsoft.com/office/drawing/2014/main" id="{23B92E17-450B-11CD-D56B-4917014A5349}"/>
              </a:ext>
            </a:extLst>
          </p:cNvPr>
          <p:cNvSpPr>
            <a:spLocks noGrp="1"/>
          </p:cNvSpPr>
          <p:nvPr>
            <p:ph idx="1"/>
          </p:nvPr>
        </p:nvSpPr>
        <p:spPr>
          <a:xfrm>
            <a:off x="457200" y="2132856"/>
            <a:ext cx="8229600" cy="3993307"/>
          </a:xfrm>
        </p:spPr>
        <p:txBody>
          <a:bodyPr>
            <a:normAutofit fontScale="47500" lnSpcReduction="20000"/>
          </a:bodyPr>
          <a:lstStyle/>
          <a:p>
            <a:pPr marL="0" indent="0">
              <a:buNone/>
            </a:pPr>
            <a:r>
              <a:rPr lang="es-MX" b="0" i="0" dirty="0">
                <a:solidFill>
                  <a:srgbClr val="141414"/>
                </a:solidFill>
                <a:effectLst/>
                <a:latin typeface="Montserrat" panose="00000500000000000000" pitchFamily="2" charset="0"/>
              </a:rPr>
              <a:t>Antes, para constituir una sociedad debían reunirse por lo menos dos personas. Ahora se permite la sociedad formada por una sola persona que aporta bienes para la producción o intercambio de otros bienes o servicios.</a:t>
            </a:r>
          </a:p>
          <a:p>
            <a:pPr marL="0" indent="0">
              <a:buNone/>
            </a:pPr>
            <a:endParaRPr lang="es-MX" dirty="0">
              <a:solidFill>
                <a:srgbClr val="141414"/>
              </a:solidFill>
              <a:latin typeface="Montserrat" panose="00000500000000000000" pitchFamily="2" charset="0"/>
            </a:endParaRPr>
          </a:p>
          <a:p>
            <a:pPr marL="0" indent="0">
              <a:buNone/>
            </a:pPr>
            <a:r>
              <a:rPr lang="es-MX" u="sng" dirty="0">
                <a:solidFill>
                  <a:srgbClr val="141414"/>
                </a:solidFill>
                <a:latin typeface="Montserrat" panose="00000500000000000000" pitchFamily="2" charset="0"/>
              </a:rPr>
              <a:t>Ventaja:</a:t>
            </a:r>
            <a:r>
              <a:rPr lang="es-MX" dirty="0">
                <a:solidFill>
                  <a:srgbClr val="141414"/>
                </a:solidFill>
                <a:latin typeface="Montserrat" panose="00000500000000000000" pitchFamily="2" charset="0"/>
              </a:rPr>
              <a:t> </a:t>
            </a:r>
            <a:r>
              <a:rPr lang="es-MX" b="0" i="0" dirty="0">
                <a:solidFill>
                  <a:srgbClr val="141414"/>
                </a:solidFill>
                <a:effectLst/>
                <a:latin typeface="Montserrat" panose="00000500000000000000" pitchFamily="2" charset="0"/>
              </a:rPr>
              <a:t>Permite que cualquier persona pueda separar una parte de su patrimonio para dedicarlo a una actividad comercial sin que los riesgos de esa actividad comercial afecten todo su patrimonio, porque su responsabilidad queda limitada a esa porción que dedicó a la sociedad.</a:t>
            </a:r>
          </a:p>
          <a:p>
            <a:pPr marL="0" indent="0">
              <a:buNone/>
            </a:pPr>
            <a:endParaRPr lang="es-MX" dirty="0">
              <a:solidFill>
                <a:srgbClr val="141414"/>
              </a:solidFill>
              <a:latin typeface="Montserrat" panose="00000500000000000000" pitchFamily="2" charset="0"/>
            </a:endParaRPr>
          </a:p>
          <a:p>
            <a:pPr marL="0" indent="0">
              <a:buNone/>
            </a:pPr>
            <a:r>
              <a:rPr lang="es-MX" u="sng" dirty="0">
                <a:solidFill>
                  <a:srgbClr val="141414"/>
                </a:solidFill>
                <a:latin typeface="Montserrat" panose="00000500000000000000" pitchFamily="2" charset="0"/>
              </a:rPr>
              <a:t>Confusión de  patrimonios</a:t>
            </a:r>
            <a:r>
              <a:rPr lang="es-MX" dirty="0">
                <a:solidFill>
                  <a:srgbClr val="141414"/>
                </a:solidFill>
                <a:latin typeface="Montserrat" panose="00000500000000000000" pitchFamily="2" charset="0"/>
              </a:rPr>
              <a:t>: uno de los principales temores es la facilidad con la que se puede difuminar la línea  entre el patrimonio personal del titular y el de la sociedad. Esto abre la puerta a prácticas fraudulentas, donde se podrían transferir activos personales a la sociedad para evadir deudas o responsabilidades</a:t>
            </a:r>
            <a:endParaRPr lang="es-MX" b="0" i="0" dirty="0">
              <a:solidFill>
                <a:srgbClr val="141414"/>
              </a:solidFill>
              <a:effectLst/>
              <a:latin typeface="Montserrat" panose="00000500000000000000" pitchFamily="2" charset="0"/>
            </a:endParaRPr>
          </a:p>
          <a:p>
            <a:pPr marL="0" indent="0">
              <a:buNone/>
            </a:pPr>
            <a:endParaRPr lang="es-MX" b="0" i="0" dirty="0">
              <a:solidFill>
                <a:srgbClr val="141414"/>
              </a:solidFill>
              <a:effectLst/>
              <a:latin typeface="Montserrat" panose="00000500000000000000" pitchFamily="2" charset="0"/>
            </a:endParaRPr>
          </a:p>
          <a:p>
            <a:pPr marL="0" indent="0">
              <a:buNone/>
            </a:pPr>
            <a:r>
              <a:rPr lang="es-MX" u="sng" dirty="0">
                <a:solidFill>
                  <a:srgbClr val="141414"/>
                </a:solidFill>
                <a:latin typeface="Montserrat" panose="00000500000000000000" pitchFamily="2" charset="0"/>
              </a:rPr>
              <a:t>Protección indebida de activos</a:t>
            </a:r>
            <a:r>
              <a:rPr lang="es-MX" dirty="0">
                <a:solidFill>
                  <a:srgbClr val="141414"/>
                </a:solidFill>
                <a:latin typeface="Montserrat" panose="00000500000000000000" pitchFamily="2" charset="0"/>
              </a:rPr>
              <a:t>: la limitación de responsabilidad de esta sociedad podrá ser mal utilizada para proteger activos personales de forma injusta frente a acreedores o en casos de litigios</a:t>
            </a:r>
            <a:endParaRPr lang="es-AR" dirty="0"/>
          </a:p>
        </p:txBody>
      </p:sp>
    </p:spTree>
    <p:extLst>
      <p:ext uri="{BB962C8B-B14F-4D97-AF65-F5344CB8AC3E}">
        <p14:creationId xmlns:p14="http://schemas.microsoft.com/office/powerpoint/2010/main" val="2146884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3B8CEB-1EA8-D473-60B1-9E429ED8FC5D}"/>
              </a:ext>
            </a:extLst>
          </p:cNvPr>
          <p:cNvSpPr>
            <a:spLocks noGrp="1"/>
          </p:cNvSpPr>
          <p:nvPr>
            <p:ph type="title"/>
          </p:nvPr>
        </p:nvSpPr>
        <p:spPr>
          <a:xfrm>
            <a:off x="457200" y="620688"/>
            <a:ext cx="8229600" cy="1152128"/>
          </a:xfrm>
        </p:spPr>
        <p:txBody>
          <a:bodyPr>
            <a:normAutofit fontScale="90000"/>
          </a:bodyPr>
          <a:lstStyle/>
          <a:p>
            <a:r>
              <a:rPr lang="es-MX" b="1" i="0" spc="-20" dirty="0">
                <a:solidFill>
                  <a:srgbClr val="141414"/>
                </a:solidFill>
                <a:effectLst/>
                <a:latin typeface="Lora" pitchFamily="2" charset="0"/>
              </a:rPr>
              <a:t>¿Cómo se hace para formar una sociedad unipersonal?</a:t>
            </a:r>
            <a:br>
              <a:rPr lang="es-MX" b="1" i="0" spc="-20" dirty="0">
                <a:solidFill>
                  <a:srgbClr val="141414"/>
                </a:solidFill>
                <a:effectLst/>
                <a:latin typeface="Lora" pitchFamily="2" charset="0"/>
              </a:rPr>
            </a:br>
            <a:endParaRPr lang="es-AR" dirty="0"/>
          </a:p>
        </p:txBody>
      </p:sp>
      <p:sp>
        <p:nvSpPr>
          <p:cNvPr id="3" name="Marcador de contenido 2">
            <a:extLst>
              <a:ext uri="{FF2B5EF4-FFF2-40B4-BE49-F238E27FC236}">
                <a16:creationId xmlns:a16="http://schemas.microsoft.com/office/drawing/2014/main" id="{7DD7BD46-B700-67D0-6680-7E66A26FB6E9}"/>
              </a:ext>
            </a:extLst>
          </p:cNvPr>
          <p:cNvSpPr>
            <a:spLocks noGrp="1"/>
          </p:cNvSpPr>
          <p:nvPr>
            <p:ph idx="1"/>
          </p:nvPr>
        </p:nvSpPr>
        <p:spPr>
          <a:xfrm>
            <a:off x="251520" y="1988840"/>
            <a:ext cx="8640960" cy="4594522"/>
          </a:xfrm>
        </p:spPr>
        <p:txBody>
          <a:bodyPr>
            <a:normAutofit fontScale="70000" lnSpcReduction="20000"/>
          </a:bodyPr>
          <a:lstStyle/>
          <a:p>
            <a:pPr algn="l">
              <a:spcAft>
                <a:spcPts val="1800"/>
              </a:spcAft>
              <a:buNone/>
            </a:pPr>
            <a:r>
              <a:rPr lang="es-MX" dirty="0">
                <a:solidFill>
                  <a:srgbClr val="141414"/>
                </a:solidFill>
                <a:latin typeface="Montserrat" panose="00000500000000000000" pitchFamily="2" charset="0"/>
              </a:rPr>
              <a:t>     Se tienen que </a:t>
            </a:r>
            <a:r>
              <a:rPr lang="es-MX" b="0" i="0" dirty="0">
                <a:solidFill>
                  <a:srgbClr val="141414"/>
                </a:solidFill>
                <a:effectLst/>
                <a:latin typeface="Montserrat" panose="00000500000000000000" pitchFamily="2" charset="0"/>
              </a:rPr>
              <a:t>seguir los mismos pasos que para constituir una sociedad anónima. La diferencia fundamental está en la integración del capital: si constituís una sociedad anónima unipersonal, el capital social debe ser integrado totalmente al constituir la sociedad. Por ejemplo, si la sociedad tendrá un capital de $ 100, ese dinero debe ser depositado en el Banco de la Nación Argentina al momento de la constitución (al finalizar con todo el trámite de inscripción, el Banco te devuelve el dinero).</a:t>
            </a:r>
          </a:p>
          <a:p>
            <a:pPr algn="l">
              <a:spcAft>
                <a:spcPts val="1800"/>
              </a:spcAft>
            </a:pPr>
            <a:r>
              <a:rPr lang="es-MX" b="0" i="0" dirty="0">
                <a:solidFill>
                  <a:srgbClr val="141414"/>
                </a:solidFill>
                <a:effectLst/>
                <a:latin typeface="Montserrat" panose="00000500000000000000" pitchFamily="2" charset="0"/>
              </a:rPr>
              <a:t>En las sociedades anónimas comunes, es suficiente con la integración del 25% del capital al momento de la constitución y el resto puede ser completado en 2 años.</a:t>
            </a:r>
          </a:p>
          <a:p>
            <a:endParaRPr lang="es-AR" dirty="0"/>
          </a:p>
        </p:txBody>
      </p:sp>
    </p:spTree>
    <p:extLst>
      <p:ext uri="{BB962C8B-B14F-4D97-AF65-F5344CB8AC3E}">
        <p14:creationId xmlns:p14="http://schemas.microsoft.com/office/powerpoint/2010/main" val="407963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27D54E-1C75-8180-8804-12745A7009DB}"/>
              </a:ext>
            </a:extLst>
          </p:cNvPr>
          <p:cNvSpPr>
            <a:spLocks noGrp="1"/>
          </p:cNvSpPr>
          <p:nvPr>
            <p:ph type="title"/>
          </p:nvPr>
        </p:nvSpPr>
        <p:spPr/>
        <p:txBody>
          <a:bodyPr/>
          <a:lstStyle/>
          <a:p>
            <a:r>
              <a:rPr lang="es-MX" dirty="0"/>
              <a:t>Particularidades de una SAU</a:t>
            </a:r>
            <a:endParaRPr lang="es-AR" dirty="0"/>
          </a:p>
        </p:txBody>
      </p:sp>
      <p:sp>
        <p:nvSpPr>
          <p:cNvPr id="3" name="Marcador de contenido 2">
            <a:extLst>
              <a:ext uri="{FF2B5EF4-FFF2-40B4-BE49-F238E27FC236}">
                <a16:creationId xmlns:a16="http://schemas.microsoft.com/office/drawing/2014/main" id="{C82B1294-74D3-BA60-015E-705773AF81A8}"/>
              </a:ext>
            </a:extLst>
          </p:cNvPr>
          <p:cNvSpPr>
            <a:spLocks noGrp="1"/>
          </p:cNvSpPr>
          <p:nvPr>
            <p:ph idx="1"/>
          </p:nvPr>
        </p:nvSpPr>
        <p:spPr/>
        <p:txBody>
          <a:bodyPr>
            <a:normAutofit fontScale="77500" lnSpcReduction="20000"/>
          </a:bodyPr>
          <a:lstStyle/>
          <a:p>
            <a:pPr algn="l">
              <a:spcAft>
                <a:spcPts val="1800"/>
              </a:spcAft>
              <a:buNone/>
            </a:pPr>
            <a:r>
              <a:rPr lang="es-MX" sz="2600" b="1" i="0" dirty="0">
                <a:solidFill>
                  <a:srgbClr val="141414"/>
                </a:solidFill>
                <a:effectLst/>
                <a:latin typeface="Montserrat" panose="00000500000000000000" pitchFamily="2" charset="0"/>
              </a:rPr>
              <a:t>TIPO SOCIAL</a:t>
            </a:r>
          </a:p>
          <a:p>
            <a:pPr algn="l">
              <a:spcAft>
                <a:spcPts val="1800"/>
              </a:spcAft>
              <a:buNone/>
            </a:pPr>
            <a:r>
              <a:rPr lang="es-MX" sz="2600" b="0" i="0" dirty="0">
                <a:solidFill>
                  <a:srgbClr val="141414"/>
                </a:solidFill>
                <a:effectLst/>
                <a:latin typeface="Montserrat" panose="00000500000000000000" pitchFamily="2" charset="0"/>
              </a:rPr>
              <a:t>La sociedad unipersonal solamente puede formarse como sociedad anónima, es decir, como una sociedad en la cual el capital está representado por acciones (cada una representa un porcentaje del todo).</a:t>
            </a:r>
          </a:p>
          <a:p>
            <a:pPr algn="l">
              <a:spcAft>
                <a:spcPts val="1800"/>
              </a:spcAft>
            </a:pPr>
            <a:r>
              <a:rPr lang="es-MX" sz="2600" b="0" i="0" dirty="0">
                <a:solidFill>
                  <a:srgbClr val="141414"/>
                </a:solidFill>
                <a:effectLst/>
                <a:latin typeface="Montserrat" panose="00000500000000000000" pitchFamily="2" charset="0"/>
              </a:rPr>
              <a:t>En una sociedad anónima, ningún acreedor de la sociedad puede ir contra todo el patrimonio de los socios. La responsabilidad de los socios está limitada a la porción de capital que invirtieron en la sociedad.</a:t>
            </a:r>
          </a:p>
          <a:p>
            <a:pPr algn="l">
              <a:spcAft>
                <a:spcPts val="1800"/>
              </a:spcAft>
            </a:pPr>
            <a:r>
              <a:rPr lang="es-MX" sz="2600" b="0" i="0" dirty="0">
                <a:solidFill>
                  <a:srgbClr val="141414"/>
                </a:solidFill>
                <a:effectLst/>
                <a:latin typeface="Montserrat" panose="00000500000000000000" pitchFamily="2" charset="0"/>
              </a:rPr>
              <a:t>En una sociedad anónima unipersonal, entonces, la socia o socio único solamente responde por los actos de la sociedad con el capital que invirtió en la misma y no con todo su patrimonio.</a:t>
            </a:r>
          </a:p>
          <a:p>
            <a:endParaRPr lang="es-AR" dirty="0"/>
          </a:p>
        </p:txBody>
      </p:sp>
    </p:spTree>
    <p:extLst>
      <p:ext uri="{BB962C8B-B14F-4D97-AF65-F5344CB8AC3E}">
        <p14:creationId xmlns:p14="http://schemas.microsoft.com/office/powerpoint/2010/main" val="1107255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A1A050-9442-D085-DB29-3D4B97FA5FDC}"/>
              </a:ext>
            </a:extLst>
          </p:cNvPr>
          <p:cNvSpPr>
            <a:spLocks noGrp="1"/>
          </p:cNvSpPr>
          <p:nvPr>
            <p:ph type="title"/>
          </p:nvPr>
        </p:nvSpPr>
        <p:spPr>
          <a:xfrm>
            <a:off x="457200" y="620688"/>
            <a:ext cx="8229600" cy="1296144"/>
          </a:xfrm>
        </p:spPr>
        <p:txBody>
          <a:bodyPr/>
          <a:lstStyle/>
          <a:p>
            <a:r>
              <a:rPr lang="es-MX" dirty="0"/>
              <a:t>Otras particularidades de una SAU</a:t>
            </a:r>
            <a:endParaRPr lang="es-AR" dirty="0"/>
          </a:p>
        </p:txBody>
      </p:sp>
      <p:sp>
        <p:nvSpPr>
          <p:cNvPr id="3" name="Marcador de contenido 2">
            <a:extLst>
              <a:ext uri="{FF2B5EF4-FFF2-40B4-BE49-F238E27FC236}">
                <a16:creationId xmlns:a16="http://schemas.microsoft.com/office/drawing/2014/main" id="{F5C1C246-B25E-CD24-4B15-2BAA0603EC94}"/>
              </a:ext>
            </a:extLst>
          </p:cNvPr>
          <p:cNvSpPr>
            <a:spLocks noGrp="1"/>
          </p:cNvSpPr>
          <p:nvPr>
            <p:ph idx="1"/>
          </p:nvPr>
        </p:nvSpPr>
        <p:spPr>
          <a:xfrm>
            <a:off x="457200" y="2348880"/>
            <a:ext cx="8229600" cy="3777283"/>
          </a:xfrm>
        </p:spPr>
        <p:txBody>
          <a:bodyPr>
            <a:normAutofit fontScale="77500" lnSpcReduction="20000"/>
          </a:bodyPr>
          <a:lstStyle/>
          <a:p>
            <a:r>
              <a:rPr lang="es-MX" u="sng" dirty="0">
                <a:latin typeface="+mj-lt"/>
              </a:rPr>
              <a:t>Integrante imposibilitado</a:t>
            </a:r>
            <a:r>
              <a:rPr lang="es-MX" dirty="0">
                <a:latin typeface="+mj-lt"/>
              </a:rPr>
              <a:t>: la sociedad unipersonal no puede estar constituida por una sociedad unipersonal</a:t>
            </a:r>
          </a:p>
          <a:p>
            <a:r>
              <a:rPr lang="es-MX" u="sng" dirty="0">
                <a:latin typeface="+mj-lt"/>
              </a:rPr>
              <a:t>Forma de constitución</a:t>
            </a:r>
            <a:r>
              <a:rPr lang="es-MX" dirty="0">
                <a:latin typeface="+mj-lt"/>
              </a:rPr>
              <a:t>: escritura pública</a:t>
            </a:r>
          </a:p>
          <a:p>
            <a:r>
              <a:rPr lang="es-MX" dirty="0">
                <a:latin typeface="+mj-lt"/>
              </a:rPr>
              <a:t>Fiscalización estatal permanente.</a:t>
            </a:r>
          </a:p>
          <a:p>
            <a:r>
              <a:rPr lang="es-MX" b="1" i="0" spc="-20" dirty="0">
                <a:solidFill>
                  <a:srgbClr val="141414"/>
                </a:solidFill>
                <a:effectLst/>
                <a:latin typeface="+mj-lt"/>
              </a:rPr>
              <a:t>Si ya tengo una sociedad formada con otros, pero mis socios deciden retirarse de la sociedad, ¿puedo transformarla en una sociedad unipersonal? </a:t>
            </a:r>
            <a:r>
              <a:rPr lang="es-MX" b="0" i="0" dirty="0">
                <a:solidFill>
                  <a:srgbClr val="141414"/>
                </a:solidFill>
                <a:effectLst/>
                <a:latin typeface="+mj-lt"/>
              </a:rPr>
              <a:t>Sí. En ese caso, la ley establece que la sociedad que se queda con un solo socio o socia se transforma en sociedad anónima unipersonal a menos que se decida otra cosa en un plazo de 3 meses.</a:t>
            </a:r>
          </a:p>
          <a:p>
            <a:endParaRPr lang="es-AR" dirty="0"/>
          </a:p>
        </p:txBody>
      </p:sp>
    </p:spTree>
    <p:extLst>
      <p:ext uri="{BB962C8B-B14F-4D97-AF65-F5344CB8AC3E}">
        <p14:creationId xmlns:p14="http://schemas.microsoft.com/office/powerpoint/2010/main" val="2279809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lstStyle/>
          <a:p>
            <a:r>
              <a:rPr lang="es-AR" dirty="0"/>
              <a:t>Elementos de una sociedad</a:t>
            </a:r>
          </a:p>
        </p:txBody>
      </p:sp>
      <p:sp>
        <p:nvSpPr>
          <p:cNvPr id="5" name="4 Marcador de texto"/>
          <p:cNvSpPr>
            <a:spLocks noGrp="1"/>
          </p:cNvSpPr>
          <p:nvPr>
            <p:ph type="body" idx="1"/>
          </p:nvPr>
        </p:nvSpPr>
        <p:spPr/>
        <p:txBody>
          <a:bodyPr/>
          <a:lstStyle/>
          <a:p>
            <a:r>
              <a:rPr lang="es-AR" dirty="0"/>
              <a:t>Generales</a:t>
            </a:r>
          </a:p>
        </p:txBody>
      </p:sp>
      <p:sp>
        <p:nvSpPr>
          <p:cNvPr id="6" name="5 Marcador de contenido"/>
          <p:cNvSpPr>
            <a:spLocks noGrp="1"/>
          </p:cNvSpPr>
          <p:nvPr>
            <p:ph sz="half" idx="2"/>
          </p:nvPr>
        </p:nvSpPr>
        <p:spPr/>
        <p:txBody>
          <a:bodyPr/>
          <a:lstStyle/>
          <a:p>
            <a:r>
              <a:rPr lang="es-AR" dirty="0"/>
              <a:t>Consentimiento (Capacidad y forma)</a:t>
            </a:r>
          </a:p>
          <a:p>
            <a:r>
              <a:rPr lang="es-AR" dirty="0"/>
              <a:t>Objeto</a:t>
            </a:r>
          </a:p>
          <a:p>
            <a:r>
              <a:rPr lang="es-AR" dirty="0"/>
              <a:t>Causa</a:t>
            </a:r>
          </a:p>
        </p:txBody>
      </p:sp>
      <p:sp>
        <p:nvSpPr>
          <p:cNvPr id="7" name="6 Marcador de texto"/>
          <p:cNvSpPr>
            <a:spLocks noGrp="1"/>
          </p:cNvSpPr>
          <p:nvPr>
            <p:ph type="body" sz="quarter" idx="3"/>
          </p:nvPr>
        </p:nvSpPr>
        <p:spPr/>
        <p:txBody>
          <a:bodyPr/>
          <a:lstStyle/>
          <a:p>
            <a:r>
              <a:rPr lang="es-AR" dirty="0"/>
              <a:t>Específicos</a:t>
            </a:r>
          </a:p>
        </p:txBody>
      </p:sp>
      <p:sp>
        <p:nvSpPr>
          <p:cNvPr id="8" name="7 Marcador de contenido"/>
          <p:cNvSpPr>
            <a:spLocks noGrp="1"/>
          </p:cNvSpPr>
          <p:nvPr>
            <p:ph sz="quarter" idx="4"/>
          </p:nvPr>
        </p:nvSpPr>
        <p:spPr/>
        <p:txBody>
          <a:bodyPr/>
          <a:lstStyle/>
          <a:p>
            <a:r>
              <a:rPr lang="es-AR" dirty="0"/>
              <a:t>Organización</a:t>
            </a:r>
          </a:p>
          <a:p>
            <a:r>
              <a:rPr lang="es-AR" dirty="0"/>
              <a:t>Tipicidad</a:t>
            </a:r>
          </a:p>
          <a:p>
            <a:r>
              <a:rPr lang="es-AR" dirty="0"/>
              <a:t>Aportes</a:t>
            </a:r>
          </a:p>
          <a:p>
            <a:r>
              <a:rPr lang="es-AR" dirty="0"/>
              <a:t>Fin societario</a:t>
            </a:r>
          </a:p>
          <a:p>
            <a:r>
              <a:rPr lang="es-AR" dirty="0"/>
              <a:t>Participación en los beneficios y las pérdidas</a:t>
            </a:r>
          </a:p>
          <a:p>
            <a:r>
              <a:rPr lang="es-AR" dirty="0" err="1"/>
              <a:t>Affectio</a:t>
            </a:r>
            <a:r>
              <a:rPr lang="es-AR" dirty="0"/>
              <a:t> </a:t>
            </a:r>
            <a:r>
              <a:rPr lang="es-AR" dirty="0" err="1"/>
              <a:t>Societatis</a:t>
            </a:r>
            <a:endParaRPr lang="es-AR" dirty="0"/>
          </a:p>
          <a:p>
            <a:endParaRPr lang="es-AR" dirty="0"/>
          </a:p>
        </p:txBody>
      </p:sp>
      <p:pic>
        <p:nvPicPr>
          <p:cNvPr id="8194" name="Picture 2" descr="Sociedad Anónima vs Sociedad Limitada | La PIEZA marke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3987" y="5592310"/>
            <a:ext cx="2520281" cy="1002628"/>
          </a:xfrm>
          <a:prstGeom prst="rect">
            <a:avLst/>
          </a:prstGeom>
          <a:noFill/>
          <a:extLst>
            <a:ext uri="{909E8E84-426E-40DD-AFC4-6F175D3DCCD1}">
              <a14:hiddenFill xmlns:a14="http://schemas.microsoft.com/office/drawing/2010/main">
                <a:solidFill>
                  <a:srgbClr val="FFFFFF"/>
                </a:solidFill>
              </a14:hiddenFill>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437112"/>
            <a:ext cx="3524250"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5953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ctrTitle"/>
          </p:nvPr>
        </p:nvSpPr>
        <p:spPr>
          <a:xfrm>
            <a:off x="685800" y="404665"/>
            <a:ext cx="7772400" cy="1008111"/>
          </a:xfrm>
        </p:spPr>
        <p:txBody>
          <a:bodyPr/>
          <a:lstStyle/>
          <a:p>
            <a:r>
              <a:rPr lang="es-AR" dirty="0"/>
              <a:t>Aportes</a:t>
            </a:r>
          </a:p>
        </p:txBody>
      </p:sp>
      <p:sp>
        <p:nvSpPr>
          <p:cNvPr id="8" name="7 Subtítulo"/>
          <p:cNvSpPr>
            <a:spLocks noGrp="1"/>
          </p:cNvSpPr>
          <p:nvPr>
            <p:ph type="subTitle" idx="1"/>
          </p:nvPr>
        </p:nvSpPr>
        <p:spPr>
          <a:xfrm>
            <a:off x="3347864" y="1700808"/>
            <a:ext cx="4968552" cy="4536504"/>
          </a:xfrm>
        </p:spPr>
        <p:txBody>
          <a:bodyPr/>
          <a:lstStyle/>
          <a:p>
            <a:r>
              <a:rPr lang="es-AR" b="1" dirty="0">
                <a:solidFill>
                  <a:schemeClr val="tx1"/>
                </a:solidFill>
              </a:rPr>
              <a:t>Suscripción: promesa de realizar aportes</a:t>
            </a:r>
          </a:p>
          <a:p>
            <a:endParaRPr lang="es-AR" b="1" dirty="0">
              <a:solidFill>
                <a:schemeClr val="tx1"/>
              </a:solidFill>
            </a:endParaRPr>
          </a:p>
          <a:p>
            <a:endParaRPr lang="es-AR" b="1" dirty="0">
              <a:solidFill>
                <a:schemeClr val="tx1"/>
              </a:solidFill>
            </a:endParaRPr>
          </a:p>
          <a:p>
            <a:endParaRPr lang="es-AR" b="1" dirty="0">
              <a:solidFill>
                <a:schemeClr val="tx1"/>
              </a:solidFill>
            </a:endParaRPr>
          </a:p>
          <a:p>
            <a:r>
              <a:rPr lang="es-AR" b="1" dirty="0">
                <a:solidFill>
                  <a:schemeClr val="tx1"/>
                </a:solidFill>
              </a:rPr>
              <a:t>Integración: entrega de aportes</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287980">
            <a:off x="1547663" y="1756864"/>
            <a:ext cx="1325141" cy="1325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ombre De Negocios Con Una Maleta De Dinero. Ilustración De Vector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406" y="4149080"/>
            <a:ext cx="2013607" cy="2013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480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476673"/>
            <a:ext cx="7772400" cy="1152127"/>
          </a:xfrm>
        </p:spPr>
        <p:txBody>
          <a:bodyPr/>
          <a:lstStyle/>
          <a:p>
            <a:r>
              <a:rPr lang="es-AR" dirty="0"/>
              <a:t>Constitución de una sociedad</a:t>
            </a:r>
          </a:p>
        </p:txBody>
      </p:sp>
      <p:sp>
        <p:nvSpPr>
          <p:cNvPr id="3" name="2 Subtítulo"/>
          <p:cNvSpPr>
            <a:spLocks noGrp="1"/>
          </p:cNvSpPr>
          <p:nvPr>
            <p:ph type="subTitle" idx="1"/>
          </p:nvPr>
        </p:nvSpPr>
        <p:spPr>
          <a:xfrm>
            <a:off x="1043608" y="1916832"/>
            <a:ext cx="4752528" cy="4464496"/>
          </a:xfrm>
        </p:spPr>
        <p:txBody>
          <a:bodyPr>
            <a:normAutofit fontScale="92500" lnSpcReduction="20000"/>
          </a:bodyPr>
          <a:lstStyle/>
          <a:p>
            <a:pPr marL="514350" indent="-514350" algn="l">
              <a:buAutoNum type="arabicParenR"/>
            </a:pPr>
            <a:r>
              <a:rPr lang="es-AR" b="1" dirty="0">
                <a:solidFill>
                  <a:schemeClr val="tx1"/>
                </a:solidFill>
              </a:rPr>
              <a:t>Firma del contrato social</a:t>
            </a:r>
          </a:p>
          <a:p>
            <a:pPr marL="514350" indent="-514350" algn="l">
              <a:buAutoNum type="arabicParenR"/>
            </a:pPr>
            <a:r>
              <a:rPr lang="es-AR" b="1" dirty="0">
                <a:solidFill>
                  <a:schemeClr val="tx1"/>
                </a:solidFill>
              </a:rPr>
              <a:t>Tramite de constitución </a:t>
            </a:r>
            <a:r>
              <a:rPr lang="es-AR" dirty="0">
                <a:solidFill>
                  <a:schemeClr val="tx1"/>
                </a:solidFill>
              </a:rPr>
              <a:t>(verificación del cumplimiento de requisitos legales y fiscales)</a:t>
            </a:r>
          </a:p>
          <a:p>
            <a:pPr marL="514350" indent="-514350" algn="l">
              <a:buAutoNum type="arabicParenR"/>
            </a:pPr>
            <a:r>
              <a:rPr lang="es-AR" b="1" dirty="0">
                <a:solidFill>
                  <a:schemeClr val="tx1"/>
                </a:solidFill>
              </a:rPr>
              <a:t>Publicidad</a:t>
            </a:r>
            <a:r>
              <a:rPr lang="es-AR" dirty="0">
                <a:solidFill>
                  <a:schemeClr val="tx1"/>
                </a:solidFill>
              </a:rPr>
              <a:t> (aviso en el boletín oficial)</a:t>
            </a:r>
          </a:p>
          <a:p>
            <a:pPr marL="514350" indent="-514350" algn="l">
              <a:buAutoNum type="arabicParenR"/>
            </a:pPr>
            <a:r>
              <a:rPr lang="es-AR" b="1" dirty="0">
                <a:solidFill>
                  <a:schemeClr val="tx1"/>
                </a:solidFill>
              </a:rPr>
              <a:t>Inscripción</a:t>
            </a:r>
            <a:r>
              <a:rPr lang="es-AR" dirty="0">
                <a:solidFill>
                  <a:schemeClr val="tx1"/>
                </a:solidFill>
              </a:rPr>
              <a:t>: </a:t>
            </a:r>
            <a:r>
              <a:rPr lang="es-AR">
                <a:solidFill>
                  <a:schemeClr val="tx1"/>
                </a:solidFill>
              </a:rPr>
              <a:t>Registro Público</a:t>
            </a:r>
            <a:r>
              <a:rPr lang="es-AR" dirty="0">
                <a:solidFill>
                  <a:schemeClr val="tx1"/>
                </a:solidFill>
              </a:rPr>
              <a: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2852936"/>
            <a:ext cx="2857500"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0022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60649"/>
            <a:ext cx="7772400" cy="1152127"/>
          </a:xfrm>
        </p:spPr>
        <p:txBody>
          <a:bodyPr/>
          <a:lstStyle/>
          <a:p>
            <a:r>
              <a:rPr lang="es-AR" dirty="0"/>
              <a:t>Contenido del contrato</a:t>
            </a:r>
          </a:p>
        </p:txBody>
      </p:sp>
      <p:sp>
        <p:nvSpPr>
          <p:cNvPr id="3" name="2 Subtítulo"/>
          <p:cNvSpPr>
            <a:spLocks noGrp="1"/>
          </p:cNvSpPr>
          <p:nvPr>
            <p:ph type="subTitle" idx="1"/>
          </p:nvPr>
        </p:nvSpPr>
        <p:spPr>
          <a:xfrm>
            <a:off x="539552" y="1700808"/>
            <a:ext cx="5328592" cy="3937992"/>
          </a:xfrm>
        </p:spPr>
        <p:txBody>
          <a:bodyPr>
            <a:normAutofit fontScale="92500" lnSpcReduction="10000"/>
          </a:bodyPr>
          <a:lstStyle/>
          <a:p>
            <a:pPr marL="514350" indent="-514350" algn="l">
              <a:buAutoNum type="arabicParenR"/>
            </a:pPr>
            <a:r>
              <a:rPr lang="es-AR" dirty="0">
                <a:solidFill>
                  <a:schemeClr val="tx1"/>
                </a:solidFill>
              </a:rPr>
              <a:t>Datos personales de los socios</a:t>
            </a:r>
          </a:p>
          <a:p>
            <a:pPr marL="514350" indent="-514350" algn="l">
              <a:buAutoNum type="arabicParenR"/>
            </a:pPr>
            <a:r>
              <a:rPr lang="es-AR" dirty="0">
                <a:solidFill>
                  <a:schemeClr val="tx1"/>
                </a:solidFill>
              </a:rPr>
              <a:t>Datos de la sociedad</a:t>
            </a:r>
          </a:p>
          <a:p>
            <a:pPr marL="514350" indent="-514350" algn="l">
              <a:buAutoNum type="arabicParenR"/>
            </a:pPr>
            <a:r>
              <a:rPr lang="es-AR" dirty="0">
                <a:solidFill>
                  <a:schemeClr val="tx1"/>
                </a:solidFill>
              </a:rPr>
              <a:t>Funcionamiento</a:t>
            </a:r>
          </a:p>
          <a:p>
            <a:pPr marL="514350" indent="-514350" algn="l">
              <a:buAutoNum type="arabicParenR"/>
            </a:pPr>
            <a:r>
              <a:rPr lang="es-AR" dirty="0">
                <a:solidFill>
                  <a:schemeClr val="tx1"/>
                </a:solidFill>
              </a:rPr>
              <a:t>Derechos y obligaciones de los socios</a:t>
            </a:r>
          </a:p>
          <a:p>
            <a:pPr marL="514350" indent="-514350" algn="l">
              <a:buAutoNum type="arabicParenR"/>
            </a:pPr>
            <a:r>
              <a:rPr lang="es-AR" dirty="0">
                <a:solidFill>
                  <a:schemeClr val="tx1"/>
                </a:solidFill>
              </a:rPr>
              <a:t>Causales de disolución y forma de liquidación</a:t>
            </a:r>
          </a:p>
          <a:p>
            <a:pPr marL="514350" indent="-514350" algn="l">
              <a:buAutoNum type="arabicParenR"/>
            </a:pPr>
            <a:endParaRPr lang="es-AR"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8144" y="2060848"/>
            <a:ext cx="2455268"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9201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88641"/>
            <a:ext cx="7772400" cy="1008111"/>
          </a:xfrm>
        </p:spPr>
        <p:txBody>
          <a:bodyPr/>
          <a:lstStyle/>
          <a:p>
            <a:r>
              <a:rPr lang="es-AR" dirty="0"/>
              <a:t>Órganos sociales</a:t>
            </a:r>
          </a:p>
        </p:txBody>
      </p:sp>
      <p:sp>
        <p:nvSpPr>
          <p:cNvPr id="3" name="2 Subtítulo"/>
          <p:cNvSpPr>
            <a:spLocks noGrp="1"/>
          </p:cNvSpPr>
          <p:nvPr>
            <p:ph type="subTitle" idx="1"/>
          </p:nvPr>
        </p:nvSpPr>
        <p:spPr>
          <a:xfrm>
            <a:off x="467544" y="1412776"/>
            <a:ext cx="6048672" cy="4752528"/>
          </a:xfrm>
        </p:spPr>
        <p:txBody>
          <a:bodyPr>
            <a:normAutofit fontScale="92500" lnSpcReduction="20000"/>
          </a:bodyPr>
          <a:lstStyle/>
          <a:p>
            <a:pPr algn="l"/>
            <a:r>
              <a:rPr lang="es-AR" b="1" dirty="0">
                <a:solidFill>
                  <a:schemeClr val="tx1"/>
                </a:solidFill>
              </a:rPr>
              <a:t>Administración</a:t>
            </a:r>
            <a:r>
              <a:rPr lang="es-AR" dirty="0">
                <a:solidFill>
                  <a:schemeClr val="tx1"/>
                </a:solidFill>
              </a:rPr>
              <a:t>: puede ser unipersonal o colegiado</a:t>
            </a:r>
          </a:p>
          <a:p>
            <a:pPr algn="l"/>
            <a:r>
              <a:rPr lang="es-AR" b="1" dirty="0">
                <a:solidFill>
                  <a:schemeClr val="tx1"/>
                </a:solidFill>
              </a:rPr>
              <a:t>Representación social</a:t>
            </a:r>
            <a:r>
              <a:rPr lang="es-AR" dirty="0">
                <a:solidFill>
                  <a:schemeClr val="tx1"/>
                </a:solidFill>
              </a:rPr>
              <a:t>: actividad externa de los socios con terceros. Actúa en nombre y cuenta de la sociedad</a:t>
            </a:r>
          </a:p>
          <a:p>
            <a:pPr algn="l"/>
            <a:r>
              <a:rPr lang="es-AR" b="1" dirty="0">
                <a:solidFill>
                  <a:schemeClr val="tx1"/>
                </a:solidFill>
              </a:rPr>
              <a:t>Fiscalización</a:t>
            </a:r>
            <a:r>
              <a:rPr lang="es-AR" dirty="0">
                <a:solidFill>
                  <a:schemeClr val="tx1"/>
                </a:solidFill>
              </a:rPr>
              <a:t>: control de la actividad del administrador y de toda la empresa</a:t>
            </a:r>
          </a:p>
          <a:p>
            <a:pPr algn="l"/>
            <a:r>
              <a:rPr lang="es-AR" b="1" dirty="0">
                <a:solidFill>
                  <a:schemeClr val="tx1"/>
                </a:solidFill>
              </a:rPr>
              <a:t>Órgano volitivo</a:t>
            </a:r>
            <a:r>
              <a:rPr lang="es-AR" dirty="0">
                <a:solidFill>
                  <a:schemeClr val="tx1"/>
                </a:solidFill>
              </a:rPr>
              <a:t>: Reuniones de socios (asambleas)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2276872"/>
            <a:ext cx="2520280" cy="2475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3330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60648"/>
            <a:ext cx="6552728" cy="1143000"/>
          </a:xfrm>
        </p:spPr>
        <p:txBody>
          <a:bodyPr/>
          <a:lstStyle/>
          <a:p>
            <a:r>
              <a:rPr lang="es-AR" dirty="0"/>
              <a:t>Clasificación</a:t>
            </a:r>
          </a:p>
        </p:txBody>
      </p:sp>
      <p:sp>
        <p:nvSpPr>
          <p:cNvPr id="3" name="2 Marcador de texto"/>
          <p:cNvSpPr>
            <a:spLocks noGrp="1"/>
          </p:cNvSpPr>
          <p:nvPr>
            <p:ph type="body" idx="1"/>
          </p:nvPr>
        </p:nvSpPr>
        <p:spPr>
          <a:xfrm>
            <a:off x="457200" y="1196753"/>
            <a:ext cx="4040188" cy="720080"/>
          </a:xfrm>
        </p:spPr>
        <p:txBody>
          <a:bodyPr>
            <a:normAutofit fontScale="77500" lnSpcReduction="20000"/>
          </a:bodyPr>
          <a:lstStyle/>
          <a:p>
            <a:r>
              <a:rPr lang="es-AR" dirty="0"/>
              <a:t>Según la mayor o menor preeminencia del elemento personal </a:t>
            </a:r>
          </a:p>
        </p:txBody>
      </p:sp>
      <p:sp>
        <p:nvSpPr>
          <p:cNvPr id="4" name="3 Marcador de contenido"/>
          <p:cNvSpPr>
            <a:spLocks noGrp="1"/>
          </p:cNvSpPr>
          <p:nvPr>
            <p:ph sz="half" idx="2"/>
          </p:nvPr>
        </p:nvSpPr>
        <p:spPr>
          <a:xfrm>
            <a:off x="457200" y="2174874"/>
            <a:ext cx="4040188" cy="4422477"/>
          </a:xfrm>
        </p:spPr>
        <p:txBody>
          <a:bodyPr>
            <a:normAutofit/>
          </a:bodyPr>
          <a:lstStyle/>
          <a:p>
            <a:r>
              <a:rPr lang="es-AR" sz="2200" dirty="0"/>
              <a:t>Sociedades personales</a:t>
            </a:r>
          </a:p>
          <a:p>
            <a:r>
              <a:rPr lang="es-AR" sz="2200" dirty="0"/>
              <a:t>Sociedades de capital</a:t>
            </a:r>
          </a:p>
          <a:p>
            <a:r>
              <a:rPr lang="es-AR" sz="2200" dirty="0"/>
              <a:t>Sociedades mixtas</a:t>
            </a:r>
          </a:p>
          <a:p>
            <a:endParaRPr lang="es-AR" dirty="0"/>
          </a:p>
          <a:p>
            <a:pPr marL="0" indent="0">
              <a:buNone/>
            </a:pPr>
            <a:r>
              <a:rPr lang="es-AR" sz="1800" b="1" dirty="0"/>
              <a:t>Según la responsabilidad de los socios</a:t>
            </a:r>
          </a:p>
          <a:p>
            <a:pPr marL="0" indent="0">
              <a:buNone/>
            </a:pPr>
            <a:endParaRPr lang="es-AR" sz="1800" b="1" dirty="0"/>
          </a:p>
          <a:p>
            <a:r>
              <a:rPr lang="es-AR" sz="2000" dirty="0"/>
              <a:t>Soc. donde todos asumen una responsabilidad ilimitada y solidaria</a:t>
            </a:r>
          </a:p>
          <a:p>
            <a:r>
              <a:rPr lang="es-AR" sz="2000" dirty="0"/>
              <a:t>Soc. donde todos limitan su responsabilidad</a:t>
            </a:r>
          </a:p>
          <a:p>
            <a:r>
              <a:rPr lang="es-AR" sz="2000" dirty="0" err="1"/>
              <a:t>Soc</a:t>
            </a:r>
            <a:r>
              <a:rPr lang="es-AR" sz="2000" dirty="0"/>
              <a:t> . de responsabilidad mixta</a:t>
            </a:r>
          </a:p>
          <a:p>
            <a:endParaRPr lang="es-AR" dirty="0"/>
          </a:p>
          <a:p>
            <a:endParaRPr lang="es-AR" dirty="0"/>
          </a:p>
        </p:txBody>
      </p:sp>
      <p:sp>
        <p:nvSpPr>
          <p:cNvPr id="5" name="4 Marcador de texto"/>
          <p:cNvSpPr>
            <a:spLocks noGrp="1"/>
          </p:cNvSpPr>
          <p:nvPr>
            <p:ph type="body" sz="quarter" idx="3"/>
          </p:nvPr>
        </p:nvSpPr>
        <p:spPr>
          <a:xfrm>
            <a:off x="4645025" y="2708920"/>
            <a:ext cx="4041775" cy="648072"/>
          </a:xfrm>
        </p:spPr>
        <p:txBody>
          <a:bodyPr>
            <a:normAutofit/>
          </a:bodyPr>
          <a:lstStyle/>
          <a:p>
            <a:r>
              <a:rPr lang="es-AR" sz="1800" dirty="0"/>
              <a:t>Según como se divide el capital</a:t>
            </a:r>
          </a:p>
        </p:txBody>
      </p:sp>
      <p:sp>
        <p:nvSpPr>
          <p:cNvPr id="6" name="5 Marcador de contenido"/>
          <p:cNvSpPr>
            <a:spLocks noGrp="1"/>
          </p:cNvSpPr>
          <p:nvPr>
            <p:ph sz="quarter" idx="4"/>
          </p:nvPr>
        </p:nvSpPr>
        <p:spPr>
          <a:xfrm>
            <a:off x="4645025" y="3645023"/>
            <a:ext cx="4041775" cy="1440161"/>
          </a:xfrm>
        </p:spPr>
        <p:txBody>
          <a:bodyPr>
            <a:normAutofit/>
          </a:bodyPr>
          <a:lstStyle/>
          <a:p>
            <a:r>
              <a:rPr lang="es-AR" sz="2000" dirty="0"/>
              <a:t>Sociedades por partes de interés</a:t>
            </a:r>
          </a:p>
          <a:p>
            <a:r>
              <a:rPr lang="es-AR" sz="2000" dirty="0"/>
              <a:t>Sociedades por cuotas</a:t>
            </a:r>
          </a:p>
          <a:p>
            <a:r>
              <a:rPr lang="es-AR" sz="2000" dirty="0"/>
              <a:t>Sociedades por acciones</a:t>
            </a:r>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71392" y="5202273"/>
            <a:ext cx="2184984" cy="1310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2886">
            <a:off x="6284539" y="1054759"/>
            <a:ext cx="2055887" cy="1155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6957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404665"/>
            <a:ext cx="7414592" cy="1080119"/>
          </a:xfrm>
        </p:spPr>
        <p:txBody>
          <a:bodyPr/>
          <a:lstStyle/>
          <a:p>
            <a:r>
              <a:rPr lang="es-AR" dirty="0"/>
              <a:t>Tipos previstos en la ley</a:t>
            </a:r>
          </a:p>
        </p:txBody>
      </p:sp>
      <p:sp>
        <p:nvSpPr>
          <p:cNvPr id="3" name="2 Subtítulo"/>
          <p:cNvSpPr>
            <a:spLocks noGrp="1"/>
          </p:cNvSpPr>
          <p:nvPr>
            <p:ph type="subTitle" idx="1"/>
          </p:nvPr>
        </p:nvSpPr>
        <p:spPr>
          <a:xfrm>
            <a:off x="179512" y="1556792"/>
            <a:ext cx="6336704" cy="4752528"/>
          </a:xfrm>
        </p:spPr>
        <p:txBody>
          <a:bodyPr>
            <a:normAutofit/>
          </a:bodyPr>
          <a:lstStyle/>
          <a:p>
            <a:pPr marL="457200" indent="-457200" algn="l">
              <a:buFont typeface="Arial" panose="020B0604020202020204" pitchFamily="34" charset="0"/>
              <a:buChar char="•"/>
            </a:pPr>
            <a:r>
              <a:rPr lang="es-AR" dirty="0">
                <a:solidFill>
                  <a:schemeClr val="tx1"/>
                </a:solidFill>
              </a:rPr>
              <a:t>Sociedad Colectiva</a:t>
            </a:r>
          </a:p>
          <a:p>
            <a:pPr marL="457200" indent="-457200" algn="l">
              <a:buFont typeface="Arial" panose="020B0604020202020204" pitchFamily="34" charset="0"/>
              <a:buChar char="•"/>
            </a:pPr>
            <a:r>
              <a:rPr lang="es-AR" dirty="0">
                <a:solidFill>
                  <a:schemeClr val="tx1"/>
                </a:solidFill>
              </a:rPr>
              <a:t>Sociedad en Comandita simple</a:t>
            </a:r>
          </a:p>
          <a:p>
            <a:pPr marL="457200" indent="-457200" algn="l">
              <a:buFont typeface="Arial" panose="020B0604020202020204" pitchFamily="34" charset="0"/>
              <a:buChar char="•"/>
            </a:pPr>
            <a:r>
              <a:rPr lang="es-AR" dirty="0">
                <a:solidFill>
                  <a:schemeClr val="tx1"/>
                </a:solidFill>
              </a:rPr>
              <a:t>Sociedad de capital e industria</a:t>
            </a:r>
          </a:p>
          <a:p>
            <a:pPr marL="457200" indent="-457200" algn="l">
              <a:buFont typeface="Arial" panose="020B0604020202020204" pitchFamily="34" charset="0"/>
              <a:buChar char="•"/>
            </a:pPr>
            <a:r>
              <a:rPr lang="es-AR" dirty="0">
                <a:solidFill>
                  <a:schemeClr val="tx1"/>
                </a:solidFill>
              </a:rPr>
              <a:t>Sociedad de responsabilidad limitada</a:t>
            </a:r>
          </a:p>
          <a:p>
            <a:pPr marL="457200" indent="-457200" algn="l">
              <a:buFont typeface="Arial" panose="020B0604020202020204" pitchFamily="34" charset="0"/>
              <a:buChar char="•"/>
            </a:pPr>
            <a:r>
              <a:rPr lang="es-AR" dirty="0">
                <a:solidFill>
                  <a:schemeClr val="tx1"/>
                </a:solidFill>
              </a:rPr>
              <a:t>Sociedad anónima</a:t>
            </a:r>
          </a:p>
          <a:p>
            <a:pPr marL="457200" indent="-457200" algn="l">
              <a:buFont typeface="Arial" panose="020B0604020202020204" pitchFamily="34" charset="0"/>
              <a:buChar char="•"/>
            </a:pPr>
            <a:r>
              <a:rPr lang="es-AR" dirty="0">
                <a:solidFill>
                  <a:schemeClr val="tx1"/>
                </a:solidFill>
              </a:rPr>
              <a:t>Sociedad en comandita por acciones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0243" y="4860230"/>
            <a:ext cx="3550355" cy="1997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7366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620689"/>
            <a:ext cx="7308304" cy="1296143"/>
          </a:xfrm>
        </p:spPr>
        <p:txBody>
          <a:bodyPr/>
          <a:lstStyle/>
          <a:p>
            <a:r>
              <a:rPr lang="es-AR" dirty="0"/>
              <a:t>Sociedades de la sección IV</a:t>
            </a:r>
          </a:p>
        </p:txBody>
      </p:sp>
      <p:sp>
        <p:nvSpPr>
          <p:cNvPr id="3" name="2 Subtítulo"/>
          <p:cNvSpPr>
            <a:spLocks noGrp="1"/>
          </p:cNvSpPr>
          <p:nvPr>
            <p:ph type="subTitle" idx="1"/>
          </p:nvPr>
        </p:nvSpPr>
        <p:spPr>
          <a:xfrm>
            <a:off x="971599" y="2492896"/>
            <a:ext cx="7103855" cy="3672408"/>
          </a:xfrm>
        </p:spPr>
        <p:txBody>
          <a:bodyPr>
            <a:normAutofit/>
          </a:bodyPr>
          <a:lstStyle/>
          <a:p>
            <a:pPr marL="457200" indent="-457200" algn="l">
              <a:buFont typeface="Arial" panose="020B0604020202020204" pitchFamily="34" charset="0"/>
              <a:buChar char="•"/>
            </a:pPr>
            <a:r>
              <a:rPr lang="es-AR" dirty="0">
                <a:solidFill>
                  <a:schemeClr val="tx1"/>
                </a:solidFill>
              </a:rPr>
              <a:t>Sociedades constituidas sin sujetarse a ninguno de los seis tipos societarios</a:t>
            </a:r>
          </a:p>
          <a:p>
            <a:pPr marL="457200" indent="-457200" algn="l">
              <a:buFont typeface="Arial" panose="020B0604020202020204" pitchFamily="34" charset="0"/>
              <a:buChar char="•"/>
            </a:pPr>
            <a:r>
              <a:rPr lang="es-AR" dirty="0">
                <a:solidFill>
                  <a:schemeClr val="tx1"/>
                </a:solidFill>
              </a:rPr>
              <a:t>Sociedades que incumplan con las formalidades establecidas por ley (contrato escrito, publicidad, inscripción) </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6911" y="332656"/>
            <a:ext cx="2137089" cy="1880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78067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877</Words>
  <Application>Microsoft Office PowerPoint</Application>
  <PresentationFormat>Presentación en pantalla (4:3)</PresentationFormat>
  <Paragraphs>83</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Calibri</vt:lpstr>
      <vt:lpstr>Lora</vt:lpstr>
      <vt:lpstr>Montserrat</vt:lpstr>
      <vt:lpstr>Times New Roman</vt:lpstr>
      <vt:lpstr>Tema de Office</vt:lpstr>
      <vt:lpstr>Ley General de Sociedades (Ley 19.550 Mod. Ley 26994 del 2014)</vt:lpstr>
      <vt:lpstr>Concepto de sociedad</vt:lpstr>
      <vt:lpstr>Sociedades unipersonales</vt:lpstr>
      <vt:lpstr>¿Cómo se hace para formar una sociedad unipersonal? </vt:lpstr>
      <vt:lpstr>Particularidades de una SAU</vt:lpstr>
      <vt:lpstr>Otras particularidades de una SAU</vt:lpstr>
      <vt:lpstr>Elementos de una sociedad</vt:lpstr>
      <vt:lpstr>Aportes</vt:lpstr>
      <vt:lpstr>Constitución de una sociedad</vt:lpstr>
      <vt:lpstr>Contenido del contrato</vt:lpstr>
      <vt:lpstr>Órganos sociales</vt:lpstr>
      <vt:lpstr>Clasificación</vt:lpstr>
      <vt:lpstr>Tipos previstos en la ley</vt:lpstr>
      <vt:lpstr>Sociedades de la sección IV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Ley General de Sociedades (Ley 19.550 Mod. Ley 26994 del 2014)</dc:title>
  <dc:creator>Patricia</dc:creator>
  <cp:lastModifiedBy>Verónica M</cp:lastModifiedBy>
  <cp:revision>23</cp:revision>
  <dcterms:created xsi:type="dcterms:W3CDTF">2020-05-29T19:35:43Z</dcterms:created>
  <dcterms:modified xsi:type="dcterms:W3CDTF">2025-04-27T23:28:25Z</dcterms:modified>
</cp:coreProperties>
</file>