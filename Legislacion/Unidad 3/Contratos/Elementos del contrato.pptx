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35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557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691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5643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59702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677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049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338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127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510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3832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AFE48-DD5E-4EE1-9BBB-787C2FDAB5E5}" type="datetimeFigureOut">
              <a:rPr lang="es-AR" smtClean="0"/>
              <a:t>03/05/2020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89C69-C939-4778-A5E0-3AA0949AA1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507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332657"/>
            <a:ext cx="7772400" cy="1152127"/>
          </a:xfrm>
        </p:spPr>
        <p:txBody>
          <a:bodyPr/>
          <a:lstStyle/>
          <a:p>
            <a:r>
              <a:rPr lang="es-AR" dirty="0" smtClean="0"/>
              <a:t>Contratos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132856"/>
            <a:ext cx="6400800" cy="3505944"/>
          </a:xfrm>
        </p:spPr>
        <p:txBody>
          <a:bodyPr/>
          <a:lstStyle/>
          <a:p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944" y="2132856"/>
            <a:ext cx="6645416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5738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88640"/>
            <a:ext cx="7772400" cy="1470025"/>
          </a:xfrm>
        </p:spPr>
        <p:txBody>
          <a:bodyPr/>
          <a:lstStyle/>
          <a:p>
            <a:r>
              <a:rPr lang="es-AR" dirty="0" smtClean="0"/>
              <a:t>Elementos del contrato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67544" y="1556792"/>
            <a:ext cx="7992888" cy="4536504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s-AR" sz="2800" dirty="0" smtClean="0">
                <a:solidFill>
                  <a:schemeClr val="tx1"/>
                </a:solidFill>
              </a:rPr>
              <a:t>Esenciales       Generales              Consentimiento</a:t>
            </a:r>
          </a:p>
          <a:p>
            <a:pPr algn="l"/>
            <a:r>
              <a:rPr lang="es-AR" sz="2800" dirty="0" smtClean="0">
                <a:solidFill>
                  <a:schemeClr val="tx1"/>
                </a:solidFill>
              </a:rPr>
              <a:t>                                                                    Objeto</a:t>
            </a:r>
            <a:endParaRPr lang="es-AR" sz="2800" dirty="0">
              <a:solidFill>
                <a:schemeClr val="tx1"/>
              </a:solidFill>
            </a:endParaRPr>
          </a:p>
          <a:p>
            <a:pPr algn="l"/>
            <a:r>
              <a:rPr lang="es-AR" sz="2800" dirty="0" smtClean="0">
                <a:solidFill>
                  <a:schemeClr val="tx1"/>
                </a:solidFill>
              </a:rPr>
              <a:t>                                Particulares                   Causa</a:t>
            </a:r>
          </a:p>
          <a:p>
            <a:pPr algn="l"/>
            <a:r>
              <a:rPr lang="es-AR" sz="2800" dirty="0" smtClean="0">
                <a:solidFill>
                  <a:schemeClr val="tx1"/>
                </a:solidFill>
              </a:rPr>
              <a:t> 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s-AR" sz="2800" dirty="0" smtClean="0">
                <a:solidFill>
                  <a:schemeClr val="tx1"/>
                </a:solidFill>
              </a:rPr>
              <a:t>Naturales</a:t>
            </a:r>
          </a:p>
          <a:p>
            <a:pPr algn="l"/>
            <a:endParaRPr lang="es-AR" sz="2800" dirty="0">
              <a:solidFill>
                <a:schemeClr val="tx1"/>
              </a:solidFill>
            </a:endParaRPr>
          </a:p>
          <a:p>
            <a:pPr algn="l"/>
            <a:endParaRPr lang="es-AR" sz="2800" dirty="0" smtClean="0">
              <a:solidFill>
                <a:schemeClr val="tx1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s-AR" sz="2800" dirty="0" smtClean="0">
                <a:solidFill>
                  <a:schemeClr val="tx1"/>
                </a:solidFill>
              </a:rPr>
              <a:t>Accidentales</a:t>
            </a:r>
            <a:endParaRPr lang="es-AR" sz="2800" dirty="0">
              <a:solidFill>
                <a:schemeClr val="tx1"/>
              </a:solidFill>
            </a:endParaRPr>
          </a:p>
        </p:txBody>
      </p:sp>
      <p:sp>
        <p:nvSpPr>
          <p:cNvPr id="7" name="6 Cerrar llave"/>
          <p:cNvSpPr/>
          <p:nvPr/>
        </p:nvSpPr>
        <p:spPr>
          <a:xfrm>
            <a:off x="2483768" y="1340768"/>
            <a:ext cx="432048" cy="15841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788024" y="1844824"/>
            <a:ext cx="720080" cy="154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82945">
            <a:off x="4797602" y="2029861"/>
            <a:ext cx="1237959" cy="246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9921">
            <a:off x="4758518" y="2324137"/>
            <a:ext cx="143490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98231">
            <a:off x="5137282" y="4247699"/>
            <a:ext cx="2594102" cy="201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491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1) Consentimiento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>
                <a:solidFill>
                  <a:srgbClr val="626262"/>
                </a:solidFill>
                <a:latin typeface="Roboto"/>
              </a:rPr>
              <a:t>A</a:t>
            </a:r>
            <a:r>
              <a:rPr lang="es-AR" b="0" i="0" dirty="0" smtClean="0">
                <a:solidFill>
                  <a:srgbClr val="626262"/>
                </a:solidFill>
                <a:effectLst/>
                <a:latin typeface="Roboto"/>
              </a:rPr>
              <a:t>cuerdo de voluntades que tienen que manifestar libremente las partes, expresando su intención de obligarse sobre el contenido del contrato que celebran.</a:t>
            </a:r>
          </a:p>
          <a:p>
            <a:pPr marL="0" indent="0">
              <a:buNone/>
            </a:pPr>
            <a:endParaRPr lang="es-AR" dirty="0">
              <a:solidFill>
                <a:srgbClr val="626262"/>
              </a:solidFill>
              <a:latin typeface="Roboto"/>
            </a:endParaRPr>
          </a:p>
          <a:p>
            <a:pPr marL="0" indent="0">
              <a:buNone/>
            </a:pPr>
            <a:r>
              <a:rPr lang="es-AR" dirty="0" smtClean="0">
                <a:solidFill>
                  <a:srgbClr val="626262"/>
                </a:solidFill>
                <a:latin typeface="Roboto"/>
              </a:rPr>
              <a:t>Presupuestos        Capacidad</a:t>
            </a:r>
          </a:p>
          <a:p>
            <a:pPr marL="0" indent="0">
              <a:buNone/>
            </a:pPr>
            <a:r>
              <a:rPr lang="es-AR" dirty="0">
                <a:solidFill>
                  <a:srgbClr val="626262"/>
                </a:solidFill>
                <a:latin typeface="Roboto"/>
              </a:rPr>
              <a:t> </a:t>
            </a:r>
            <a:r>
              <a:rPr lang="es-AR" dirty="0" smtClean="0">
                <a:solidFill>
                  <a:srgbClr val="626262"/>
                </a:solidFill>
                <a:latin typeface="Roboto"/>
              </a:rPr>
              <a:t>                              Forma</a:t>
            </a:r>
            <a:endParaRPr lang="es-AR" dirty="0" smtClean="0"/>
          </a:p>
        </p:txBody>
      </p:sp>
      <p:sp>
        <p:nvSpPr>
          <p:cNvPr id="4" name="3 Cerrar llave"/>
          <p:cNvSpPr/>
          <p:nvPr/>
        </p:nvSpPr>
        <p:spPr>
          <a:xfrm>
            <a:off x="3059832" y="3933056"/>
            <a:ext cx="648072" cy="19442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95271">
            <a:off x="6537416" y="4315026"/>
            <a:ext cx="2273829" cy="1705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388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Capacidad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4525963"/>
          </a:xfrm>
        </p:spPr>
        <p:txBody>
          <a:bodyPr>
            <a:normAutofit fontScale="92500" lnSpcReduction="20000"/>
          </a:bodyPr>
          <a:lstStyle/>
          <a:p>
            <a:r>
              <a:rPr lang="es-AR" sz="2400" dirty="0" smtClean="0"/>
              <a:t>Capacidad de derecho                     Inhabilidades</a:t>
            </a:r>
          </a:p>
          <a:p>
            <a:pPr marL="0" indent="0">
              <a:buNone/>
            </a:pPr>
            <a:r>
              <a:rPr lang="es-AR" sz="2400" dirty="0" smtClean="0"/>
              <a:t>                                                                   para contratar</a:t>
            </a:r>
          </a:p>
          <a:p>
            <a:pPr marL="0" indent="0">
              <a:buNone/>
            </a:pPr>
            <a:r>
              <a:rPr lang="es-AR" sz="2400" dirty="0" smtClean="0"/>
              <a:t>          </a:t>
            </a:r>
          </a:p>
          <a:p>
            <a:pPr marL="0" indent="0">
              <a:buNone/>
            </a:pPr>
            <a:r>
              <a:rPr lang="es-AR" sz="2400" dirty="0"/>
              <a:t> </a:t>
            </a:r>
            <a:r>
              <a:rPr lang="es-AR" sz="2400" dirty="0" smtClean="0"/>
              <a:t>                  </a:t>
            </a:r>
          </a:p>
          <a:p>
            <a:pPr marL="0" indent="0">
              <a:buNone/>
            </a:pPr>
            <a:r>
              <a:rPr lang="es-AR" sz="2400" dirty="0"/>
              <a:t> </a:t>
            </a:r>
            <a:r>
              <a:rPr lang="es-AR" sz="2400" dirty="0" smtClean="0"/>
              <a:t>                    Titularidad</a:t>
            </a:r>
          </a:p>
          <a:p>
            <a:pPr marL="0" indent="0">
              <a:buNone/>
            </a:pPr>
            <a:endParaRPr lang="es-AR" sz="2400" dirty="0"/>
          </a:p>
          <a:p>
            <a:endParaRPr lang="es-AR" sz="2400" dirty="0" smtClean="0"/>
          </a:p>
          <a:p>
            <a:r>
              <a:rPr lang="es-AR" sz="2400" dirty="0" smtClean="0"/>
              <a:t>Capacidad de ejercicio                Incapaces     -</a:t>
            </a:r>
            <a:r>
              <a:rPr lang="es-AR" sz="1900" dirty="0" smtClean="0"/>
              <a:t>la</a:t>
            </a:r>
            <a:r>
              <a:rPr lang="es-AR" sz="2400" dirty="0" smtClean="0"/>
              <a:t> </a:t>
            </a:r>
            <a:r>
              <a:rPr lang="es-AR" sz="1800" dirty="0" smtClean="0"/>
              <a:t>persona por nacer</a:t>
            </a:r>
          </a:p>
          <a:p>
            <a:pPr marL="0" indent="0">
              <a:buNone/>
            </a:pPr>
            <a:r>
              <a:rPr lang="es-AR" sz="1800" dirty="0"/>
              <a:t> </a:t>
            </a:r>
            <a:r>
              <a:rPr lang="es-AR" sz="1800" dirty="0" smtClean="0"/>
              <a:t>                                                                                                           -la persona que no cuenta con edad y</a:t>
            </a:r>
          </a:p>
          <a:p>
            <a:pPr marL="0" indent="0">
              <a:buNone/>
            </a:pPr>
            <a:r>
              <a:rPr lang="es-AR" sz="1900" dirty="0" smtClean="0"/>
              <a:t>                                                                                                      grado de madurez suficiente</a:t>
            </a:r>
          </a:p>
          <a:p>
            <a:pPr marL="0" indent="0">
              <a:buNone/>
            </a:pPr>
            <a:r>
              <a:rPr lang="es-AR" sz="2400" dirty="0" smtClean="0"/>
              <a:t>                                                                                    -</a:t>
            </a:r>
            <a:r>
              <a:rPr lang="es-AR" sz="1900" dirty="0" smtClean="0"/>
              <a:t>la persona declarada incapaz por </a:t>
            </a:r>
          </a:p>
          <a:p>
            <a:pPr marL="0" indent="0">
              <a:buNone/>
            </a:pPr>
            <a:r>
              <a:rPr lang="es-AR" sz="1900" dirty="0" smtClean="0"/>
              <a:t>                                                                                                       sentencia judicial</a:t>
            </a:r>
            <a:endParaRPr lang="es-AR" sz="1900" dirty="0"/>
          </a:p>
          <a:p>
            <a:pPr marL="0" indent="0">
              <a:buNone/>
            </a:pPr>
            <a:r>
              <a:rPr lang="es-AR" sz="2400" dirty="0" smtClean="0"/>
              <a:t>                      Ejercicio</a:t>
            </a:r>
            <a:endParaRPr lang="es-AR" sz="2400" dirty="0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3498901" y="1844824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>
            <a:off x="2195736" y="2132856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986" y="4634670"/>
            <a:ext cx="158750" cy="79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997697"/>
            <a:ext cx="944563" cy="15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Cerrar llave"/>
          <p:cNvSpPr/>
          <p:nvPr/>
        </p:nvSpPr>
        <p:spPr>
          <a:xfrm>
            <a:off x="5308775" y="3921015"/>
            <a:ext cx="72008" cy="15121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711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Forma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 smtClean="0"/>
              <a:t>               Manifestación de la voluntad</a:t>
            </a:r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sz="1800" dirty="0" smtClean="0"/>
          </a:p>
          <a:p>
            <a:pPr marL="0" indent="0">
              <a:buNone/>
            </a:pPr>
            <a:r>
              <a:rPr lang="es-AR" sz="1800" dirty="0" smtClean="0"/>
              <a:t>        Uso del lenguaje escrito/oral/signos                            Conductas</a:t>
            </a:r>
          </a:p>
          <a:p>
            <a:pPr marL="0" indent="0">
              <a:buNone/>
            </a:pPr>
            <a:r>
              <a:rPr lang="es-AR" sz="1800" dirty="0"/>
              <a:t> </a:t>
            </a:r>
            <a:r>
              <a:rPr lang="es-AR" sz="1800" dirty="0" smtClean="0"/>
              <a:t>       </a:t>
            </a:r>
            <a:r>
              <a:rPr lang="es-AR" sz="1800" dirty="0" err="1" smtClean="0"/>
              <a:t>inequivocos</a:t>
            </a:r>
            <a:r>
              <a:rPr lang="es-AR" sz="1800" dirty="0" smtClean="0"/>
              <a:t>)                                                                    Excepcionalmente el silencio</a:t>
            </a:r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2339752" y="2244241"/>
            <a:ext cx="0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247135"/>
            <a:ext cx="1587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439652" y="3406010"/>
            <a:ext cx="1800200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Comportamiento declarativo</a:t>
            </a:r>
            <a:endParaRPr lang="es-AR" dirty="0"/>
          </a:p>
        </p:txBody>
      </p:sp>
      <p:sp>
        <p:nvSpPr>
          <p:cNvPr id="7" name="6 Rectángulo"/>
          <p:cNvSpPr/>
          <p:nvPr/>
        </p:nvSpPr>
        <p:spPr>
          <a:xfrm>
            <a:off x="5220072" y="3410851"/>
            <a:ext cx="187220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Comportamiento no declarativo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7329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404665"/>
            <a:ext cx="7772400" cy="1224135"/>
          </a:xfrm>
        </p:spPr>
        <p:txBody>
          <a:bodyPr/>
          <a:lstStyle/>
          <a:p>
            <a:r>
              <a:rPr lang="es-AR" dirty="0" smtClean="0"/>
              <a:t>2) Objeto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1988840"/>
            <a:ext cx="6400800" cy="4248472"/>
          </a:xfrm>
        </p:spPr>
        <p:txBody>
          <a:bodyPr/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 smtClean="0">
                <a:solidFill>
                  <a:schemeClr val="tx1"/>
                </a:solidFill>
              </a:rPr>
              <a:t>Posibilidad física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 smtClean="0">
                <a:solidFill>
                  <a:schemeClr val="tx1"/>
                </a:solidFill>
              </a:rPr>
              <a:t>Licitud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 smtClean="0">
                <a:solidFill>
                  <a:schemeClr val="tx1"/>
                </a:solidFill>
              </a:rPr>
              <a:t>Patrimonialidad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 smtClean="0">
                <a:solidFill>
                  <a:schemeClr val="tx1"/>
                </a:solidFill>
              </a:rPr>
              <a:t>Determinado o determinable</a:t>
            </a:r>
            <a:endParaRPr lang="es-AR" dirty="0">
              <a:solidFill>
                <a:schemeClr val="tx1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75749">
            <a:off x="5703925" y="1691040"/>
            <a:ext cx="2450161" cy="196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6107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59016" cy="1143000"/>
          </a:xfrm>
        </p:spPr>
        <p:txBody>
          <a:bodyPr/>
          <a:lstStyle/>
          <a:p>
            <a:r>
              <a:rPr lang="es-AR" dirty="0" smtClean="0"/>
              <a:t>3) Causa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endParaRPr lang="es-AR" dirty="0" smtClean="0"/>
          </a:p>
          <a:p>
            <a:r>
              <a:rPr lang="es-AR" dirty="0" err="1" smtClean="0"/>
              <a:t>Causalismo</a:t>
            </a:r>
            <a:r>
              <a:rPr lang="es-AR" dirty="0" smtClean="0"/>
              <a:t> </a:t>
            </a:r>
            <a:r>
              <a:rPr lang="es-AR" dirty="0" smtClean="0"/>
              <a:t>clásico                Causa objetiva</a:t>
            </a:r>
          </a:p>
          <a:p>
            <a:pPr marL="0" indent="0">
              <a:buNone/>
            </a:pPr>
            <a:endParaRPr lang="es-AR" dirty="0" smtClean="0"/>
          </a:p>
          <a:p>
            <a:r>
              <a:rPr lang="es-AR" dirty="0" smtClean="0"/>
              <a:t>Teoría francesa                 Causa subjetiva</a:t>
            </a:r>
          </a:p>
          <a:p>
            <a:pPr marL="0" indent="0">
              <a:buNone/>
            </a:pPr>
            <a:endParaRPr lang="es-AR" dirty="0" smtClean="0"/>
          </a:p>
          <a:p>
            <a:r>
              <a:rPr lang="es-AR" dirty="0" smtClean="0"/>
              <a:t>Teoría mixta o dual              Nuestro derecho</a:t>
            </a:r>
          </a:p>
          <a:p>
            <a:endParaRPr lang="es-AR" dirty="0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4125134" y="278092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285" y="3861048"/>
            <a:ext cx="1158875" cy="15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013" y="5085184"/>
            <a:ext cx="1158875" cy="15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8337">
            <a:off x="6232102" y="668125"/>
            <a:ext cx="1381484" cy="164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423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88640"/>
            <a:ext cx="7772400" cy="1368152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AR" sz="3600" b="1" dirty="0" smtClean="0">
                <a:effectLst/>
                <a:ea typeface="Calibri"/>
                <a:cs typeface="Times New Roman"/>
              </a:rPr>
              <a:t>EXTINCION DEL CONTRATO </a:t>
            </a:r>
            <a:r>
              <a:rPr lang="es-AR" sz="4000" dirty="0">
                <a:ea typeface="Calibri"/>
                <a:cs typeface="Times New Roman"/>
              </a:rPr>
              <a:t/>
            </a:r>
            <a:br>
              <a:rPr lang="es-AR" sz="4000" dirty="0">
                <a:ea typeface="Calibri"/>
                <a:cs typeface="Times New Roman"/>
              </a:rPr>
            </a:b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99592" y="980728"/>
            <a:ext cx="7200800" cy="5328592"/>
          </a:xfrm>
        </p:spPr>
        <p:txBody>
          <a:bodyPr/>
          <a:lstStyle/>
          <a:p>
            <a:pPr algn="l"/>
            <a:r>
              <a:rPr lang="es-AR" dirty="0" smtClean="0">
                <a:solidFill>
                  <a:schemeClr val="tx1"/>
                </a:solidFill>
              </a:rPr>
              <a:t> </a:t>
            </a:r>
            <a:endParaRPr lang="es-AR" dirty="0" smtClean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AR" dirty="0" smtClean="0">
                <a:solidFill>
                  <a:schemeClr val="tx1"/>
                </a:solidFill>
              </a:rPr>
              <a:t> Ineficacia                    </a:t>
            </a:r>
            <a:r>
              <a:rPr lang="es-AR" sz="2400" dirty="0" smtClean="0">
                <a:solidFill>
                  <a:schemeClr val="tx1"/>
                </a:solidFill>
              </a:rPr>
              <a:t>Vicisitudes</a:t>
            </a:r>
          </a:p>
          <a:p>
            <a:pPr algn="l"/>
            <a:endParaRPr lang="es-AR" dirty="0">
              <a:solidFill>
                <a:schemeClr val="tx1"/>
              </a:solidFill>
            </a:endParaRPr>
          </a:p>
          <a:p>
            <a:pPr algn="l"/>
            <a:endParaRPr lang="es-AR" dirty="0" smtClean="0">
              <a:solidFill>
                <a:schemeClr val="tx1"/>
              </a:solidFill>
            </a:endParaRPr>
          </a:p>
          <a:p>
            <a:pPr algn="l"/>
            <a:endParaRPr lang="es-AR" dirty="0">
              <a:solidFill>
                <a:schemeClr val="tx1"/>
              </a:solidFill>
            </a:endParaRPr>
          </a:p>
          <a:p>
            <a:pPr algn="l"/>
            <a:r>
              <a:rPr lang="es-AR" sz="2000" dirty="0" smtClean="0">
                <a:solidFill>
                  <a:schemeClr val="tx1"/>
                </a:solidFill>
              </a:rPr>
              <a:t>                                                             Nulidad                   Resolución </a:t>
            </a:r>
          </a:p>
          <a:p>
            <a:pPr algn="l"/>
            <a:r>
              <a:rPr lang="es-AR" sz="2000" dirty="0" smtClean="0">
                <a:solidFill>
                  <a:schemeClr val="tx1"/>
                </a:solidFill>
              </a:rPr>
              <a:t>                                                                                              Revocación</a:t>
            </a:r>
          </a:p>
          <a:p>
            <a:pPr algn="l"/>
            <a:r>
              <a:rPr lang="es-AR" sz="2000" dirty="0">
                <a:solidFill>
                  <a:schemeClr val="tx1"/>
                </a:solidFill>
              </a:rPr>
              <a:t> </a:t>
            </a:r>
            <a:r>
              <a:rPr lang="es-AR" sz="2000" dirty="0" smtClean="0">
                <a:solidFill>
                  <a:schemeClr val="tx1"/>
                </a:solidFill>
              </a:rPr>
              <a:t>                                                                                             Rescisión</a:t>
            </a:r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4" name="3 Cerrar llave"/>
          <p:cNvSpPr/>
          <p:nvPr/>
        </p:nvSpPr>
        <p:spPr>
          <a:xfrm>
            <a:off x="3407403" y="1781586"/>
            <a:ext cx="288032" cy="43117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" name="5 Conector recto de flecha"/>
          <p:cNvCxnSpPr/>
          <p:nvPr/>
        </p:nvCxnSpPr>
        <p:spPr>
          <a:xfrm>
            <a:off x="5076056" y="227383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3851920" y="2933715"/>
            <a:ext cx="158417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ORIGINARIAS       </a:t>
            </a:r>
            <a:endParaRPr lang="es-AR" dirty="0"/>
          </a:p>
        </p:txBody>
      </p:sp>
      <p:sp>
        <p:nvSpPr>
          <p:cNvPr id="8" name="7 Rectángulo"/>
          <p:cNvSpPr/>
          <p:nvPr/>
        </p:nvSpPr>
        <p:spPr>
          <a:xfrm>
            <a:off x="5940152" y="2933715"/>
            <a:ext cx="194421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SOBREVINIENTES</a:t>
            </a:r>
            <a:endParaRPr lang="es-A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255403"/>
            <a:ext cx="158750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 descr="Resultado de imagen para imagenes de terminacion contrato laboral animad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78" y="3501008"/>
            <a:ext cx="2009763" cy="158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826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160</Words>
  <Application>Microsoft Office PowerPoint</Application>
  <PresentationFormat>Presentación en pantalla (4:3)</PresentationFormat>
  <Paragraphs>63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Contratos</vt:lpstr>
      <vt:lpstr>Elementos del contrato</vt:lpstr>
      <vt:lpstr>1) Consentimiento</vt:lpstr>
      <vt:lpstr>Capacidad</vt:lpstr>
      <vt:lpstr>Forma</vt:lpstr>
      <vt:lpstr>2) Objeto</vt:lpstr>
      <vt:lpstr>3) Causa</vt:lpstr>
      <vt:lpstr>EXTINCION DEL CONTRATO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Elementos del contrato</dc:title>
  <dc:creator>Patricia</dc:creator>
  <cp:lastModifiedBy>Patricia</cp:lastModifiedBy>
  <cp:revision>15</cp:revision>
  <dcterms:created xsi:type="dcterms:W3CDTF">2020-04-30T13:35:53Z</dcterms:created>
  <dcterms:modified xsi:type="dcterms:W3CDTF">2020-05-03T21:26:22Z</dcterms:modified>
</cp:coreProperties>
</file>