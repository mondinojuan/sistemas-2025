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73" r:id="rId5"/>
    <p:sldId id="275" r:id="rId6"/>
    <p:sldId id="293" r:id="rId7"/>
    <p:sldId id="294" r:id="rId8"/>
    <p:sldId id="295" r:id="rId9"/>
    <p:sldId id="296" r:id="rId10"/>
    <p:sldId id="298" r:id="rId11"/>
    <p:sldId id="299" r:id="rId12"/>
    <p:sldId id="300" r:id="rId13"/>
    <p:sldId id="305" r:id="rId14"/>
    <p:sldId id="306" r:id="rId15"/>
    <p:sldId id="301" r:id="rId16"/>
    <p:sldId id="302" r:id="rId17"/>
    <p:sldId id="307" r:id="rId18"/>
    <p:sldId id="303" r:id="rId19"/>
    <p:sldId id="304" r:id="rId20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6327"/>
  </p:normalViewPr>
  <p:slideViewPr>
    <p:cSldViewPr snapToGrid="0">
      <p:cViewPr varScale="1">
        <p:scale>
          <a:sx n="66" d="100"/>
          <a:sy n="66" d="100"/>
        </p:scale>
        <p:origin x="544" y="32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39DB94B9-A788-4BF2-A317-0D520B457C81}" type="datetime1">
              <a:rPr lang="es-ES" smtClean="0"/>
              <a:t>15/09/2025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148931F5-0986-448A-BDF9-01DB8071207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A27C6E0C-6383-4ECC-9988-996C384A3DCA}" type="datetime1">
              <a:rPr lang="es-ES" smtClean="0"/>
              <a:t>15/09/2025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ECDE012-9E2E-4477-8B5C-4E7D4E9BCBA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2038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02724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9824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56223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77050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498845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7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079617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8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176081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8478360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10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262379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11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83956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820047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13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592225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14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579918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15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64189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ECDE012-9E2E-4477-8B5C-4E7D4E9BCBA6}" type="slidenum">
              <a:rPr lang="es-ES" noProof="0" smtClean="0"/>
              <a:t>16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46333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rtlCol="0" anchor="t">
            <a:normAutofit/>
          </a:bodyPr>
          <a:lstStyle>
            <a:lvl1pPr algn="l">
              <a:lnSpc>
                <a:spcPct val="80000"/>
              </a:lnSpc>
              <a:defRPr lang="es-ES" sz="7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 rtlCol="0"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es-ES"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modificar el estilo de subtítulo del patrón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 rtlCol="0"/>
          <a:lstStyle>
            <a:lvl1pPr>
              <a:defRPr lang="es-ES" sz="5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lang="es-ES"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lang="es-ES" sz="1600" i="1"/>
            </a:lvl2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 dirty="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rtlCol="0" anchor="b"/>
          <a:lstStyle>
            <a:lvl1pPr>
              <a:defRPr lang="es-ES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 rtlCol="0"/>
          <a:lstStyle>
            <a:lvl1pPr marL="0" indent="0">
              <a:buNone/>
              <a:defRPr lang="es-ES" sz="2400">
                <a:solidFill>
                  <a:schemeClr val="bg1"/>
                </a:solidFill>
              </a:defRPr>
            </a:lvl1pPr>
            <a:lvl2pPr marL="457200" indent="0">
              <a:buNone/>
              <a:defRPr lang="es-ES"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es-ES"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es-ES"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lumnas (oscura)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es-ES" sz="5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bg1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bg1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lumnas (claro)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es-ES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banda de contenido oscur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s-ES" noProof="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lang="es-ES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solidFill>
                  <a:schemeClr val="accent5"/>
                </a:solidFill>
              </a:defRPr>
            </a:lvl1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 rtlCol="0"/>
          <a:lstStyle>
            <a:lvl1pPr>
              <a:defRPr lang="es-ES" sz="50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 a la izquier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  <a:lvl1pPr marL="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lang="es-ES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s-ES" noProof="0" dirty="0">
              <a:solidFill>
                <a:schemeClr val="bg2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 rtlCol="0"/>
          <a:lstStyle>
            <a:lvl1pPr>
              <a:lnSpc>
                <a:spcPct val="100000"/>
              </a:lnSpc>
              <a:defRPr lang="es-ES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</p:txBody>
      </p:sp>
      <p:sp>
        <p:nvSpPr>
          <p:cNvPr id="22" name="Marcador de texto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texto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a la derech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 dirty="0">
              <a:solidFill>
                <a:schemeClr val="bg1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 rtlCol="0"/>
          <a:lstStyle>
            <a:lvl1pPr>
              <a:lnSpc>
                <a:spcPct val="80000"/>
              </a:lnSpc>
              <a:defRPr lang="es-ES" sz="500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en la parte derecha oscur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 dirty="0">
              <a:solidFill>
                <a:schemeClr val="tx2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 rtlCol="0"/>
          <a:lstStyle>
            <a:lvl1pPr>
              <a:lnSpc>
                <a:spcPct val="80000"/>
              </a:lnSpc>
              <a:defRPr lang="es-ES" sz="5000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accent5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accent5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 rtlCol="0"/>
          <a:lstStyle>
            <a:lvl1pPr>
              <a:defRPr lang="es-ES" sz="5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s contenidos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 rtlCol="0"/>
          <a:lstStyle>
            <a:lvl1pPr>
              <a:defRPr lang="es-ES" sz="50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12" name="Marcador de texto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3" name="Marcador de texto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sp>
        <p:nvSpPr>
          <p:cNvPr id="15" name="Marcador de texto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Marcador de texto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 rtlCol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s-ES" sz="2200" b="1">
                <a:solidFill>
                  <a:schemeClr val="tx2"/>
                </a:solidFill>
              </a:defRPr>
            </a:lvl1pPr>
            <a:lvl2pPr>
              <a:defRPr lang="es-ES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texto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 rtlCol="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lang="es-ES" sz="16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rtlCol="0" anchor="t"/>
          <a:lstStyle>
            <a:lvl1pPr>
              <a:lnSpc>
                <a:spcPct val="80000"/>
              </a:lnSpc>
              <a:defRPr lang="es-ES" sz="720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 rtlCol="0"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s-ES"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lang="es-ES" sz="2200">
                <a:solidFill>
                  <a:schemeClr val="bg1"/>
                </a:solidFill>
              </a:defRPr>
            </a:lvl2pPr>
            <a:lvl3pPr>
              <a:defRPr lang="es-ES">
                <a:solidFill>
                  <a:schemeClr val="bg1"/>
                </a:solidFill>
              </a:defRPr>
            </a:lvl3pPr>
            <a:lvl4pPr>
              <a:defRPr lang="es-ES">
                <a:solidFill>
                  <a:schemeClr val="bg1"/>
                </a:solidFill>
              </a:defRPr>
            </a:lvl4pPr>
            <a:lvl5pPr>
              <a:defRPr lang="es-ES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es-ES"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lang="es-ES" sz="3200"/>
            </a:lvl1pPr>
            <a:lvl2pPr>
              <a:defRPr lang="es-ES" sz="2800"/>
            </a:lvl2pPr>
            <a:lvl3pPr>
              <a:defRPr lang="es-ES" sz="2400"/>
            </a:lvl3pPr>
            <a:lvl4pPr>
              <a:defRPr lang="es-ES" sz="2000"/>
            </a:lvl4pPr>
            <a:lvl5pPr>
              <a:defRPr lang="es-ES" sz="2000"/>
            </a:lvl5pPr>
            <a:lvl6pPr>
              <a:defRPr lang="es-ES" sz="2000"/>
            </a:lvl6pPr>
            <a:lvl7pPr>
              <a:defRPr lang="es-ES" sz="2000"/>
            </a:lvl7pPr>
            <a:lvl8pPr>
              <a:defRPr lang="es-ES" sz="2000"/>
            </a:lvl8pPr>
            <a:lvl9pPr>
              <a:defRPr lang="es-ES" sz="2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es-ES" sz="1600"/>
            </a:lvl1pPr>
            <a:lvl2pPr marL="457200" indent="0">
              <a:buNone/>
              <a:defRPr lang="es-ES" sz="1400"/>
            </a:lvl2pPr>
            <a:lvl3pPr marL="914400" indent="0">
              <a:buNone/>
              <a:defRPr lang="es-ES" sz="1200"/>
            </a:lvl3pPr>
            <a:lvl4pPr marL="1371600" indent="0">
              <a:buNone/>
              <a:defRPr lang="es-ES" sz="1000"/>
            </a:lvl4pPr>
            <a:lvl5pPr marL="1828800" indent="0">
              <a:buNone/>
              <a:defRPr lang="es-ES" sz="1000"/>
            </a:lvl5pPr>
            <a:lvl6pPr marL="2286000" indent="0">
              <a:buNone/>
              <a:defRPr lang="es-ES" sz="1000"/>
            </a:lvl6pPr>
            <a:lvl7pPr marL="2743200" indent="0">
              <a:buNone/>
              <a:defRPr lang="es-ES" sz="1000"/>
            </a:lvl7pPr>
            <a:lvl8pPr marL="3200400" indent="0">
              <a:buNone/>
              <a:defRPr lang="es-ES" sz="1000"/>
            </a:lvl8pPr>
            <a:lvl9pPr marL="3657600" indent="0">
              <a:buNone/>
              <a:defRPr lang="es-ES"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lang="es-ES" sz="3200"/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lang="es-ES" sz="3200"/>
            </a:lvl1pPr>
            <a:lvl2pPr marL="457200" indent="0">
              <a:buNone/>
              <a:defRPr lang="es-ES" sz="2800"/>
            </a:lvl2pPr>
            <a:lvl3pPr marL="914400" indent="0">
              <a:buNone/>
              <a:defRPr lang="es-ES" sz="2400"/>
            </a:lvl3pPr>
            <a:lvl4pPr marL="1371600" indent="0">
              <a:buNone/>
              <a:defRPr lang="es-ES" sz="2000"/>
            </a:lvl4pPr>
            <a:lvl5pPr marL="1828800" indent="0">
              <a:buNone/>
              <a:defRPr lang="es-ES" sz="2000"/>
            </a:lvl5pPr>
            <a:lvl6pPr marL="2286000" indent="0">
              <a:buNone/>
              <a:defRPr lang="es-ES" sz="2000"/>
            </a:lvl6pPr>
            <a:lvl7pPr marL="2743200" indent="0">
              <a:buNone/>
              <a:defRPr lang="es-ES" sz="2000"/>
            </a:lvl7pPr>
            <a:lvl8pPr marL="3200400" indent="0">
              <a:buNone/>
              <a:defRPr lang="es-ES" sz="2000"/>
            </a:lvl8pPr>
            <a:lvl9pPr marL="3657600" indent="0">
              <a:buNone/>
              <a:defRPr lang="es-ES" sz="2000"/>
            </a:lvl9pPr>
          </a:lstStyle>
          <a:p>
            <a:pPr rtl="0"/>
            <a:r>
              <a:rPr lang="es-ES" noProof="0" dirty="0"/>
              <a:t>Haga clic en el icono para agregar una imagen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lang="es-ES" sz="1600"/>
            </a:lvl1pPr>
            <a:lvl2pPr marL="457200" indent="0">
              <a:buNone/>
              <a:defRPr lang="es-ES" sz="1400"/>
            </a:lvl2pPr>
            <a:lvl3pPr marL="914400" indent="0">
              <a:buNone/>
              <a:defRPr lang="es-ES" sz="1200"/>
            </a:lvl3pPr>
            <a:lvl4pPr marL="1371600" indent="0">
              <a:buNone/>
              <a:defRPr lang="es-ES" sz="1000"/>
            </a:lvl4pPr>
            <a:lvl5pPr marL="1828800" indent="0">
              <a:buNone/>
              <a:defRPr lang="es-ES" sz="1000"/>
            </a:lvl5pPr>
            <a:lvl6pPr marL="2286000" indent="0">
              <a:buNone/>
              <a:defRPr lang="es-ES" sz="1000"/>
            </a:lvl6pPr>
            <a:lvl7pPr marL="2743200" indent="0">
              <a:buNone/>
              <a:defRPr lang="es-ES" sz="1000"/>
            </a:lvl7pPr>
            <a:lvl8pPr marL="3200400" indent="0">
              <a:buNone/>
              <a:defRPr lang="es-ES" sz="1000"/>
            </a:lvl8pPr>
            <a:lvl9pPr marL="3657600" indent="0">
              <a:buNone/>
              <a:defRPr lang="es-ES" sz="10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es-ES" sz="1200">
                <a:solidFill>
                  <a:schemeClr val="tx2"/>
                </a:solidFill>
              </a:defRPr>
            </a:lvl1pPr>
          </a:lstStyle>
          <a:p>
            <a:pPr rtl="0"/>
            <a:r>
              <a:rPr lang="es-ES" noProof="0" dirty="0"/>
              <a:t>Título de la presentación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lang="es-ES" sz="1200">
                <a:solidFill>
                  <a:schemeClr val="tx2"/>
                </a:solidFill>
              </a:defRPr>
            </a:lvl1pPr>
          </a:lstStyle>
          <a:p>
            <a:pPr rtl="0"/>
            <a:fld id="{5BFCF61C-3B18-4C03-8326-CC3B32D710C9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ítulo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INFORME DE PROGRESO</a:t>
            </a:r>
          </a:p>
        </p:txBody>
      </p:sp>
      <p:sp>
        <p:nvSpPr>
          <p:cNvPr id="11" name="Subtítulo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Grupo N° 202</a:t>
            </a:r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8936550" cy="70408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RESUMEN Del proyecto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80" y="301752"/>
            <a:ext cx="2257829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5" y="2953512"/>
            <a:ext cx="8936551" cy="329656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it-IT" dirty="0"/>
              <a:t>Empresa: Ternium Argentina Planta San Nicolás</a:t>
            </a:r>
          </a:p>
          <a:p>
            <a:r>
              <a:rPr lang="it-IT" dirty="0"/>
              <a:t>Proyecto TI: </a:t>
            </a:r>
            <a:r>
              <a:rPr lang="es-MX" dirty="0"/>
              <a:t> Plataforma Integral de Laminación &amp; Accesos (PILA).</a:t>
            </a:r>
            <a:endParaRPr lang="es-ES" dirty="0"/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ETAPA 3: </a:t>
            </a:r>
            <a:r>
              <a:rPr lang="es-ES" i="1" dirty="0"/>
              <a:t>Proyecto de TI</a:t>
            </a:r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405611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2F894F-23A1-85D4-2713-57D743F80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3504" y="2849124"/>
            <a:ext cx="4828032" cy="49053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Proyecto de TI:  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83C73-2637-AC0E-5A6B-47B6C6CB9E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3504" y="3132019"/>
            <a:ext cx="10893552" cy="575321"/>
          </a:xfrm>
        </p:spPr>
        <p:txBody>
          <a:bodyPr rtlCol="0"/>
          <a:lstStyle>
            <a:defPPr>
              <a:defRPr lang="es-ES"/>
            </a:defPPr>
          </a:lstStyle>
          <a:p>
            <a:pPr marL="0" indent="0" rtl="0">
              <a:buNone/>
            </a:pPr>
            <a:r>
              <a:rPr lang="es-MX" dirty="0"/>
              <a:t>Plataforma Integral de Laminación &amp; Accesos (PILA).</a:t>
            </a:r>
            <a:endParaRPr lang="es-ES" dirty="0"/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3</a:t>
            </a:fld>
            <a:endParaRPr lang="es-ES" dirty="0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4FFB15BE-AB33-4B2F-952F-6A842AAFA59D}"/>
              </a:ext>
            </a:extLst>
          </p:cNvPr>
          <p:cNvSpPr txBox="1">
            <a:spLocks/>
          </p:cNvSpPr>
          <p:nvPr/>
        </p:nvSpPr>
        <p:spPr>
          <a:xfrm>
            <a:off x="603504" y="3735735"/>
            <a:ext cx="4828032" cy="490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Descripción del proyecto:  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257AC434-69B9-470D-8774-218CCCB5A923}"/>
              </a:ext>
            </a:extLst>
          </p:cNvPr>
          <p:cNvSpPr txBox="1">
            <a:spLocks/>
          </p:cNvSpPr>
          <p:nvPr/>
        </p:nvSpPr>
        <p:spPr>
          <a:xfrm>
            <a:off x="603504" y="4028282"/>
            <a:ext cx="10893552" cy="1545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El proyecto PILA tiene como finalidad la adquisición de un software hecho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a medida que brinde soluciones tecnológicas orientadas a optimizar tanto los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procesos productivos internos como la logística de acceso a la planta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/>
              <a:t>industrial.</a:t>
            </a:r>
          </a:p>
        </p:txBody>
      </p:sp>
    </p:spTree>
    <p:extLst>
      <p:ext uri="{BB962C8B-B14F-4D97-AF65-F5344CB8AC3E}">
        <p14:creationId xmlns:p14="http://schemas.microsoft.com/office/powerpoint/2010/main" val="2545949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Objetivos &amp; Alternativas del proyecto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4</a:t>
            </a:fld>
            <a:endParaRPr lang="es-ES" dirty="0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57B4CC73-F9BC-4694-AC18-20A0B18D8A6C}"/>
              </a:ext>
            </a:extLst>
          </p:cNvPr>
          <p:cNvSpPr txBox="1">
            <a:spLocks/>
          </p:cNvSpPr>
          <p:nvPr/>
        </p:nvSpPr>
        <p:spPr>
          <a:xfrm>
            <a:off x="5001930" y="455808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Objetivos del proyecto</a:t>
            </a:r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B1FF3AAF-ED8C-4C52-8DF9-7F0C1E1753F7}"/>
              </a:ext>
            </a:extLst>
          </p:cNvPr>
          <p:cNvSpPr txBox="1">
            <a:spLocks/>
          </p:cNvSpPr>
          <p:nvPr/>
        </p:nvSpPr>
        <p:spPr>
          <a:xfrm>
            <a:off x="5001929" y="834552"/>
            <a:ext cx="7247822" cy="259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Reducir en al menos 50% los tiempos de espera de camiones en accesos (12 meses).</a:t>
            </a:r>
          </a:p>
          <a:p>
            <a:r>
              <a:rPr lang="es-MX" dirty="0"/>
              <a:t>Registrar el 95% de variables críticas de los rodillos (9 meses).</a:t>
            </a:r>
          </a:p>
          <a:p>
            <a:r>
              <a:rPr lang="es-MX" dirty="0"/>
              <a:t>Generar alarmas automáticas en menos de 1 minuto ante desvíos.</a:t>
            </a:r>
          </a:p>
          <a:p>
            <a:r>
              <a:rPr lang="es-MX" dirty="0"/>
              <a:t>Garantizar disponibilidad SaaS ≥99,5% y alta performance en portal web.</a:t>
            </a:r>
          </a:p>
          <a:p>
            <a:r>
              <a:rPr lang="es-MX" dirty="0"/>
              <a:t>Evolucionar a un modelo de mantenimiento predictivo (anticipar 80% de fallas a 48 h en 36 meses).</a:t>
            </a:r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7" name="Marcador de texto 2">
            <a:extLst>
              <a:ext uri="{FF2B5EF4-FFF2-40B4-BE49-F238E27FC236}">
                <a16:creationId xmlns:a16="http://schemas.microsoft.com/office/drawing/2014/main" id="{8BDB6F23-4B87-4856-9CC7-702965289D9E}"/>
              </a:ext>
            </a:extLst>
          </p:cNvPr>
          <p:cNvSpPr txBox="1">
            <a:spLocks/>
          </p:cNvSpPr>
          <p:nvPr/>
        </p:nvSpPr>
        <p:spPr>
          <a:xfrm>
            <a:off x="5001928" y="3268740"/>
            <a:ext cx="6606139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Alternativa de desarrollo del proyecto (elegida)</a:t>
            </a: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0210AB7A-7F24-4BB8-BE5C-7858BB9E2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356004"/>
              </p:ext>
            </p:extLst>
          </p:nvPr>
        </p:nvGraphicFramePr>
        <p:xfrm>
          <a:off x="4543122" y="3796161"/>
          <a:ext cx="7507707" cy="2742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569">
                  <a:extLst>
                    <a:ext uri="{9D8B030D-6E8A-4147-A177-3AD203B41FA5}">
                      <a16:colId xmlns:a16="http://schemas.microsoft.com/office/drawing/2014/main" val="3776543270"/>
                    </a:ext>
                  </a:extLst>
                </a:gridCol>
                <a:gridCol w="2502569">
                  <a:extLst>
                    <a:ext uri="{9D8B030D-6E8A-4147-A177-3AD203B41FA5}">
                      <a16:colId xmlns:a16="http://schemas.microsoft.com/office/drawing/2014/main" val="1492258060"/>
                    </a:ext>
                  </a:extLst>
                </a:gridCol>
                <a:gridCol w="2502569">
                  <a:extLst>
                    <a:ext uri="{9D8B030D-6E8A-4147-A177-3AD203B41FA5}">
                      <a16:colId xmlns:a16="http://schemas.microsoft.com/office/drawing/2014/main" val="939496094"/>
                    </a:ext>
                  </a:extLst>
                </a:gridCol>
              </a:tblGrid>
              <a:tr h="456373">
                <a:tc>
                  <a:txBody>
                    <a:bodyPr/>
                    <a:lstStyle/>
                    <a:p>
                      <a:r>
                        <a:rPr lang="es-ES" dirty="0"/>
                        <a:t>Alternativas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Ventajas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Desventajas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113112"/>
                  </a:ext>
                </a:extLst>
              </a:tr>
              <a:tr h="2138074">
                <a:tc>
                  <a:txBody>
                    <a:bodyPr/>
                    <a:lstStyle/>
                    <a:p>
                      <a:r>
                        <a:rPr lang="es-ES" dirty="0"/>
                        <a:t>Software a medida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 Ajuste total a requerimientos.</a:t>
                      </a:r>
                      <a:br>
                        <a:rPr lang="es-MX" dirty="0"/>
                      </a:br>
                      <a:r>
                        <a:rPr lang="es-MX" dirty="0"/>
                        <a:t>- Escalable.</a:t>
                      </a:r>
                      <a:br>
                        <a:rPr lang="es-MX" dirty="0"/>
                      </a:br>
                      <a:r>
                        <a:rPr lang="es-MX" dirty="0"/>
                        <a:t>- Integración con sistemas existentes.</a:t>
                      </a:r>
                      <a:br>
                        <a:rPr lang="es-MX" dirty="0"/>
                      </a:br>
                      <a:r>
                        <a:rPr lang="es-MX" dirty="0"/>
                        <a:t>- Base para mantenimiento predictivo.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- Mayor costo inicial.</a:t>
                      </a:r>
                      <a:br>
                        <a:rPr lang="es-MX" dirty="0"/>
                      </a:br>
                      <a:r>
                        <a:rPr lang="es-MX" dirty="0"/>
                        <a:t>- Plazo de desarrollo más largo.</a:t>
                      </a:r>
                      <a:br>
                        <a:rPr lang="es-MX" dirty="0"/>
                      </a:br>
                      <a:r>
                        <a:rPr lang="es-MX" dirty="0"/>
                        <a:t>- Dependencia del proveedor para evolutivos.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338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80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Ciclo de vida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5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14227F-E07B-439A-BF28-4E2679750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2426" y="576072"/>
            <a:ext cx="5147899" cy="277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0AD3CC6-C9DB-49EC-BC2F-AB795DDA02F2}"/>
              </a:ext>
            </a:extLst>
          </p:cNvPr>
          <p:cNvSpPr txBox="1"/>
          <p:nvPr/>
        </p:nvSpPr>
        <p:spPr>
          <a:xfrm>
            <a:off x="4456497" y="3349592"/>
            <a:ext cx="76424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MX" u="sng" dirty="0"/>
              <a:t>Inicio</a:t>
            </a:r>
            <a:r>
              <a:rPr lang="es-MX" dirty="0"/>
              <a:t>: Se aprueba el acta, se identifican los interesados, se definen objetivos, alcance y equipo de trabajo.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Planificación</a:t>
            </a:r>
            <a:r>
              <a:rPr lang="es-MX" dirty="0"/>
              <a:t>: Se levantan requerimientos, se fijan criterios de selección, presupuesto, cronograma y pliego de licitación.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Adquisición</a:t>
            </a:r>
            <a:r>
              <a:rPr lang="es-MX" dirty="0"/>
              <a:t>: Publicación del pliego, evaluación de ofertas, negociación, selección del proveedor y firma del contrato con SLA.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Ejecución y Control</a:t>
            </a:r>
            <a:r>
              <a:rPr lang="es-MX" dirty="0"/>
              <a:t>: Seguimiento al plan del proveedor, validación de entregables y gestión de cambios.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Implementación</a:t>
            </a:r>
            <a:r>
              <a:rPr lang="es-MX" dirty="0"/>
              <a:t>: Instalación, migración de datos, capacitación, pruebas de aceptación y puesta en producción.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Cierre</a:t>
            </a:r>
            <a:r>
              <a:rPr lang="es-MX" dirty="0"/>
              <a:t>: Recepción formal, entrega de documentación, evaluación contractual, soporte inicial y registro de lecciones aprendidas.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899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Recursos Humanos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6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9BE5AD48-87A6-4EF7-B7EF-73E9EB312E79}"/>
              </a:ext>
            </a:extLst>
          </p:cNvPr>
          <p:cNvSpPr txBox="1">
            <a:spLocks/>
          </p:cNvSpPr>
          <p:nvPr/>
        </p:nvSpPr>
        <p:spPr>
          <a:xfrm>
            <a:off x="5001930" y="895913"/>
            <a:ext cx="690452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Descripción del puesto y perfil: </a:t>
            </a:r>
            <a:r>
              <a:rPr lang="es-MX" dirty="0"/>
              <a:t>Líder de proyecto</a:t>
            </a:r>
            <a:endParaRPr lang="es-ES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C344CF6F-71B1-49A8-8BAD-C2F2869AAA1B}"/>
              </a:ext>
            </a:extLst>
          </p:cNvPr>
          <p:cNvSpPr txBox="1">
            <a:spLocks/>
          </p:cNvSpPr>
          <p:nvPr/>
        </p:nvSpPr>
        <p:spPr>
          <a:xfrm>
            <a:off x="5001929" y="3869105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Principales responsabilidades</a:t>
            </a:r>
          </a:p>
        </p:txBody>
      </p:sp>
      <p:sp>
        <p:nvSpPr>
          <p:cNvPr id="17" name="Marcador de texto 4">
            <a:extLst>
              <a:ext uri="{FF2B5EF4-FFF2-40B4-BE49-F238E27FC236}">
                <a16:creationId xmlns:a16="http://schemas.microsoft.com/office/drawing/2014/main" id="{E7E1D496-2251-44B9-B629-866E4C77FC6C}"/>
              </a:ext>
            </a:extLst>
          </p:cNvPr>
          <p:cNvSpPr txBox="1">
            <a:spLocks/>
          </p:cNvSpPr>
          <p:nvPr/>
        </p:nvSpPr>
        <p:spPr>
          <a:xfrm>
            <a:off x="5001930" y="4263552"/>
            <a:ext cx="7247822" cy="2594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Coordinar actividades de desarrollo e implementación.</a:t>
            </a:r>
          </a:p>
          <a:p>
            <a:r>
              <a:rPr lang="es-MX" dirty="0"/>
              <a:t>Mantener cronograma, alcance y presupuesto.</a:t>
            </a:r>
          </a:p>
          <a:p>
            <a:r>
              <a:rPr lang="es-MX" dirty="0"/>
              <a:t>Definir prioridades y asignar recursos.</a:t>
            </a:r>
          </a:p>
          <a:p>
            <a:r>
              <a:rPr lang="es-MX" dirty="0"/>
              <a:t>Conducir reuniones de seguimiento y resolver incidentes.</a:t>
            </a:r>
          </a:p>
          <a:p>
            <a:r>
              <a:rPr lang="es-MX" dirty="0"/>
              <a:t>Validar funcionamiento de sistemas y capacitar usuarios.</a:t>
            </a:r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7EE228E8-79DA-461A-8455-58DCC79D25D3}"/>
              </a:ext>
            </a:extLst>
          </p:cNvPr>
          <p:cNvSpPr txBox="1">
            <a:spLocks/>
          </p:cNvSpPr>
          <p:nvPr/>
        </p:nvSpPr>
        <p:spPr>
          <a:xfrm>
            <a:off x="5001928" y="1455352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Objetivo del puesto</a:t>
            </a:r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95465BF0-D0B5-4129-8B35-5FE5675D6B79}"/>
              </a:ext>
            </a:extLst>
          </p:cNvPr>
          <p:cNvSpPr txBox="1">
            <a:spLocks/>
          </p:cNvSpPr>
          <p:nvPr/>
        </p:nvSpPr>
        <p:spPr>
          <a:xfrm>
            <a:off x="5001927" y="1834096"/>
            <a:ext cx="7247822" cy="8288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Planificar, coordinar y supervisar todas las etapas del proyecto, garantizando objetivos, plazos y presupuesto.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3BA90206-28F2-4D7D-854E-801963E25E7A}"/>
              </a:ext>
            </a:extLst>
          </p:cNvPr>
          <p:cNvSpPr txBox="1">
            <a:spLocks/>
          </p:cNvSpPr>
          <p:nvPr/>
        </p:nvSpPr>
        <p:spPr>
          <a:xfrm>
            <a:off x="5001929" y="2654581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Formación</a:t>
            </a:r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50667134-1614-4D98-8824-EB26BF81A72F}"/>
              </a:ext>
            </a:extLst>
          </p:cNvPr>
          <p:cNvSpPr txBox="1">
            <a:spLocks/>
          </p:cNvSpPr>
          <p:nvPr/>
        </p:nvSpPr>
        <p:spPr>
          <a:xfrm>
            <a:off x="5001928" y="3033325"/>
            <a:ext cx="7247822" cy="8288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Ingeniería en Sistemas, Industrial o afines, con orientación en gestión tecnológica.</a:t>
            </a:r>
          </a:p>
        </p:txBody>
      </p:sp>
    </p:spTree>
    <p:extLst>
      <p:ext uri="{BB962C8B-B14F-4D97-AF65-F5344CB8AC3E}">
        <p14:creationId xmlns:p14="http://schemas.microsoft.com/office/powerpoint/2010/main" val="260484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Recursos Humanos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7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7EE228E8-79DA-461A-8455-58DCC79D25D3}"/>
              </a:ext>
            </a:extLst>
          </p:cNvPr>
          <p:cNvSpPr txBox="1">
            <a:spLocks/>
          </p:cNvSpPr>
          <p:nvPr/>
        </p:nvSpPr>
        <p:spPr>
          <a:xfrm>
            <a:off x="5001927" y="1233373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Requisitos</a:t>
            </a:r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95465BF0-D0B5-4129-8B35-5FE5675D6B79}"/>
              </a:ext>
            </a:extLst>
          </p:cNvPr>
          <p:cNvSpPr txBox="1">
            <a:spLocks/>
          </p:cNvSpPr>
          <p:nvPr/>
        </p:nvSpPr>
        <p:spPr>
          <a:xfrm>
            <a:off x="5001927" y="1623414"/>
            <a:ext cx="6934689" cy="15139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Experiencia en dirección de proyectos TI industriales.</a:t>
            </a:r>
          </a:p>
          <a:p>
            <a:r>
              <a:rPr lang="es-MX" dirty="0"/>
              <a:t>Conocimientos en monitoreo industrial y análisis de datos.</a:t>
            </a:r>
          </a:p>
          <a:p>
            <a:r>
              <a:rPr lang="es-MX" dirty="0"/>
              <a:t>Experiencia en plataformas logísticas / accesos.</a:t>
            </a:r>
          </a:p>
          <a:p>
            <a:r>
              <a:rPr lang="es-MX" dirty="0"/>
              <a:t>Comprensión de procesos de laminación y logística de transporte.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3BA90206-28F2-4D7D-854E-801963E25E7A}"/>
              </a:ext>
            </a:extLst>
          </p:cNvPr>
          <p:cNvSpPr txBox="1">
            <a:spLocks/>
          </p:cNvSpPr>
          <p:nvPr/>
        </p:nvSpPr>
        <p:spPr>
          <a:xfrm>
            <a:off x="5001928" y="3318174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Competencias clave</a:t>
            </a:r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50667134-1614-4D98-8824-EB26BF81A72F}"/>
              </a:ext>
            </a:extLst>
          </p:cNvPr>
          <p:cNvSpPr txBox="1">
            <a:spLocks/>
          </p:cNvSpPr>
          <p:nvPr/>
        </p:nvSpPr>
        <p:spPr>
          <a:xfrm>
            <a:off x="5001927" y="3696918"/>
            <a:ext cx="7247822" cy="230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Liderazgo y coordinación con proveedores.</a:t>
            </a:r>
          </a:p>
          <a:p>
            <a:r>
              <a:rPr lang="es-MX" dirty="0"/>
              <a:t>Validación funcional de software.</a:t>
            </a:r>
          </a:p>
          <a:p>
            <a:r>
              <a:rPr lang="es-MX" dirty="0"/>
              <a:t>Gestión del cambio y adopción tecnológica.</a:t>
            </a:r>
          </a:p>
          <a:p>
            <a:r>
              <a:rPr lang="es-MX" dirty="0"/>
              <a:t>Orientación a eficiencia operativa.</a:t>
            </a:r>
          </a:p>
          <a:p>
            <a:r>
              <a:rPr lang="es-MX" dirty="0"/>
              <a:t>Comunicación efectiva con equipos y dirección.</a:t>
            </a:r>
          </a:p>
          <a:p>
            <a:r>
              <a:rPr lang="es-MX" dirty="0"/>
              <a:t>Capacidad analítica para transformar datos en decisiones.</a:t>
            </a:r>
          </a:p>
        </p:txBody>
      </p:sp>
    </p:spTree>
    <p:extLst>
      <p:ext uri="{BB962C8B-B14F-4D97-AF65-F5344CB8AC3E}">
        <p14:creationId xmlns:p14="http://schemas.microsoft.com/office/powerpoint/2010/main" val="71525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Higiene y seguridad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8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7EE228E8-79DA-461A-8455-58DCC79D25D3}"/>
              </a:ext>
            </a:extLst>
          </p:cNvPr>
          <p:cNvSpPr txBox="1">
            <a:spLocks/>
          </p:cNvSpPr>
          <p:nvPr/>
        </p:nvSpPr>
        <p:spPr>
          <a:xfrm>
            <a:off x="5001927" y="576072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Sector de laminación</a:t>
            </a:r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3BA90206-28F2-4D7D-854E-801963E25E7A}"/>
              </a:ext>
            </a:extLst>
          </p:cNvPr>
          <p:cNvSpPr txBox="1">
            <a:spLocks/>
          </p:cNvSpPr>
          <p:nvPr/>
        </p:nvSpPr>
        <p:spPr>
          <a:xfrm>
            <a:off x="5001926" y="3795807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Sector de accesos y logística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3F6946E-56D0-45DB-986C-20DD40543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704" y="1064560"/>
            <a:ext cx="4846320" cy="283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16DD91E-7856-4BE7-BF31-14430DEF9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1704" y="4273009"/>
            <a:ext cx="4870329" cy="253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584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Higiene y seguridad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9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7EE228E8-79DA-461A-8455-58DCC79D25D3}"/>
              </a:ext>
            </a:extLst>
          </p:cNvPr>
          <p:cNvSpPr txBox="1">
            <a:spLocks/>
          </p:cNvSpPr>
          <p:nvPr/>
        </p:nvSpPr>
        <p:spPr>
          <a:xfrm>
            <a:off x="4944179" y="579466"/>
            <a:ext cx="724782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Medidas para Proteger la Salud y la Integridad Física del Talento Humano</a:t>
            </a:r>
            <a:endParaRPr lang="es-ES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95465BF0-D0B5-4129-8B35-5FE5675D6B79}"/>
              </a:ext>
            </a:extLst>
          </p:cNvPr>
          <p:cNvSpPr txBox="1">
            <a:spLocks/>
          </p:cNvSpPr>
          <p:nvPr/>
        </p:nvSpPr>
        <p:spPr>
          <a:xfrm>
            <a:off x="5001927" y="1623414"/>
            <a:ext cx="6934689" cy="51335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/>
              <a:t>Señalización y delimitación</a:t>
            </a:r>
            <a:r>
              <a:rPr lang="es-MX" dirty="0"/>
              <a:t>: áreas de riesgo claramente marcadas, rutas de evacuación y zonas de acceso controladas.</a:t>
            </a:r>
          </a:p>
          <a:p>
            <a:r>
              <a:rPr lang="es-MX" b="1" dirty="0"/>
              <a:t>Equipos de protección personal (EPP): </a:t>
            </a:r>
            <a:r>
              <a:rPr lang="es-MX" dirty="0"/>
              <a:t>uso obligatorio de cascos, guantes, calzado de seguridad, protección ocular y auditiva.</a:t>
            </a:r>
          </a:p>
          <a:p>
            <a:r>
              <a:rPr lang="es-MX" b="1" dirty="0"/>
              <a:t>Capacitación continua</a:t>
            </a:r>
            <a:r>
              <a:rPr lang="es-MX" dirty="0"/>
              <a:t>: entrenamientos en protocolos de seguridad, simulacros de evacuación y manejo de emergencias.</a:t>
            </a:r>
          </a:p>
          <a:p>
            <a:r>
              <a:rPr lang="es-MX" b="1" dirty="0"/>
              <a:t>Controles de acceso seguros</a:t>
            </a:r>
            <a:r>
              <a:rPr lang="es-MX" dirty="0"/>
              <a:t>: sistemas de identificación y trazabilidad de ingresos para evitar incidentes en accesos.</a:t>
            </a:r>
          </a:p>
          <a:p>
            <a:r>
              <a:rPr lang="es-MX" b="1" dirty="0"/>
              <a:t>Alarmas y dispositivos de seguridad</a:t>
            </a:r>
            <a:r>
              <a:rPr lang="es-MX" dirty="0"/>
              <a:t>: visuales y sonoras en rodillos y áreas críticas, con respuesta inmediata.</a:t>
            </a:r>
          </a:p>
          <a:p>
            <a:r>
              <a:rPr lang="es-MX" b="1" dirty="0"/>
              <a:t>Protocolos de trabajo seguro</a:t>
            </a:r>
            <a:r>
              <a:rPr lang="es-MX" dirty="0"/>
              <a:t>: procedimientos normalizados para operación de equipos, mantenimiento y circulación en planta.</a:t>
            </a:r>
          </a:p>
          <a:p>
            <a:r>
              <a:rPr lang="es-MX" b="1" dirty="0"/>
              <a:t>Condiciones ergonómicas</a:t>
            </a:r>
            <a:r>
              <a:rPr lang="es-MX" dirty="0"/>
              <a:t>: estaciones de trabajo adaptadas y pausas para reducir fatiga.</a:t>
            </a:r>
          </a:p>
        </p:txBody>
      </p:sp>
    </p:spTree>
    <p:extLst>
      <p:ext uri="{BB962C8B-B14F-4D97-AF65-F5344CB8AC3E}">
        <p14:creationId xmlns:p14="http://schemas.microsoft.com/office/powerpoint/2010/main" val="1853473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26849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Adquisición del proyecto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10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95465BF0-D0B5-4129-8B35-5FE5675D6B79}"/>
              </a:ext>
            </a:extLst>
          </p:cNvPr>
          <p:cNvSpPr txBox="1">
            <a:spLocks/>
          </p:cNvSpPr>
          <p:nvPr/>
        </p:nvSpPr>
        <p:spPr>
          <a:xfrm>
            <a:off x="4908929" y="1217271"/>
            <a:ext cx="6934689" cy="1180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Seleccionar y contratar las soluciones tecnológicas necesarias (software, hardware y servicios) garantizando calidad, cumplimiento técnico y soporte.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31428BF5-723D-4832-B289-FC545126D0FA}"/>
              </a:ext>
            </a:extLst>
          </p:cNvPr>
          <p:cNvSpPr txBox="1">
            <a:spLocks/>
          </p:cNvSpPr>
          <p:nvPr/>
        </p:nvSpPr>
        <p:spPr>
          <a:xfrm>
            <a:off x="4908929" y="768405"/>
            <a:ext cx="7247821" cy="531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Objetivo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86D27869-67CD-4516-A435-A3258888BBCC}"/>
              </a:ext>
            </a:extLst>
          </p:cNvPr>
          <p:cNvSpPr txBox="1">
            <a:spLocks/>
          </p:cNvSpPr>
          <p:nvPr/>
        </p:nvSpPr>
        <p:spPr>
          <a:xfrm>
            <a:off x="4908929" y="3038671"/>
            <a:ext cx="6934689" cy="2269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Software rodillos: licenciamiento on-premise + mantenimiento anual.</a:t>
            </a:r>
          </a:p>
          <a:p>
            <a:r>
              <a:rPr lang="es-MX" dirty="0"/>
              <a:t>Plataforma de pre-registro: modalidad SaaS (alta disponibilidad web/móvil).</a:t>
            </a:r>
          </a:p>
          <a:p>
            <a:r>
              <a:rPr lang="es-MX" dirty="0"/>
              <a:t>Hardware / almacenamiento: compra dedicada con redundancia.</a:t>
            </a:r>
          </a:p>
          <a:p>
            <a:r>
              <a:rPr lang="es-MX" dirty="0"/>
              <a:t>Lectores QR/RFID para control de accesos.</a:t>
            </a:r>
          </a:p>
          <a:p>
            <a:r>
              <a:rPr lang="es-MX" dirty="0"/>
              <a:t>Licencias y servicios de soporte asociados.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D3344A4D-D998-4A04-8F97-78341689EC8B}"/>
              </a:ext>
            </a:extLst>
          </p:cNvPr>
          <p:cNvSpPr txBox="1">
            <a:spLocks/>
          </p:cNvSpPr>
          <p:nvPr/>
        </p:nvSpPr>
        <p:spPr>
          <a:xfrm>
            <a:off x="4908929" y="2589805"/>
            <a:ext cx="7247821" cy="531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Elementos a adquirir</a:t>
            </a:r>
          </a:p>
        </p:txBody>
      </p:sp>
    </p:spTree>
    <p:extLst>
      <p:ext uri="{BB962C8B-B14F-4D97-AF65-F5344CB8AC3E}">
        <p14:creationId xmlns:p14="http://schemas.microsoft.com/office/powerpoint/2010/main" val="369024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26849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Adquisición del proyecto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11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95465BF0-D0B5-4129-8B35-5FE5675D6B79}"/>
              </a:ext>
            </a:extLst>
          </p:cNvPr>
          <p:cNvSpPr txBox="1">
            <a:spLocks/>
          </p:cNvSpPr>
          <p:nvPr/>
        </p:nvSpPr>
        <p:spPr>
          <a:xfrm>
            <a:off x="4908929" y="1217271"/>
            <a:ext cx="6934689" cy="2411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s-MX" dirty="0"/>
              <a:t>Preparación del pliego de licitación.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Publicación y recepción de ofertas técnicas y económicas.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Evaluación comparativa (criterios técnicos, funcionales y de costos).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Negociación de condiciones con proveedores.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Selección del proveedor.</a:t>
            </a:r>
          </a:p>
          <a:p>
            <a:pPr marL="342900" indent="-342900">
              <a:buFont typeface="+mj-lt"/>
              <a:buAutoNum type="arabicPeriod"/>
            </a:pPr>
            <a:r>
              <a:rPr lang="es-MX" dirty="0"/>
              <a:t>Firma de contrato y definición de SLA.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31428BF5-723D-4832-B289-FC545126D0FA}"/>
              </a:ext>
            </a:extLst>
          </p:cNvPr>
          <p:cNvSpPr txBox="1">
            <a:spLocks/>
          </p:cNvSpPr>
          <p:nvPr/>
        </p:nvSpPr>
        <p:spPr>
          <a:xfrm>
            <a:off x="4908929" y="768405"/>
            <a:ext cx="7247821" cy="531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Proceso de adquisición</a:t>
            </a:r>
            <a:endParaRPr lang="es-ES" dirty="0"/>
          </a:p>
        </p:txBody>
      </p:sp>
      <p:sp>
        <p:nvSpPr>
          <p:cNvPr id="8" name="Marcador de texto 4">
            <a:extLst>
              <a:ext uri="{FF2B5EF4-FFF2-40B4-BE49-F238E27FC236}">
                <a16:creationId xmlns:a16="http://schemas.microsoft.com/office/drawing/2014/main" id="{86D27869-67CD-4516-A435-A3258888BBCC}"/>
              </a:ext>
            </a:extLst>
          </p:cNvPr>
          <p:cNvSpPr txBox="1">
            <a:spLocks/>
          </p:cNvSpPr>
          <p:nvPr/>
        </p:nvSpPr>
        <p:spPr>
          <a:xfrm>
            <a:off x="4908929" y="4286433"/>
            <a:ext cx="6934689" cy="2269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Cumplimiento funcional y técnico.</a:t>
            </a:r>
          </a:p>
          <a:p>
            <a:r>
              <a:rPr lang="es-MX" dirty="0"/>
              <a:t>Costos totales de adquisición y mantenimiento.</a:t>
            </a:r>
          </a:p>
          <a:p>
            <a:r>
              <a:rPr lang="es-MX" dirty="0"/>
              <a:t>Experiencia del proveedor en proyectos industriales/logísticos.</a:t>
            </a:r>
          </a:p>
          <a:p>
            <a:r>
              <a:rPr lang="es-MX" dirty="0"/>
              <a:t>Condiciones de soporte, disponibilidad y escalabilidad.</a:t>
            </a:r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D3344A4D-D998-4A04-8F97-78341689EC8B}"/>
              </a:ext>
            </a:extLst>
          </p:cNvPr>
          <p:cNvSpPr txBox="1">
            <a:spLocks/>
          </p:cNvSpPr>
          <p:nvPr/>
        </p:nvSpPr>
        <p:spPr>
          <a:xfrm>
            <a:off x="4908929" y="3837567"/>
            <a:ext cx="7247821" cy="531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Criterios de selección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0529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Tiempos y costos del proyecto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12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7EE228E8-79DA-461A-8455-58DCC79D25D3}"/>
              </a:ext>
            </a:extLst>
          </p:cNvPr>
          <p:cNvSpPr txBox="1">
            <a:spLocks/>
          </p:cNvSpPr>
          <p:nvPr/>
        </p:nvSpPr>
        <p:spPr>
          <a:xfrm>
            <a:off x="4944179" y="579466"/>
            <a:ext cx="724782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Diagrama de Red</a:t>
            </a:r>
            <a:endParaRPr lang="es-ES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95465BF0-D0B5-4129-8B35-5FE5675D6B79}"/>
              </a:ext>
            </a:extLst>
          </p:cNvPr>
          <p:cNvSpPr txBox="1">
            <a:spLocks/>
          </p:cNvSpPr>
          <p:nvPr/>
        </p:nvSpPr>
        <p:spPr>
          <a:xfrm>
            <a:off x="4775670" y="3838044"/>
            <a:ext cx="6934689" cy="2340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Los </a:t>
            </a:r>
            <a:r>
              <a:rPr lang="es-MX" b="1" dirty="0"/>
              <a:t>nodos rojos </a:t>
            </a:r>
            <a:r>
              <a:rPr lang="es-MX" dirty="0"/>
              <a:t>representan las tareas que conforman el </a:t>
            </a:r>
            <a:r>
              <a:rPr lang="es-MX" b="1" dirty="0"/>
              <a:t>camino crítico</a:t>
            </a:r>
            <a:r>
              <a:rPr lang="es-MX" dirty="0"/>
              <a:t>.</a:t>
            </a:r>
          </a:p>
          <a:p>
            <a:r>
              <a:rPr lang="es-MX" dirty="0"/>
              <a:t>Los </a:t>
            </a:r>
            <a:r>
              <a:rPr lang="es-MX" b="1" dirty="0"/>
              <a:t>nodos celestes </a:t>
            </a:r>
            <a:r>
              <a:rPr lang="es-MX" dirty="0"/>
              <a:t>corresponden a </a:t>
            </a:r>
            <a:r>
              <a:rPr lang="es-MX" b="1" dirty="0"/>
              <a:t>tareas con holgura</a:t>
            </a:r>
            <a:r>
              <a:rPr lang="es-MX" dirty="0"/>
              <a:t>, es decir, que pueden desplazarse cierto tiempo sin afectar la fecha final del proyecto.</a:t>
            </a:r>
          </a:p>
          <a:p>
            <a:r>
              <a:rPr lang="es-MX" dirty="0"/>
              <a:t>Las </a:t>
            </a:r>
            <a:r>
              <a:rPr lang="es-MX" b="1" dirty="0"/>
              <a:t>flechas</a:t>
            </a:r>
            <a:r>
              <a:rPr lang="es-MX" dirty="0"/>
              <a:t> indican las dependencias lógicas entre tareas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C13A233-527F-4F83-BCC6-18A2B6FA0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670" y="1198897"/>
            <a:ext cx="7004588" cy="2102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31428BF5-723D-4832-B289-FC545126D0FA}"/>
              </a:ext>
            </a:extLst>
          </p:cNvPr>
          <p:cNvSpPr txBox="1">
            <a:spLocks/>
          </p:cNvSpPr>
          <p:nvPr/>
        </p:nvSpPr>
        <p:spPr>
          <a:xfrm>
            <a:off x="4944179" y="3379222"/>
            <a:ext cx="724782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Aclaraciones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2847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Tiempos y costos del proyecto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13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7EE228E8-79DA-461A-8455-58DCC79D25D3}"/>
              </a:ext>
            </a:extLst>
          </p:cNvPr>
          <p:cNvSpPr txBox="1">
            <a:spLocks/>
          </p:cNvSpPr>
          <p:nvPr/>
        </p:nvSpPr>
        <p:spPr>
          <a:xfrm>
            <a:off x="4947387" y="223134"/>
            <a:ext cx="724782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Diagrama de Gantt</a:t>
            </a:r>
            <a:endParaRPr lang="es-ES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95465BF0-D0B5-4129-8B35-5FE5675D6B79}"/>
              </a:ext>
            </a:extLst>
          </p:cNvPr>
          <p:cNvSpPr txBox="1">
            <a:spLocks/>
          </p:cNvSpPr>
          <p:nvPr/>
        </p:nvSpPr>
        <p:spPr>
          <a:xfrm>
            <a:off x="4669792" y="4646229"/>
            <a:ext cx="6934689" cy="23409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Las </a:t>
            </a:r>
            <a:r>
              <a:rPr lang="es-MX" b="1" dirty="0"/>
              <a:t>barras rojas </a:t>
            </a:r>
            <a:r>
              <a:rPr lang="es-MX" dirty="0"/>
              <a:t>corresponden a tareas del </a:t>
            </a:r>
            <a:r>
              <a:rPr lang="es-MX" b="1" dirty="0"/>
              <a:t>camino crítico</a:t>
            </a:r>
            <a:r>
              <a:rPr lang="es-MX" dirty="0"/>
              <a:t>.</a:t>
            </a:r>
          </a:p>
          <a:p>
            <a:r>
              <a:rPr lang="es-MX" dirty="0"/>
              <a:t>Las </a:t>
            </a:r>
            <a:r>
              <a:rPr lang="es-MX" b="1" dirty="0"/>
              <a:t>barras azules</a:t>
            </a:r>
            <a:r>
              <a:rPr lang="es-MX" dirty="0"/>
              <a:t> representan </a:t>
            </a:r>
            <a:r>
              <a:rPr lang="es-MX" b="1" dirty="0"/>
              <a:t>tareas con holgura</a:t>
            </a:r>
            <a:r>
              <a:rPr lang="es-MX" dirty="0"/>
              <a:t>.</a:t>
            </a:r>
          </a:p>
          <a:p>
            <a:r>
              <a:rPr lang="es-MX" dirty="0"/>
              <a:t>Los </a:t>
            </a:r>
            <a:r>
              <a:rPr lang="es-MX" b="1" dirty="0"/>
              <a:t>huecos entre barras </a:t>
            </a:r>
            <a:r>
              <a:rPr lang="es-MX" dirty="0"/>
              <a:t>reflejan </a:t>
            </a:r>
            <a:r>
              <a:rPr lang="es-MX" b="1" dirty="0"/>
              <a:t>fines de semana</a:t>
            </a:r>
            <a:r>
              <a:rPr lang="es-MX" dirty="0"/>
              <a:t>, ya que no se contabilizan como días hábiles de trabajo.</a:t>
            </a:r>
          </a:p>
          <a:p>
            <a:r>
              <a:rPr lang="es-MX" dirty="0"/>
              <a:t>Las </a:t>
            </a:r>
            <a:r>
              <a:rPr lang="es-MX" b="1" dirty="0"/>
              <a:t>tareas</a:t>
            </a:r>
            <a:r>
              <a:rPr lang="es-MX" dirty="0"/>
              <a:t> están ordenadas por </a:t>
            </a:r>
            <a:r>
              <a:rPr lang="es-MX" b="1" dirty="0"/>
              <a:t>fecha de inicio real </a:t>
            </a:r>
            <a:r>
              <a:rPr lang="es-MX" dirty="0"/>
              <a:t>y no por su número de ID.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31428BF5-723D-4832-B289-FC545126D0FA}"/>
              </a:ext>
            </a:extLst>
          </p:cNvPr>
          <p:cNvSpPr txBox="1">
            <a:spLocks/>
          </p:cNvSpPr>
          <p:nvPr/>
        </p:nvSpPr>
        <p:spPr>
          <a:xfrm>
            <a:off x="4959909" y="4242968"/>
            <a:ext cx="724782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Aclaraciones</a:t>
            </a:r>
            <a:endParaRPr lang="es-E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566383D-DDF8-4BF9-9FF2-BB04DBA5A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909" y="725954"/>
            <a:ext cx="5432651" cy="3639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0370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Tiempos y costos del proyecto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14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D29962B5-F51E-4C38-B324-EC7724F53AC1}"/>
              </a:ext>
            </a:extLst>
          </p:cNvPr>
          <p:cNvSpPr txBox="1">
            <a:spLocks/>
          </p:cNvSpPr>
          <p:nvPr/>
        </p:nvSpPr>
        <p:spPr>
          <a:xfrm>
            <a:off x="5101704" y="2486509"/>
            <a:ext cx="6934689" cy="27785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La planificación obtenida refleja que el proyecto puede completarse en un plazo aproximado de 146 días hábiles (~6,7 meses), comprendidos entre el 06/10/2025 y el 27/04/2026. Este horizonte temporal cubre todas las fases del ciclo de vida en cascada iterativo y asegura que los plazos comprometidos sean alcanzables dentro del marco definido, proporcionando además una base sólida para la gestión de recursos, el seguimiento del avance y la toma de decisiones durante la ejecución.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1C3A5685-BA0C-4381-9382-7FAEECCF6A14}"/>
              </a:ext>
            </a:extLst>
          </p:cNvPr>
          <p:cNvSpPr txBox="1">
            <a:spLocks/>
          </p:cNvSpPr>
          <p:nvPr/>
        </p:nvSpPr>
        <p:spPr>
          <a:xfrm>
            <a:off x="5101704" y="2037643"/>
            <a:ext cx="7247821" cy="5310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Conclusión 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9721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Tiempos y costos del proyecto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15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9" name="Marcador de texto 4">
            <a:extLst>
              <a:ext uri="{FF2B5EF4-FFF2-40B4-BE49-F238E27FC236}">
                <a16:creationId xmlns:a16="http://schemas.microsoft.com/office/drawing/2014/main" id="{95465BF0-D0B5-4129-8B35-5FE5675D6B79}"/>
              </a:ext>
            </a:extLst>
          </p:cNvPr>
          <p:cNvSpPr txBox="1">
            <a:spLocks/>
          </p:cNvSpPr>
          <p:nvPr/>
        </p:nvSpPr>
        <p:spPr>
          <a:xfrm>
            <a:off x="4908929" y="1717003"/>
            <a:ext cx="6934689" cy="47222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/>
              <a:t>Licencias de software </a:t>
            </a:r>
            <a:r>
              <a:rPr lang="es-MX" dirty="0"/>
              <a:t>(gestión de rodillos + plataforma de transporte + base de datos).</a:t>
            </a:r>
          </a:p>
          <a:p>
            <a:r>
              <a:rPr lang="es-MX" b="1" dirty="0"/>
              <a:t>Hardware e infraestructura </a:t>
            </a:r>
            <a:r>
              <a:rPr lang="es-MX" dirty="0"/>
              <a:t>(servidores, almacenamiento, redes y dispositivos de acceso).</a:t>
            </a:r>
          </a:p>
          <a:p>
            <a:r>
              <a:rPr lang="es-MX" b="1" dirty="0"/>
              <a:t>Servicios del proveedor </a:t>
            </a:r>
            <a:r>
              <a:rPr lang="es-MX" dirty="0"/>
              <a:t>(implementación, configuración, capacitación, soporte).</a:t>
            </a:r>
          </a:p>
          <a:p>
            <a:r>
              <a:rPr lang="es-MX" b="1" dirty="0"/>
              <a:t>Recursos humanos internos </a:t>
            </a:r>
            <a:r>
              <a:rPr lang="es-MX" dirty="0"/>
              <a:t>(dedicación de horas de equipo de proyecto, operarios y personal de logística).</a:t>
            </a:r>
          </a:p>
          <a:p>
            <a:r>
              <a:rPr lang="es-MX" b="1" dirty="0"/>
              <a:t>Mantenimiento y soporte anual </a:t>
            </a:r>
            <a:r>
              <a:rPr lang="es-MX" dirty="0"/>
              <a:t>(actualizaciones y contratos de garantía).</a:t>
            </a:r>
          </a:p>
          <a:p>
            <a:r>
              <a:rPr lang="es-MX" b="1" dirty="0"/>
              <a:t>Capacitación adicional </a:t>
            </a:r>
            <a:r>
              <a:rPr lang="es-MX" dirty="0"/>
              <a:t>(en caso de ampliarse el alcance a más usuarios o roles).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31428BF5-723D-4832-B289-FC545126D0FA}"/>
              </a:ext>
            </a:extLst>
          </p:cNvPr>
          <p:cNvSpPr txBox="1">
            <a:spLocks/>
          </p:cNvSpPr>
          <p:nvPr/>
        </p:nvSpPr>
        <p:spPr>
          <a:xfrm>
            <a:off x="4908929" y="768405"/>
            <a:ext cx="724782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Variables a Tener en Cuenta para el Cálculo de Costos del Proyecto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33993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384" y="1506009"/>
            <a:ext cx="4846320" cy="148854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4000" dirty="0"/>
              <a:t>Análisis de factibilidad</a:t>
            </a:r>
            <a:br>
              <a:rPr lang="es-ES" sz="4400" dirty="0"/>
            </a:br>
            <a:endParaRPr lang="es-ES" sz="4400" dirty="0"/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79" y="301752"/>
            <a:ext cx="2267065" cy="27432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TPI GRUPO N° 202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5BFCF61C-3B18-4C03-8326-CC3B32D710C9}" type="slidenum">
              <a:rPr lang="es-ES" smtClean="0"/>
              <a:pPr rtl="0"/>
              <a:t>16</a:t>
            </a:fld>
            <a:endParaRPr lang="es-ES" dirty="0"/>
          </a:p>
        </p:txBody>
      </p:sp>
      <p:sp>
        <p:nvSpPr>
          <p:cNvPr id="10" name="Marcador de texto 4">
            <a:extLst>
              <a:ext uri="{FF2B5EF4-FFF2-40B4-BE49-F238E27FC236}">
                <a16:creationId xmlns:a16="http://schemas.microsoft.com/office/drawing/2014/main" id="{A4DE9237-B837-4C48-A7EB-48E027821797}"/>
              </a:ext>
            </a:extLst>
          </p:cNvPr>
          <p:cNvSpPr txBox="1">
            <a:spLocks/>
          </p:cNvSpPr>
          <p:nvPr/>
        </p:nvSpPr>
        <p:spPr>
          <a:xfrm>
            <a:off x="5271272" y="3120811"/>
            <a:ext cx="6013384" cy="15139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MX" dirty="0"/>
          </a:p>
        </p:txBody>
      </p:sp>
      <p:sp>
        <p:nvSpPr>
          <p:cNvPr id="18" name="Marcador de texto 2">
            <a:extLst>
              <a:ext uri="{FF2B5EF4-FFF2-40B4-BE49-F238E27FC236}">
                <a16:creationId xmlns:a16="http://schemas.microsoft.com/office/drawing/2014/main" id="{7EE228E8-79DA-461A-8455-58DCC79D25D3}"/>
              </a:ext>
            </a:extLst>
          </p:cNvPr>
          <p:cNvSpPr txBox="1">
            <a:spLocks/>
          </p:cNvSpPr>
          <p:nvPr/>
        </p:nvSpPr>
        <p:spPr>
          <a:xfrm>
            <a:off x="4567502" y="576072"/>
            <a:ext cx="7369114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Factibilidad Técnica, Económica y Legal del Proyecto</a:t>
            </a:r>
            <a:endParaRPr lang="es-ES" dirty="0"/>
          </a:p>
        </p:txBody>
      </p:sp>
      <p:sp>
        <p:nvSpPr>
          <p:cNvPr id="20" name="Marcador de texto 2">
            <a:extLst>
              <a:ext uri="{FF2B5EF4-FFF2-40B4-BE49-F238E27FC236}">
                <a16:creationId xmlns:a16="http://schemas.microsoft.com/office/drawing/2014/main" id="{3BA90206-28F2-4D7D-854E-801963E25E7A}"/>
              </a:ext>
            </a:extLst>
          </p:cNvPr>
          <p:cNvSpPr txBox="1">
            <a:spLocks/>
          </p:cNvSpPr>
          <p:nvPr/>
        </p:nvSpPr>
        <p:spPr>
          <a:xfrm>
            <a:off x="4567505" y="1121343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Técnica</a:t>
            </a:r>
          </a:p>
        </p:txBody>
      </p:sp>
      <p:sp>
        <p:nvSpPr>
          <p:cNvPr id="21" name="Marcador de texto 4">
            <a:extLst>
              <a:ext uri="{FF2B5EF4-FFF2-40B4-BE49-F238E27FC236}">
                <a16:creationId xmlns:a16="http://schemas.microsoft.com/office/drawing/2014/main" id="{50667134-1614-4D98-8824-EB26BF81A72F}"/>
              </a:ext>
            </a:extLst>
          </p:cNvPr>
          <p:cNvSpPr txBox="1">
            <a:spLocks/>
          </p:cNvSpPr>
          <p:nvPr/>
        </p:nvSpPr>
        <p:spPr>
          <a:xfrm>
            <a:off x="4567504" y="1500087"/>
            <a:ext cx="7247822" cy="2304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Viable porque los requerimientos son claros y alcanzables con tecnologías estándar (BD escalables, autenticación, integración con dispositivos de seguridad). El proveedor tiene experiencia para implementar e integrar los módulos.</a:t>
            </a: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10160D29-981E-4492-92B0-9429B361400A}"/>
              </a:ext>
            </a:extLst>
          </p:cNvPr>
          <p:cNvSpPr txBox="1">
            <a:spLocks/>
          </p:cNvSpPr>
          <p:nvPr/>
        </p:nvSpPr>
        <p:spPr>
          <a:xfrm>
            <a:off x="4567503" y="3112426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Económica</a:t>
            </a:r>
          </a:p>
        </p:txBody>
      </p:sp>
      <p:sp>
        <p:nvSpPr>
          <p:cNvPr id="15" name="Marcador de texto 4">
            <a:extLst>
              <a:ext uri="{FF2B5EF4-FFF2-40B4-BE49-F238E27FC236}">
                <a16:creationId xmlns:a16="http://schemas.microsoft.com/office/drawing/2014/main" id="{8BD84580-95CC-4708-81CA-2E634C4BEF50}"/>
              </a:ext>
            </a:extLst>
          </p:cNvPr>
          <p:cNvSpPr txBox="1">
            <a:spLocks/>
          </p:cNvSpPr>
          <p:nvPr/>
        </p:nvSpPr>
        <p:spPr>
          <a:xfrm>
            <a:off x="4567502" y="3491170"/>
            <a:ext cx="7247822" cy="11944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Aunque la inversión inicial es alta, se compensa con reducción de fallas, menor inactividad, ahorro en rodillos y mayor eficiencia logística. El retorno se logra en el mediano plazo.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E382C246-E550-47E6-9C41-950214160244}"/>
              </a:ext>
            </a:extLst>
          </p:cNvPr>
          <p:cNvSpPr txBox="1">
            <a:spLocks/>
          </p:cNvSpPr>
          <p:nvPr/>
        </p:nvSpPr>
        <p:spPr>
          <a:xfrm>
            <a:off x="4567503" y="4903295"/>
            <a:ext cx="5634151" cy="5452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lang="es-ES"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Legal</a:t>
            </a:r>
          </a:p>
        </p:txBody>
      </p:sp>
      <p:sp>
        <p:nvSpPr>
          <p:cNvPr id="17" name="Marcador de texto 4">
            <a:extLst>
              <a:ext uri="{FF2B5EF4-FFF2-40B4-BE49-F238E27FC236}">
                <a16:creationId xmlns:a16="http://schemas.microsoft.com/office/drawing/2014/main" id="{A556D747-3314-4C6D-8EA3-2CB4212C47E9}"/>
              </a:ext>
            </a:extLst>
          </p:cNvPr>
          <p:cNvSpPr txBox="1">
            <a:spLocks/>
          </p:cNvSpPr>
          <p:nvPr/>
        </p:nvSpPr>
        <p:spPr>
          <a:xfrm>
            <a:off x="4567502" y="5282039"/>
            <a:ext cx="7247822" cy="1205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  <a:lvl1pPr marL="283464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es-E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No presenta impedimentos, pero deben contemplarse propiedad de datos industriales, confidencialidad y cumplimiento de normativas de protección de datos personales.</a:t>
            </a:r>
          </a:p>
        </p:txBody>
      </p:sp>
    </p:spTree>
    <p:extLst>
      <p:ext uri="{BB962C8B-B14F-4D97-AF65-F5344CB8AC3E}">
        <p14:creationId xmlns:p14="http://schemas.microsoft.com/office/powerpoint/2010/main" val="16067630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0444347_TF10167107_Win32" id="{5CC63966-E9A2-4898-AE1E-E986F67AE4A1}" vid="{EF6FD191-2998-4091-9749-2C394136EF68}"/>
    </a:ext>
  </a:extLst>
</a:theme>
</file>

<file path=ppt/theme/theme2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Informe de estado del proyecto</Template>
  <TotalTime>1058</TotalTime>
  <Words>1358</Words>
  <Application>Microsoft Office PowerPoint</Application>
  <PresentationFormat>Panorámica</PresentationFormat>
  <Paragraphs>171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Tema de Office</vt:lpstr>
      <vt:lpstr>INFORME DE PROGRESO</vt:lpstr>
      <vt:lpstr>RESUMEN Del proyecto</vt:lpstr>
      <vt:lpstr>ETAPA 3: Proyecto de TI</vt:lpstr>
      <vt:lpstr>Objetivos &amp; Alternativas del proyecto </vt:lpstr>
      <vt:lpstr>Ciclo de vida </vt:lpstr>
      <vt:lpstr>Recursos Humanos </vt:lpstr>
      <vt:lpstr>Recursos Humanos </vt:lpstr>
      <vt:lpstr>Higiene y seguridad </vt:lpstr>
      <vt:lpstr>Higiene y seguridad </vt:lpstr>
      <vt:lpstr>Adquisición del proyecto </vt:lpstr>
      <vt:lpstr>Adquisición del proyecto </vt:lpstr>
      <vt:lpstr>Tiempos y costos del proyecto </vt:lpstr>
      <vt:lpstr>Tiempos y costos del proyecto </vt:lpstr>
      <vt:lpstr>Tiempos y costos del proyecto </vt:lpstr>
      <vt:lpstr>Tiempos y costos del proyecto </vt:lpstr>
      <vt:lpstr>Análisis de factibilidad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PROGRESO</dc:title>
  <dc:creator>Gustavo Giampietro</dc:creator>
  <cp:lastModifiedBy>Gustavo Giampietro</cp:lastModifiedBy>
  <cp:revision>27</cp:revision>
  <dcterms:created xsi:type="dcterms:W3CDTF">2025-07-19T21:34:23Z</dcterms:created>
  <dcterms:modified xsi:type="dcterms:W3CDTF">2025-09-15T21:30:00Z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