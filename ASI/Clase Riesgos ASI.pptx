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890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774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486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85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448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466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327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678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241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782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013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5277D-EC48-4454-B861-D6086195188A}" type="datetimeFigureOut">
              <a:rPr lang="es-AR" smtClean="0"/>
              <a:t>29/04/2025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2603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11114" cy="359142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831" y="2704520"/>
            <a:ext cx="7478169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8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548" y="796835"/>
            <a:ext cx="8487919" cy="531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5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3186" cy="354003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482" y="3247703"/>
            <a:ext cx="6442517" cy="361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7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05396" cy="357223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0843"/>
            <a:ext cx="6505396" cy="347472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839" y="1890836"/>
            <a:ext cx="5325218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7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3944"/>
            <a:ext cx="5760720" cy="223610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522" y="643943"/>
            <a:ext cx="6248400" cy="223610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80051"/>
            <a:ext cx="5760720" cy="397732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444" y="2880051"/>
            <a:ext cx="6130556" cy="3977949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6139543" y="244699"/>
            <a:ext cx="50263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 smtClean="0"/>
              <a:t>No es un Riesgo nuevo, es el mismo riesgo con menor impacto o probabilidad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166267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655" y="1058091"/>
            <a:ext cx="7844368" cy="469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5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927" y="1155154"/>
            <a:ext cx="7981114" cy="467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0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325" y="140074"/>
            <a:ext cx="7954190" cy="4444988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2947420" y="458506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1200" b="1" dirty="0">
                <a:latin typeface="Lato" panose="020F0502020204030203" pitchFamily="34" charset="0"/>
              </a:rPr>
              <a:t>ESTRATEGIAS DE RESPUESTA A RIESGOS NEGATIVOS (AMENAZAS) </a:t>
            </a:r>
          </a:p>
          <a:p>
            <a:r>
              <a:rPr lang="es-AR" sz="1200" b="1" dirty="0">
                <a:latin typeface="Lato" panose="020F0502020204030203" pitchFamily="34" charset="0"/>
              </a:rPr>
              <a:t>Evitar</a:t>
            </a:r>
            <a:r>
              <a:rPr lang="es-AR" sz="1200" dirty="0">
                <a:latin typeface="Lato" panose="020F0502020204030203" pitchFamily="34" charset="0"/>
              </a:rPr>
              <a:t>: No se acepta de esa forma, porque no podemos dejar de realizar la actividad afectada</a:t>
            </a:r>
          </a:p>
          <a:p>
            <a:r>
              <a:rPr lang="es-AR" sz="1200" b="1" dirty="0">
                <a:latin typeface="Lato" panose="020F0502020204030203" pitchFamily="34" charset="0"/>
              </a:rPr>
              <a:t>Aceptar</a:t>
            </a:r>
            <a:r>
              <a:rPr lang="es-AR" sz="1200" dirty="0">
                <a:latin typeface="Lato" panose="020F0502020204030203" pitchFamily="34" charset="0"/>
              </a:rPr>
              <a:t>: Se acepta las consecuencias de la posible ocurrencia del riesgo, </a:t>
            </a:r>
          </a:p>
          <a:p>
            <a:r>
              <a:rPr lang="es-AR" sz="1200" dirty="0">
                <a:latin typeface="Lato" panose="020F0502020204030203" pitchFamily="34" charset="0"/>
              </a:rPr>
              <a:t>como trae consecuencias económicas esta es una decisión gerencial</a:t>
            </a:r>
          </a:p>
          <a:p>
            <a:r>
              <a:rPr lang="es-AR" sz="1200" u="sng" dirty="0">
                <a:latin typeface="Lato" panose="020F0502020204030203" pitchFamily="34" charset="0"/>
              </a:rPr>
              <a:t>Elegimos esta estrategias:</a:t>
            </a:r>
          </a:p>
          <a:p>
            <a:r>
              <a:rPr lang="es-AR" sz="1200" b="1" dirty="0">
                <a:latin typeface="Lato" panose="020F0502020204030203" pitchFamily="34" charset="0"/>
              </a:rPr>
              <a:t>Transferir</a:t>
            </a:r>
            <a:r>
              <a:rPr lang="es-AR" sz="1200" dirty="0">
                <a:latin typeface="Lato" panose="020F0502020204030203" pitchFamily="34" charset="0"/>
              </a:rPr>
              <a:t>: a un tercero el riesgo y la gestión del mismo (Subcontratar, Asegurar) </a:t>
            </a:r>
          </a:p>
          <a:p>
            <a:r>
              <a:rPr lang="es-AR" sz="1200" b="1" dirty="0">
                <a:latin typeface="Lato" panose="020F0502020204030203" pitchFamily="34" charset="0"/>
              </a:rPr>
              <a:t>Mitigar</a:t>
            </a:r>
            <a:r>
              <a:rPr lang="es-AR" sz="1200" dirty="0">
                <a:latin typeface="Lato" panose="020F0502020204030203" pitchFamily="34" charset="0"/>
              </a:rPr>
              <a:t>: Se hará lo posible para minimizar su ocurrencia (probabilidad) y consecuencias (impacto) </a:t>
            </a:r>
            <a:endParaRPr lang="es-AR" sz="1200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67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99" y="344238"/>
            <a:ext cx="5611008" cy="242921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75" y="344238"/>
            <a:ext cx="5649113" cy="242921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759" y="3493548"/>
            <a:ext cx="5572903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7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19100" y="238125"/>
            <a:ext cx="93794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 </a:t>
            </a:r>
            <a:r>
              <a:rPr lang="es-AR" dirty="0" smtClean="0">
                <a:latin typeface="Lato" panose="020F0502020204030203" pitchFamily="34" charset="0"/>
              </a:rPr>
              <a:t>Armar </a:t>
            </a:r>
            <a:r>
              <a:rPr lang="es-AR" b="1" dirty="0" smtClean="0">
                <a:latin typeface="Lato" panose="020F0502020204030203" pitchFamily="34" charset="0"/>
              </a:rPr>
              <a:t>Plantilla de Identificación de Riesgos de los Riesgos más Severos </a:t>
            </a:r>
            <a:r>
              <a:rPr lang="es-AR" dirty="0" smtClean="0">
                <a:latin typeface="Lato" panose="020F0502020204030203" pitchFamily="34" charset="0"/>
              </a:rPr>
              <a:t>(de 3 a 5 riesgos)</a:t>
            </a:r>
          </a:p>
          <a:p>
            <a:pPr marL="342900" indent="-342900">
              <a:buAutoNum type="arabicParenR"/>
            </a:pPr>
            <a:endParaRPr lang="es-AR" dirty="0" smtClean="0">
              <a:latin typeface="Lato" panose="020F0502020204030203" pitchFamily="34" charset="0"/>
            </a:endParaRPr>
          </a:p>
          <a:p>
            <a:r>
              <a:rPr lang="es-AR" dirty="0" smtClean="0"/>
              <a:t>						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921" y="943011"/>
            <a:ext cx="4143375" cy="520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9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336848" y="1627977"/>
            <a:ext cx="5715026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b="1" dirty="0" smtClean="0">
                <a:latin typeface="Lato" panose="020F0502020204030203" pitchFamily="34" charset="0"/>
              </a:rPr>
              <a:t>Completar </a:t>
            </a:r>
            <a:r>
              <a:rPr lang="es-AR" sz="1400" b="1" dirty="0" smtClean="0">
                <a:latin typeface="Lato" panose="020F0502020204030203" pitchFamily="34" charset="0"/>
              </a:rPr>
              <a:t>Planilla de Estrategia y Controles</a:t>
            </a:r>
          </a:p>
          <a:p>
            <a:r>
              <a:rPr lang="es-AR" sz="1400" b="1" dirty="0" smtClean="0">
                <a:latin typeface="Lato" panose="020F0502020204030203" pitchFamily="34" charset="0"/>
              </a:rPr>
              <a:t>Estrategias:</a:t>
            </a:r>
          </a:p>
          <a:p>
            <a:r>
              <a:rPr lang="es-AR" sz="1400" dirty="0" smtClean="0">
                <a:latin typeface="Lato" panose="020F0502020204030203" pitchFamily="34" charset="0"/>
              </a:rPr>
              <a:t>Evitar: Se puede evitar la actividad/riesgo?</a:t>
            </a:r>
          </a:p>
          <a:p>
            <a:r>
              <a:rPr lang="es-AR" sz="1400" dirty="0" smtClean="0">
                <a:latin typeface="Lato" panose="020F0502020204030203" pitchFamily="34" charset="0"/>
              </a:rPr>
              <a:t>Transferir: Se puede transferir a un tercero?</a:t>
            </a:r>
          </a:p>
          <a:p>
            <a:r>
              <a:rPr lang="es-AR" sz="1400" dirty="0" smtClean="0">
                <a:latin typeface="Lato" panose="020F0502020204030203" pitchFamily="34" charset="0"/>
              </a:rPr>
              <a:t>Mitigar: Tratar de reducir la Probabilidad o el Impacto o Ambas</a:t>
            </a:r>
          </a:p>
          <a:p>
            <a:r>
              <a:rPr lang="es-AR" sz="1400" b="1" dirty="0" smtClean="0">
                <a:latin typeface="Lato" panose="020F0502020204030203" pitchFamily="34" charset="0"/>
              </a:rPr>
              <a:t>Controles:</a:t>
            </a:r>
          </a:p>
          <a:p>
            <a:r>
              <a:rPr lang="es-AR" sz="1400" dirty="0" smtClean="0">
                <a:latin typeface="Lato" panose="020F0502020204030203" pitchFamily="34" charset="0"/>
              </a:rPr>
              <a:t>Completar según planilla SOA, Debo contar con la Evidencia Objetiva</a:t>
            </a:r>
          </a:p>
          <a:p>
            <a:r>
              <a:rPr lang="es-AR" sz="1400" dirty="0" smtClean="0">
                <a:latin typeface="Lato" panose="020F0502020204030203" pitchFamily="34" charset="0"/>
              </a:rPr>
              <a:t>que respalde el control</a:t>
            </a:r>
          </a:p>
          <a:p>
            <a:r>
              <a:rPr lang="es-AR" sz="1400" b="1" dirty="0" smtClean="0">
                <a:latin typeface="Lato" panose="020F0502020204030203" pitchFamily="34" charset="0"/>
              </a:rPr>
              <a:t>Riesgo Residual</a:t>
            </a:r>
            <a:r>
              <a:rPr lang="es-AR" sz="1400" dirty="0" smtClean="0">
                <a:latin typeface="Lato" panose="020F0502020204030203" pitchFamily="34" charset="0"/>
              </a:rPr>
              <a:t>: Qué se redujo? La probabilidad o el impacto o ambos? </a:t>
            </a:r>
            <a:endParaRPr lang="es-AR" sz="1400" dirty="0">
              <a:latin typeface="Lato" panose="020F0502020204030203" pitchFamily="34" charset="0"/>
            </a:endParaRPr>
          </a:p>
          <a:p>
            <a:r>
              <a:rPr lang="es-AR" sz="1400" dirty="0" smtClean="0">
                <a:latin typeface="Lato" panose="020F0502020204030203" pitchFamily="34" charset="0"/>
              </a:rPr>
              <a:t>En que porcentaje?</a:t>
            </a:r>
          </a:p>
          <a:p>
            <a:endParaRPr lang="es-AR" sz="1400" dirty="0">
              <a:latin typeface="Lato" panose="020F0502020204030203" pitchFamily="34" charset="0"/>
            </a:endParaRPr>
          </a:p>
          <a:p>
            <a:endParaRPr lang="es-AR" dirty="0" smtClean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724" y="325377"/>
            <a:ext cx="4276725" cy="517207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724" y="5475184"/>
            <a:ext cx="44481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33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177"/>
            <a:ext cx="7057091" cy="5924823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-1" y="173330"/>
            <a:ext cx="97478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latin typeface="Lato" panose="020F0502020204030203" pitchFamily="34" charset="0"/>
              </a:rPr>
              <a:t>5) Completar Planilla de </a:t>
            </a:r>
            <a:r>
              <a:rPr lang="es-AR" sz="1400" b="1" dirty="0" smtClean="0">
                <a:latin typeface="Lato" panose="020F0502020204030203" pitchFamily="34" charset="0"/>
              </a:rPr>
              <a:t>Planes de Contingencia, Recuperación y Continuidad de Negocio</a:t>
            </a:r>
          </a:p>
          <a:p>
            <a:r>
              <a:rPr lang="es-AR" sz="1400" b="1" dirty="0" smtClean="0">
                <a:latin typeface="Lato" panose="020F0502020204030203" pitchFamily="34" charset="0"/>
              </a:rPr>
              <a:t>Al definir los Disparadores, recordar que estos indican que se materializó el riesgo</a:t>
            </a:r>
            <a:endParaRPr lang="es-AR" sz="1400" b="1" dirty="0">
              <a:latin typeface="Lato" panose="020F050202020403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596" y="819661"/>
            <a:ext cx="4712404" cy="56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0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229</Words>
  <Application>Microsoft Office PowerPoint</Application>
  <PresentationFormat>Panorámica</PresentationFormat>
  <Paragraphs>27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Grupo TELECOM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Ariana E Cucchiara</dc:creator>
  <cp:lastModifiedBy>Ariana E Cucchiara</cp:lastModifiedBy>
  <cp:revision>9</cp:revision>
  <dcterms:created xsi:type="dcterms:W3CDTF">2025-04-29T11:09:53Z</dcterms:created>
  <dcterms:modified xsi:type="dcterms:W3CDTF">2025-04-29T16:23:07Z</dcterms:modified>
</cp:coreProperties>
</file>